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9"/>
    <p:restoredTop sz="94695"/>
  </p:normalViewPr>
  <p:slideViewPr>
    <p:cSldViewPr snapToGrid="0">
      <p:cViewPr varScale="1">
        <p:scale>
          <a:sx n="210" d="100"/>
          <a:sy n="210" d="100"/>
        </p:scale>
        <p:origin x="4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/Users/omergilad/Documents/Screenshots/sbx demo/Screenshot 2026-07-26 at 15.38.35.png</a:t>
            </a:r>
          </a:p>
          <a:p>
            <a:r>
              <a:t>- User-provided screenshot: /Users/omergilad/Documents/Screenshots/sbx demo/Screenshot 2026-07-26 at 15.39.54.png</a:t>
            </a:r>
          </a:p>
          <a:p>
            <a:r>
              <a:t>- User-provided screenshot: /Users/omergilad/Documents/Screenshots/sbx demo/Screenshot 2026-07-26 at 15.40.11.png</a:t>
            </a:r>
          </a:p>
          <a:p>
            <a:r>
              <a:t>- User-provided screenshot: /Users/omergilad/Documents/Screenshots/sbx demo/Screenshot 2026-07-26 at 15.40.19.png</a:t>
            </a:r>
          </a:p>
          <a:p>
            <a:r>
              <a:t>- User-provided screenshot: /Users/omergilad/Documents/Screenshots/sbx demo/Screenshot 2026-07-26 at 15.48.20.png</a:t>
            </a:r>
          </a:p>
          <a:p>
            <a:r>
              <a:t>- Docker whale mark: https://www.docker.com/app/uploads/2026/02/Docker_Mark_660x400.png (official Docker brand resource)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/Users/omergilad/Documents/Screenshots/full permissions.png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/Users/omergilad/Documents/Screenshots/manual permissions.png</a:t>
            </a:r>
          </a:p>
          <a:p>
            <a:r>
              <a:t>- Anthropic containment discussion: https://www.anthropic.com/engineering/how-we-contain-claude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/Users/omergilad/Documents/Screenshots/auto mode.png</a:t>
            </a:r>
          </a:p>
          <a:p>
            <a:r>
              <a:t>- Anthropic Claude Code auto mode: https://www.anthropic.com/engineering/claude-code-auto-mode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Anthropic Claude Code sandboxing: https://www.anthropic.com/engineering/claude-code-sandboxing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Docker Sandboxes architecture comparison: https://docs.docker.com/ai/sandboxes/architecture/</a:t>
            </a:r>
          </a:p>
          <a:p>
            <a:r>
              <a:t>- Development Containers specification: https://github.com/devcontainers/spec</a:t>
            </a:r>
          </a:p>
          <a:p>
            <a:r>
              <a:t>- Dev Containers logo: https://avatars.githubusercontent.com/u/102692984?v=4</a:t>
            </a:r>
          </a:p>
          <a:p>
            <a:r>
              <a:t>- Docker logo: https://www.docker.com/company/newsroom/media-resources/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Docker Sandboxes overview: https://docs.docker.com/ai/sandboxes/</a:t>
            </a:r>
          </a:p>
          <a:p>
            <a:r>
              <a:t>- Docker Sandboxes architecture: https://docs.docker.com/ai/sandboxes/architecture/</a:t>
            </a:r>
          </a:p>
          <a:p>
            <a:r>
              <a:t>- Docker Sandboxes security and isolation: https://docs.docker.com/ai/sandboxes/security/isolation/</a:t>
            </a:r>
          </a:p>
          <a:p>
            <a:r>
              <a:t>- Docker Sandboxes security defaults: https://docs.docker.com/ai/sandboxes/security/defaults/</a:t>
            </a:r>
          </a:p>
          <a:p>
            <a:r>
              <a:t>- Docker Agent in Docker Sandboxes: https://docs.docker.com/ai/sandboxes/agents/docker-agent/</a:t>
            </a:r>
          </a:p>
          <a:p>
            <a:r>
              <a:t>- Docker logo: https://www.docker.com/company/newsroom/media-resources/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Docker Sandbox templates and built-in agent images: https://docs.docker.com/ai/sandboxes/customize/templates/</a:t>
            </a:r>
          </a:p>
          <a:p>
            <a:r>
              <a:t>- Multiple workspaces and usage: https://docs.docker.com/ai/sandboxes/usage/</a:t>
            </a:r>
          </a:p>
          <a:p>
            <a:r>
              <a:t>- Snapshot a sandbox as a template: https://docs.docker.com/reference/cli/sbx/template/save/</a:t>
            </a:r>
          </a:p>
          <a:p>
            <a:r>
              <a:t>- Port publishing: https://docs.docker.com/reference/cli/sbx/ports/</a:t>
            </a:r>
          </a:p>
          <a:p>
            <a:r>
              <a:t>- Experimental native SSH endpoint: https://docs.docker.com/ai/sandboxes/release-notes/</a:t>
            </a:r>
          </a:p>
          <a:p>
            <a:r>
              <a:t>- Docker Sandbox Kits: https://docs.docker.com/ai/sandboxes/customize/kits/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/Users/omergilad/Documents/Screenshots/dotfiles.png</a:t>
            </a:r>
          </a:p>
          <a:p>
            <a:r>
              <a:t>- Docker Sandboxes security model: https://docs.docker.com/ai/sandboxes/security/</a:t>
            </a:r>
          </a:p>
          <a:p>
            <a:r>
              <a:t>- Docker Sandbox templates: https://docs.docker.com/ai/sandboxes/customize/templates/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screenshot: /Users/omergilad/Documents/Screenshots/omp.png</a:t>
            </a:r>
          </a:p>
          <a:p>
            <a:r>
              <a:t>- User-provided screenshot: /Users/omergilad/Documents/Screenshots/omp 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-1">
            <a:extLst>
              <a:ext uri="{FF2B5EF4-FFF2-40B4-BE49-F238E27FC236}">
                <a16:creationId xmlns:a16="http://schemas.microsoft.com/office/drawing/2014/main" id="{ECDB70D4-9F51-44AF-AF05-72CE925ECC8C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deck-label-1">
            <a:extLst>
              <a:ext uri="{FF2B5EF4-FFF2-40B4-BE49-F238E27FC236}">
                <a16:creationId xmlns:a16="http://schemas.microsoft.com/office/drawing/2014/main" id="{881A1AE5-2E32-4449-B1CE-03D2094D8990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sp>
        <p:nvSpPr>
          <p:cNvPr id="3" name="section-label-1">
            <a:extLst>
              <a:ext uri="{FF2B5EF4-FFF2-40B4-BE49-F238E27FC236}">
                <a16:creationId xmlns:a16="http://schemas.microsoft.com/office/drawing/2014/main" id="{9FDD3AAF-ABF1-4F41-9E72-4EAA07E68E8D}"/>
              </a:ext>
            </a:extLst>
          </p:cNvPr>
          <p:cNvSpPr>
            <a:spLocks noGrp="1"/>
          </p:cNvSpPr>
          <p:nvPr/>
        </p:nvSpPr>
        <p:spPr>
          <a:xfrm>
            <a:off x="3105150" y="3048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8D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A6B4"/>
                </a:solidFill>
                <a:latin typeface="Aptos"/>
                <a:ea typeface="Aptos"/>
                <a:cs typeface="Aptos"/>
              </a:rPr>
              <a:t>WHY ISOLATION EXISTS</a:t>
            </a:r>
          </a:p>
        </p:txBody>
      </p:sp>
      <p:sp>
        <p:nvSpPr>
          <p:cNvPr id="5" name="screenshot-shadow-1">
            <a:extLst>
              <a:ext uri="{FF2B5EF4-FFF2-40B4-BE49-F238E27FC236}">
                <a16:creationId xmlns:a16="http://schemas.microsoft.com/office/drawing/2014/main" id="{4562CFE7-6D37-4698-8490-5E2D955B3B0A}"/>
              </a:ext>
            </a:extLst>
          </p:cNvPr>
          <p:cNvSpPr>
            <a:spLocks noGrp="1"/>
          </p:cNvSpPr>
          <p:nvPr/>
        </p:nvSpPr>
        <p:spPr>
          <a:xfrm rot="-186000">
            <a:off x="476250" y="914400"/>
            <a:ext cx="5219700" cy="18478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29" name="incident-screenshot-1"/>
          <p:cNvPicPr>
            <a:picLocks noChangeAspect="1"/>
          </p:cNvPicPr>
          <p:nvPr/>
        </p:nvPicPr>
        <p:blipFill>
          <a:blip r:embed="rId3"/>
          <a:stretch/>
        </p:blipFill>
        <p:spPr>
          <a:xfrm rot="-186000">
            <a:off x="476250" y="916631"/>
            <a:ext cx="5219700" cy="1843388"/>
          </a:xfrm>
          <a:prstGeom prst="rect">
            <a:avLst/>
          </a:prstGeom>
        </p:spPr>
      </p:pic>
      <p:sp>
        <p:nvSpPr>
          <p:cNvPr id="7" name="screenshot-shadow-2">
            <a:extLst>
              <a:ext uri="{FF2B5EF4-FFF2-40B4-BE49-F238E27FC236}">
                <a16:creationId xmlns:a16="http://schemas.microsoft.com/office/drawing/2014/main" id="{D1A0B415-D9F3-49CB-8AC5-8484951BE95A}"/>
              </a:ext>
            </a:extLst>
          </p:cNvPr>
          <p:cNvSpPr>
            <a:spLocks noGrp="1"/>
          </p:cNvSpPr>
          <p:nvPr/>
        </p:nvSpPr>
        <p:spPr>
          <a:xfrm rot="150000">
            <a:off x="3695700" y="781050"/>
            <a:ext cx="481965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31" name="incident-screenshot-2"/>
          <p:cNvPicPr>
            <a:picLocks noChangeAspect="1"/>
          </p:cNvPicPr>
          <p:nvPr/>
        </p:nvPicPr>
        <p:blipFill>
          <a:blip r:embed="rId4"/>
          <a:stretch/>
        </p:blipFill>
        <p:spPr>
          <a:xfrm rot="150000">
            <a:off x="3695700" y="781061"/>
            <a:ext cx="4819650" cy="895327"/>
          </a:xfrm>
          <a:prstGeom prst="rect">
            <a:avLst/>
          </a:prstGeom>
        </p:spPr>
      </p:pic>
      <p:sp>
        <p:nvSpPr>
          <p:cNvPr id="9" name="screenshot-shadow-3">
            <a:extLst>
              <a:ext uri="{FF2B5EF4-FFF2-40B4-BE49-F238E27FC236}">
                <a16:creationId xmlns:a16="http://schemas.microsoft.com/office/drawing/2014/main" id="{E1CFE643-3B59-45AF-A0AD-AEA8BC4DF33D}"/>
              </a:ext>
            </a:extLst>
          </p:cNvPr>
          <p:cNvSpPr>
            <a:spLocks noGrp="1"/>
          </p:cNvSpPr>
          <p:nvPr/>
        </p:nvSpPr>
        <p:spPr>
          <a:xfrm rot="192000">
            <a:off x="7486650" y="1095375"/>
            <a:ext cx="3790950" cy="2771775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33" name="incident-screenshot-3"/>
          <p:cNvPicPr>
            <a:picLocks noChangeAspect="1"/>
          </p:cNvPicPr>
          <p:nvPr/>
        </p:nvPicPr>
        <p:blipFill>
          <a:blip r:embed="rId5"/>
          <a:stretch/>
        </p:blipFill>
        <p:spPr>
          <a:xfrm rot="192000">
            <a:off x="7486650" y="1095983"/>
            <a:ext cx="3790950" cy="2770558"/>
          </a:xfrm>
          <a:prstGeom prst="rect">
            <a:avLst/>
          </a:prstGeom>
        </p:spPr>
      </p:pic>
      <p:sp>
        <p:nvSpPr>
          <p:cNvPr id="11" name="screenshot-shadow-4">
            <a:extLst>
              <a:ext uri="{FF2B5EF4-FFF2-40B4-BE49-F238E27FC236}">
                <a16:creationId xmlns:a16="http://schemas.microsoft.com/office/drawing/2014/main" id="{13F533D8-84F9-4819-883B-D7160337222F}"/>
              </a:ext>
            </a:extLst>
          </p:cNvPr>
          <p:cNvSpPr>
            <a:spLocks noGrp="1"/>
          </p:cNvSpPr>
          <p:nvPr/>
        </p:nvSpPr>
        <p:spPr>
          <a:xfrm rot="-108000">
            <a:off x="1190625" y="2095500"/>
            <a:ext cx="3619500" cy="29908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35" name="incident-screenshot-4"/>
          <p:cNvPicPr>
            <a:picLocks noChangeAspect="1"/>
          </p:cNvPicPr>
          <p:nvPr/>
        </p:nvPicPr>
        <p:blipFill>
          <a:blip r:embed="rId6"/>
          <a:stretch/>
        </p:blipFill>
        <p:spPr>
          <a:xfrm rot="-108000">
            <a:off x="1192242" y="2095500"/>
            <a:ext cx="3616266" cy="2990850"/>
          </a:xfrm>
          <a:prstGeom prst="rect">
            <a:avLst/>
          </a:prstGeom>
        </p:spPr>
      </p:pic>
      <p:sp>
        <p:nvSpPr>
          <p:cNvPr id="13" name="screenshot-shadow-5">
            <a:extLst>
              <a:ext uri="{FF2B5EF4-FFF2-40B4-BE49-F238E27FC236}">
                <a16:creationId xmlns:a16="http://schemas.microsoft.com/office/drawing/2014/main" id="{1E9FEC32-58E5-4328-99CB-9088B40137D3}"/>
              </a:ext>
            </a:extLst>
          </p:cNvPr>
          <p:cNvSpPr>
            <a:spLocks noGrp="1"/>
          </p:cNvSpPr>
          <p:nvPr/>
        </p:nvSpPr>
        <p:spPr>
          <a:xfrm rot="84000">
            <a:off x="4524375" y="3429000"/>
            <a:ext cx="485775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</p:sp>
      <p:pic>
        <p:nvPicPr>
          <p:cNvPr id="37" name="incident-screenshot-5"/>
          <p:cNvPicPr>
            <a:picLocks noChangeAspect="1"/>
          </p:cNvPicPr>
          <p:nvPr/>
        </p:nvPicPr>
        <p:blipFill>
          <a:blip r:embed="rId7"/>
          <a:stretch/>
        </p:blipFill>
        <p:spPr>
          <a:xfrm rot="84000">
            <a:off x="4528457" y="3429000"/>
            <a:ext cx="4849586" cy="1600200"/>
          </a:xfrm>
          <a:prstGeom prst="rect">
            <a:avLst/>
          </a:prstGeom>
        </p:spPr>
      </p:pic>
      <p:sp>
        <p:nvSpPr>
          <p:cNvPr id="15" name="statement-accent">
            <a:extLst>
              <a:ext uri="{FF2B5EF4-FFF2-40B4-BE49-F238E27FC236}">
                <a16:creationId xmlns:a16="http://schemas.microsoft.com/office/drawing/2014/main" id="{F3C31686-7527-4F6A-9C1C-A34CB2BC3BDB}"/>
              </a:ext>
            </a:extLst>
          </p:cNvPr>
          <p:cNvSpPr>
            <a:spLocks noGrp="1"/>
          </p:cNvSpPr>
          <p:nvPr/>
        </p:nvSpPr>
        <p:spPr>
          <a:xfrm>
            <a:off x="552450" y="5381625"/>
            <a:ext cx="66675" cy="9715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6" name="opening-statement">
            <a:extLst>
              <a:ext uri="{FF2B5EF4-FFF2-40B4-BE49-F238E27FC236}">
                <a16:creationId xmlns:a16="http://schemas.microsoft.com/office/drawing/2014/main" id="{EAA99752-6729-49CA-B1EF-6FFCCD01B881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108204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buNone/>
            </a:pPr>
            <a:r>
              <a:rPr sz="360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rPr>
              <a:t>AI agents should never be left unattended
without </a:t>
            </a:r>
            <a:r>
              <a:rPr sz="3600" b="1">
                <a:solidFill>
                  <a:srgbClr val="FF6B35"/>
                </a:solidFill>
                <a:latin typeface="Aptos Display"/>
                <a:ea typeface="Aptos Display"/>
                <a:cs typeface="Aptos Display"/>
              </a:rPr>
              <a:t>a sandbox</a:t>
            </a:r>
          </a:p>
        </p:txBody>
      </p:sp>
      <p:pic>
        <p:nvPicPr>
          <p:cNvPr id="40" name="docker-mark-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21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1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Unrestricted permissions / YOLO mode on your host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B56FF200-1FAA-4817-AEAA-2A93394D5BE3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F86117-FA70-4B7D-9E5D-D6EA91A00A9E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953750" cy="1143000"/>
          </a:xfrm>
          <a:prstGeom prst="roundRect">
            <a:avLst>
              <a:gd name="adj" fmla="val 6667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25" name="full-permissions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102" y="1885950"/>
            <a:ext cx="10773796" cy="971550"/>
          </a:xfrm>
          <a:prstGeom prst="roundRect">
            <a:avLst>
              <a:gd name="adj" fmla="val 7843"/>
            </a:avLst>
          </a:prstGeom>
        </p:spPr>
      </p:pic>
      <p:sp>
        <p:nvSpPr>
          <p:cNvPr id="16" name="danger-callout">
            <a:extLst>
              <a:ext uri="{FF2B5EF4-FFF2-40B4-BE49-F238E27FC236}">
                <a16:creationId xmlns:a16="http://schemas.microsoft.com/office/drawing/2014/main" id="{CC993018-1F89-410D-8D93-6B1792306762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11087100" cy="1809750"/>
          </a:xfrm>
          <a:prstGeom prst="roundRect">
            <a:avLst>
              <a:gd name="adj" fmla="val 8421"/>
            </a:avLst>
          </a:prstGeom>
          <a:noFill/>
          <a:ln w="19050">
            <a:solidFill>
              <a:srgbClr val="FF6C2F"/>
            </a:solidFill>
            <a:prstDash val="solid"/>
          </a:ln>
        </p:spPr>
      </p:sp>
      <p:sp>
        <p:nvSpPr>
          <p:cNvPr id="17" name="danger-heading">
            <a:extLst>
              <a:ext uri="{FF2B5EF4-FFF2-40B4-BE49-F238E27FC236}">
                <a16:creationId xmlns:a16="http://schemas.microsoft.com/office/drawing/2014/main" id="{2DB54329-DE1B-4EC6-AB0B-445964C350A1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FF6C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6C2F"/>
                </a:solidFill>
                <a:latin typeface="Aptos"/>
                <a:ea typeface="Aptos"/>
                <a:cs typeface="Aptos"/>
              </a:rPr>
              <a:t>NEVER. EVER.</a:t>
            </a:r>
          </a:p>
        </p:txBody>
      </p:sp>
      <p:sp>
        <p:nvSpPr>
          <p:cNvPr id="18" name="danger-copy">
            <a:extLst>
              <a:ext uri="{FF2B5EF4-FFF2-40B4-BE49-F238E27FC236}">
                <a16:creationId xmlns:a16="http://schemas.microsoft.com/office/drawing/2014/main" id="{7048D522-64BB-488B-99AB-253AF43D4607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25" dirty="0">
                <a:solidFill>
                  <a:srgbClr val="F7FBFD"/>
                </a:solidFill>
                <a:latin typeface="Aptos"/>
                <a:ea typeface="Aptos"/>
                <a:cs typeface="Aptos"/>
              </a:rPr>
              <a:t>Unless you want to play with fire.</a:t>
            </a:r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E614CC19-6A51-2460-7908-6E607AA56DE1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39D6ED63-4758-A914-8B58-BF0EBD64CD20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A9ED055F-9350-E9BC-F464-8379B418C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Manually approving every tool run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93B88F47-A224-4A9C-85A8-AC8C3144E8F4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manual-approval-bullets">
            <a:extLst>
              <a:ext uri="{FF2B5EF4-FFF2-40B4-BE49-F238E27FC236}">
                <a16:creationId xmlns:a16="http://schemas.microsoft.com/office/drawing/2014/main" id="{FB3ACA5B-912D-47E0-8D17-64A26A79E841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533400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6" indent="-16">
              <a:spcAft>
                <a:spcPts val="1500"/>
              </a:spcAft>
              <a:buChar char="•"/>
              <a:defRPr sz="18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 </a:t>
            </a:r>
            <a:r>
              <a:rPr sz="2400" dirty="0"/>
              <a:t>No agent autonomy; every step requires constant babysitting.</a:t>
            </a:r>
          </a:p>
          <a:p>
            <a:pPr marL="26" indent="-16">
              <a:spcAft>
                <a:spcPts val="1500"/>
              </a:spcAft>
              <a:buChar char="•"/>
              <a:defRPr sz="18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 </a:t>
            </a:r>
            <a:r>
              <a:rPr sz="2400" dirty="0"/>
              <a:t>Humans cannot reliably identify every subtle or multi-step attac</a:t>
            </a:r>
            <a:r>
              <a:rPr lang="en-US" sz="2400" dirty="0"/>
              <a:t>ks.</a:t>
            </a:r>
            <a:endParaRPr sz="2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B2CB71-DC8F-4C9B-B2CC-B022391911C9}"/>
              </a:ext>
            </a:extLst>
          </p:cNvPr>
          <p:cNvSpPr>
            <a:spLocks noGrp="1"/>
          </p:cNvSpPr>
          <p:nvPr/>
        </p:nvSpPr>
        <p:spPr>
          <a:xfrm>
            <a:off x="6534150" y="1762125"/>
            <a:ext cx="5038725" cy="2838450"/>
          </a:xfrm>
          <a:prstGeom prst="roundRect">
            <a:avLst>
              <a:gd name="adj" fmla="val 2685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26" name="manual-permissions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9875" y="1850343"/>
            <a:ext cx="4867275" cy="2662014"/>
          </a:xfrm>
          <a:prstGeom prst="roundRect">
            <a:avLst>
              <a:gd name="adj" fmla="val 2857"/>
            </a:avLst>
          </a:prstGeom>
        </p:spPr>
      </p:pic>
      <p:sp>
        <p:nvSpPr>
          <p:cNvPr id="2" name="top-accent-1">
            <a:extLst>
              <a:ext uri="{FF2B5EF4-FFF2-40B4-BE49-F238E27FC236}">
                <a16:creationId xmlns:a16="http://schemas.microsoft.com/office/drawing/2014/main" id="{5B2F7ABA-4FB5-565C-438B-8FC7430DE93C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A3C2D65E-8082-91E8-690B-8F070D78BA2B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F05CD6B7-0A33-F417-7D60-33B5BDCBC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Auto mode / classifiers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DF89AB41-DD1E-4C82-B04D-0DFF6EBC4155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96CDA09-2336-457F-88D5-AF057EE731C3}"/>
              </a:ext>
            </a:extLst>
          </p:cNvPr>
          <p:cNvSpPr>
            <a:spLocks noGrp="1"/>
          </p:cNvSpPr>
          <p:nvPr/>
        </p:nvSpPr>
        <p:spPr>
          <a:xfrm>
            <a:off x="619125" y="1676400"/>
            <a:ext cx="10953750" cy="1162050"/>
          </a:xfrm>
          <a:prstGeom prst="roundRect">
            <a:avLst>
              <a:gd name="adj" fmla="val 6557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23" name="auto-mode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126" y="1762125"/>
            <a:ext cx="10781748" cy="990600"/>
          </a:xfrm>
          <a:prstGeom prst="roundRect">
            <a:avLst>
              <a:gd name="adj" fmla="val 7692"/>
            </a:avLst>
          </a:prstGeom>
        </p:spPr>
      </p:pic>
      <p:sp>
        <p:nvSpPr>
          <p:cNvPr id="16" name="classifier-bullets">
            <a:extLst>
              <a:ext uri="{FF2B5EF4-FFF2-40B4-BE49-F238E27FC236}">
                <a16:creationId xmlns:a16="http://schemas.microsoft.com/office/drawing/2014/main" id="{162EE16E-11BE-44C6-A6E1-BFFAAB9E3C98}"/>
              </a:ext>
            </a:extLst>
          </p:cNvPr>
          <p:cNvSpPr>
            <a:spLocks noGrp="1"/>
          </p:cNvSpPr>
          <p:nvPr/>
        </p:nvSpPr>
        <p:spPr>
          <a:xfrm>
            <a:off x="552450" y="3190875"/>
            <a:ext cx="110871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457210" indent="-4572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  <a:defRPr sz="150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Anthropic </a:t>
            </a:r>
            <a:r>
              <a:rPr lang="en-US" sz="2400" dirty="0"/>
              <a:t>recommends</a:t>
            </a:r>
            <a:r>
              <a:rPr sz="2400" dirty="0"/>
              <a:t> </a:t>
            </a:r>
            <a:r>
              <a:rPr sz="2400" dirty="0">
                <a:solidFill>
                  <a:srgbClr val="FFFF00"/>
                </a:solidFill>
              </a:rPr>
              <a:t>auto mode </a:t>
            </a:r>
            <a:r>
              <a:rPr sz="2400" dirty="0"/>
              <a:t>as a safer middle ground</a:t>
            </a:r>
          </a:p>
          <a:p>
            <a:pPr marL="457210" indent="-4572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  <a:defRPr sz="150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Adds </a:t>
            </a:r>
            <a:r>
              <a:rPr sz="2400" dirty="0"/>
              <a:t>model processing, latency, and sometimes reasoning</a:t>
            </a:r>
            <a:r>
              <a:rPr lang="en-US" sz="2400" dirty="0"/>
              <a:t> </a:t>
            </a:r>
            <a:r>
              <a:rPr sz="2400" dirty="0"/>
              <a:t>token</a:t>
            </a:r>
            <a:r>
              <a:rPr lang="en-US" sz="2400" dirty="0"/>
              <a:t>s</a:t>
            </a:r>
            <a:r>
              <a:rPr sz="2400" dirty="0"/>
              <a:t> cost</a:t>
            </a:r>
          </a:p>
          <a:p>
            <a:pPr marL="457210" indent="-4572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  <a:defRPr sz="150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C</a:t>
            </a:r>
            <a:r>
              <a:rPr sz="2400" dirty="0"/>
              <a:t>lassifiers can </a:t>
            </a:r>
            <a:r>
              <a:rPr lang="en-US" sz="2400" dirty="0"/>
              <a:t>identify </a:t>
            </a:r>
            <a:r>
              <a:rPr sz="2400" dirty="0"/>
              <a:t>false-positive</a:t>
            </a:r>
            <a:r>
              <a:rPr lang="en-US" sz="2400" dirty="0"/>
              <a:t>s</a:t>
            </a:r>
            <a:r>
              <a:rPr sz="2400" dirty="0"/>
              <a:t> and block legitimate work</a:t>
            </a:r>
          </a:p>
          <a:p>
            <a:pPr marL="457210" indent="-4572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  <a:defRPr sz="150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S</a:t>
            </a:r>
            <a:r>
              <a:rPr sz="2400" dirty="0"/>
              <a:t>ophisticated attacks are not guaranteed to be caught</a:t>
            </a:r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13B8352D-0136-1ADC-DC6A-01F5598163E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3BFD2070-1211-1C44-D40C-6713E7C26479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5B07D728-E112-0748-98F8-A3D02C71E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0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dirty="0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Harness-based sandboxin</a:t>
            </a:r>
            <a:r>
              <a:rPr lang="en-US" sz="3000" b="1" dirty="0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g (Seatbelt / </a:t>
            </a:r>
            <a:r>
              <a:rPr lang="en-US" sz="3000" b="1" dirty="0" err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Bubblewrap</a:t>
            </a:r>
            <a:r>
              <a:rPr lang="en-US" sz="3000" b="1" dirty="0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3000" b="1" dirty="0">
              <a:solidFill>
                <a:srgbClr val="F7FBF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80A8BC5C-5E4C-421F-96C6-4CD6CBE623C3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harness-bullets">
            <a:extLst>
              <a:ext uri="{FF2B5EF4-FFF2-40B4-BE49-F238E27FC236}">
                <a16:creationId xmlns:a16="http://schemas.microsoft.com/office/drawing/2014/main" id="{70213F0E-135C-47BA-A96E-067C13FCE395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6629400" cy="45494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OS-level filesystem and network boundaries block many dangerous actions.</a:t>
            </a:r>
          </a:p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It can </a:t>
            </a:r>
            <a:r>
              <a:rPr sz="2400" dirty="0"/>
              <a:t>break useful tasks that need access beyond the project workspac</a:t>
            </a:r>
            <a:r>
              <a:rPr lang="en-US" sz="2400" dirty="0"/>
              <a:t>e – needs manual approval</a:t>
            </a:r>
            <a:endParaRPr sz="2400" dirty="0"/>
          </a:p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You can’t let Claude / other agents manage their own configuration without allowing them to turn off their own sandbox</a:t>
            </a:r>
            <a:endParaRPr sz="2400" dirty="0"/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5A71C67B-2814-D3E8-6388-76ADABF51DA8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9110285B-A757-CA81-A68F-BCF457052FF7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4D7611B2-BB88-3D69-4F3A-810BE903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67E34-F13A-2F29-3685-78CBAE113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264" y="1913578"/>
            <a:ext cx="3479286" cy="331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Containers: Docker, Dev Containers, etc.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8835658A-E665-4861-BB95-D632BDA58661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container-bullets">
            <a:extLst>
              <a:ext uri="{FF2B5EF4-FFF2-40B4-BE49-F238E27FC236}">
                <a16:creationId xmlns:a16="http://schemas.microsoft.com/office/drawing/2014/main" id="{4F6A4854-0BF4-4B36-97BD-30355119AE52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73342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Better isolation: the agent sees a bounded environment instead of the host.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P</a:t>
            </a:r>
            <a:r>
              <a:rPr sz="2400" dirty="0"/>
              <a:t>ortability and reproducib</a:t>
            </a:r>
            <a:r>
              <a:rPr lang="en-US" sz="2400" dirty="0"/>
              <a:t>le - </a:t>
            </a:r>
            <a:r>
              <a:rPr sz="2400" dirty="0"/>
              <a:t>the problem containers and dev containers were built to solve.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A</a:t>
            </a:r>
            <a:r>
              <a:rPr sz="2400" dirty="0"/>
              <a:t> container is not a hardened VM boundary by default; shared-kernel escapes and risky socket mounts remain known failure classes.</a:t>
            </a:r>
          </a:p>
        </p:txBody>
      </p:sp>
      <p:sp>
        <p:nvSpPr>
          <p:cNvPr id="15" name="container-logo-panel">
            <a:extLst>
              <a:ext uri="{FF2B5EF4-FFF2-40B4-BE49-F238E27FC236}">
                <a16:creationId xmlns:a16="http://schemas.microsoft.com/office/drawing/2014/main" id="{C0890E00-9BA9-4AFF-A08F-4B818A0F2301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3162300" cy="3333750"/>
          </a:xfrm>
          <a:prstGeom prst="roundRect">
            <a:avLst>
              <a:gd name="adj" fmla="val 4819"/>
            </a:avLst>
          </a:prstGeom>
          <a:solidFill>
            <a:srgbClr val="0D2632"/>
          </a:solidFill>
          <a:ln w="9525">
            <a:solidFill>
              <a:srgbClr val="5F7782"/>
            </a:solidFill>
            <a:prstDash val="solid"/>
          </a:ln>
        </p:spPr>
      </p:sp>
      <p:pic>
        <p:nvPicPr>
          <p:cNvPr id="29" name="docker-mark-lar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74175" y="2190750"/>
            <a:ext cx="1568450" cy="12382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8FE07AF-7511-4FBA-AC99-731AD7E8ECB8}"/>
              </a:ext>
            </a:extLst>
          </p:cNvPr>
          <p:cNvSpPr>
            <a:spLocks noGrp="1"/>
          </p:cNvSpPr>
          <p:nvPr/>
        </p:nvSpPr>
        <p:spPr>
          <a:xfrm>
            <a:off x="9829800" y="3448050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pic>
        <p:nvPicPr>
          <p:cNvPr id="31" name="devcontainers-logo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3905250"/>
            <a:ext cx="971550" cy="971550"/>
          </a:xfrm>
          <a:prstGeom prst="roundRect">
            <a:avLst>
              <a:gd name="adj" fmla="val 11765"/>
            </a:avLst>
          </a:prstGeom>
        </p:spPr>
      </p:pic>
      <p:sp>
        <p:nvSpPr>
          <p:cNvPr id="2" name="top-accent-1">
            <a:extLst>
              <a:ext uri="{FF2B5EF4-FFF2-40B4-BE49-F238E27FC236}">
                <a16:creationId xmlns:a16="http://schemas.microsoft.com/office/drawing/2014/main" id="{D81E6DD6-8CE8-124C-07B2-D60B7F8A9AA4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7FDCFEF1-E1FA-09C5-BEDF-85D907DF4316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1B9DAA68-DA7C-70AF-B166-1ABAB4FB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18DA2D67-17A1-48C1-B4AF-61251C4437AF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COMMON SANDBOXING APPROACHES</a:t>
            </a:r>
          </a:p>
        </p:txBody>
      </p:sp>
      <p:sp>
        <p:nvSpPr>
          <p:cNvPr id="14" name="docker-sandbox-lockup-panel">
            <a:extLst>
              <a:ext uri="{FF2B5EF4-FFF2-40B4-BE49-F238E27FC236}">
                <a16:creationId xmlns:a16="http://schemas.microsoft.com/office/drawing/2014/main" id="{9B634F01-F570-448A-8C0E-35ACDB60588F}"/>
              </a:ext>
            </a:extLst>
          </p:cNvPr>
          <p:cNvSpPr>
            <a:spLocks noGrp="1"/>
          </p:cNvSpPr>
          <p:nvPr/>
        </p:nvSpPr>
        <p:spPr>
          <a:xfrm>
            <a:off x="552450" y="1895412"/>
            <a:ext cx="3795491" cy="926511"/>
          </a:xfrm>
          <a:prstGeom prst="roundRect">
            <a:avLst>
              <a:gd name="adj" fmla="val 10667"/>
            </a:avLst>
          </a:prstGeom>
          <a:noFill/>
          <a:ln w="19050">
            <a:solidFill>
              <a:srgbClr val="2496ED"/>
            </a:solidFill>
            <a:prstDash val="solid"/>
          </a:ln>
        </p:spPr>
      </p:sp>
      <p:pic>
        <p:nvPicPr>
          <p:cNvPr id="27" name="docker-sandbox-lockup-larg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6" y="2067791"/>
            <a:ext cx="3286388" cy="5975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CB6B6B-397B-43FA-A962-54136527FB96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490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2496ED"/>
                </a:solidFill>
                <a:latin typeface="Aptos"/>
                <a:ea typeface="Aptos"/>
                <a:cs typeface="Aptos"/>
              </a:rPr>
              <a:t>PURPOSE-BUILT CONTAINMENT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22B3FD-5465-4E34-87DB-8742A5C3A344}"/>
              </a:ext>
            </a:extLst>
          </p:cNvPr>
          <p:cNvSpPr>
            <a:spLocks noGrp="1"/>
          </p:cNvSpPr>
          <p:nvPr/>
        </p:nvSpPr>
        <p:spPr>
          <a:xfrm>
            <a:off x="552451" y="3809999"/>
            <a:ext cx="2977981" cy="167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98000"/>
              </a:lnSpc>
              <a:buNone/>
              <a:defRPr sz="2550" b="1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7FBFD"/>
                </a:solidFill>
                <a:latin typeface="Aptos"/>
                <a:ea typeface="Aptos"/>
                <a:cs typeface="Aptos"/>
              </a:rPr>
              <a:t>A separate kernel changes the blast radius.</a:t>
            </a:r>
          </a:p>
        </p:txBody>
      </p:sp>
      <p:sp>
        <p:nvSpPr>
          <p:cNvPr id="18" name="docker-sandbox-bullets">
            <a:extLst>
              <a:ext uri="{FF2B5EF4-FFF2-40B4-BE49-F238E27FC236}">
                <a16:creationId xmlns:a16="http://schemas.microsoft.com/office/drawing/2014/main" id="{DAE584F0-4A7F-4905-B42F-220BE5D2EF75}"/>
              </a:ext>
            </a:extLst>
          </p:cNvPr>
          <p:cNvSpPr>
            <a:spLocks noGrp="1"/>
          </p:cNvSpPr>
          <p:nvPr/>
        </p:nvSpPr>
        <p:spPr>
          <a:xfrm>
            <a:off x="4553833" y="1641075"/>
            <a:ext cx="7085717" cy="4397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5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A </a:t>
            </a:r>
            <a:r>
              <a:rPr sz="2400" dirty="0" err="1"/>
              <a:t>microVM</a:t>
            </a:r>
            <a:r>
              <a:rPr sz="2400" dirty="0"/>
              <a:t> with a separate kernel from the host.</a:t>
            </a:r>
          </a:p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5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Designed</a:t>
            </a:r>
            <a:r>
              <a:rPr sz="2400" dirty="0"/>
              <a:t> for autonomous, untrusted AI coding agents.</a:t>
            </a:r>
          </a:p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5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Preserves Docker strengths: portable templates, reproducible state, workspace mounting, and configurable network policy.</a:t>
            </a:r>
          </a:p>
          <a:p>
            <a:pPr marL="285760" indent="-285750">
              <a:spcAft>
                <a:spcPts val="1500"/>
              </a:spcAft>
              <a:buFont typeface="Arial" panose="020B0604020202020204" pitchFamily="34" charset="0"/>
              <a:buChar char="•"/>
              <a:defRPr sz="157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Run the agent in YOLO mode inside the VM—without giving it your host.</a:t>
            </a:r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4103CB15-D138-CAC6-C5F4-024C6B53CC4C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E3CD9798-42D1-2A27-B674-C86F27D7524E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65D50350-6AE8-951D-85C4-6ED9F5D6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3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dirty="0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Docker Sandbox </a:t>
            </a:r>
            <a:r>
              <a:rPr lang="en-US" sz="3300" b="1" dirty="0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features</a:t>
            </a:r>
            <a:endParaRPr sz="3300" b="1" dirty="0">
              <a:solidFill>
                <a:srgbClr val="F7FBF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features-left-label">
            <a:extLst>
              <a:ext uri="{FF2B5EF4-FFF2-40B4-BE49-F238E27FC236}">
                <a16:creationId xmlns:a16="http://schemas.microsoft.com/office/drawing/2014/main" id="{ACBDF308-97F0-4FEB-A0E0-FBA0E13AE964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96ED"/>
                </a:solidFill>
                <a:latin typeface="Aptos"/>
                <a:ea typeface="Aptos"/>
                <a:cs typeface="Aptos"/>
              </a:rPr>
              <a:t>ENVIRONMENTS + STATE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5EB3D97-CA41-474C-81A6-16F1D1A1CE2E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4953000" cy="0"/>
          </a:xfrm>
          <a:prstGeom prst="line">
            <a:avLst/>
          </a:prstGeom>
          <a:noFill/>
          <a:ln w="19050">
            <a:solidFill>
              <a:srgbClr val="2496ED"/>
            </a:solidFill>
            <a:prstDash val="solid"/>
          </a:ln>
        </p:spPr>
      </p:sp>
      <p:sp>
        <p:nvSpPr>
          <p:cNvPr id="9" name="features-left">
            <a:extLst>
              <a:ext uri="{FF2B5EF4-FFF2-40B4-BE49-F238E27FC236}">
                <a16:creationId xmlns:a16="http://schemas.microsoft.com/office/drawing/2014/main" id="{2A636A46-6002-4EDC-94D9-54C9A7DD22CF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5000625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Prebuilt images for Claude Code, Codex, and others—plus a bare shell</a:t>
            </a:r>
            <a:r>
              <a:rPr lang="en-US" sz="2000" dirty="0"/>
              <a:t> image</a:t>
            </a:r>
            <a:r>
              <a:rPr sz="2000" dirty="0"/>
              <a:t>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Mount one or multiple workspaces for different isolation models.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Define custom templates with a </a:t>
            </a:r>
            <a:r>
              <a:rPr sz="2000" dirty="0" err="1"/>
              <a:t>Dockerfile</a:t>
            </a:r>
            <a:r>
              <a:rPr sz="2000" dirty="0"/>
              <a:t>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Snapshot a configured sandbox into a reusable template on the fly.</a:t>
            </a:r>
          </a:p>
        </p:txBody>
      </p:sp>
      <p:sp>
        <p:nvSpPr>
          <p:cNvPr id="10" name="features-right-label">
            <a:extLst>
              <a:ext uri="{FF2B5EF4-FFF2-40B4-BE49-F238E27FC236}">
                <a16:creationId xmlns:a16="http://schemas.microsoft.com/office/drawing/2014/main" id="{1DD6DFF2-DBF6-4B52-BC83-DD52CE1685EC}"/>
              </a:ext>
            </a:extLst>
          </p:cNvPr>
          <p:cNvSpPr>
            <a:spLocks noGrp="1"/>
          </p:cNvSpPr>
          <p:nvPr/>
        </p:nvSpPr>
        <p:spPr>
          <a:xfrm>
            <a:off x="6143625" y="1733550"/>
            <a:ext cx="549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496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96ED"/>
                </a:solidFill>
                <a:latin typeface="Aptos"/>
                <a:ea typeface="Aptos"/>
                <a:cs typeface="Aptos"/>
              </a:rPr>
              <a:t>ACCESS + ORGANIZATIONAL CONTROL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3BC225E-3C79-4D6D-9A6B-B6855DFBEDB9}"/>
              </a:ext>
            </a:extLst>
          </p:cNvPr>
          <p:cNvSpPr>
            <a:spLocks noGrp="1"/>
          </p:cNvSpPr>
          <p:nvPr/>
        </p:nvSpPr>
        <p:spPr>
          <a:xfrm>
            <a:off x="6143625" y="2095500"/>
            <a:ext cx="5495925" cy="0"/>
          </a:xfrm>
          <a:prstGeom prst="line">
            <a:avLst/>
          </a:prstGeom>
          <a:noFill/>
          <a:ln w="19050">
            <a:solidFill>
              <a:srgbClr val="2496ED"/>
            </a:solidFill>
            <a:prstDash val="solid"/>
          </a:ln>
        </p:spPr>
      </p:sp>
      <p:sp>
        <p:nvSpPr>
          <p:cNvPr id="12" name="features-right">
            <a:extLst>
              <a:ext uri="{FF2B5EF4-FFF2-40B4-BE49-F238E27FC236}">
                <a16:creationId xmlns:a16="http://schemas.microsoft.com/office/drawing/2014/main" id="{6DF1EDBF-461E-44E6-9370-8FDAC49E9CC0}"/>
              </a:ext>
            </a:extLst>
          </p:cNvPr>
          <p:cNvSpPr>
            <a:spLocks noGrp="1"/>
          </p:cNvSpPr>
          <p:nvPr/>
        </p:nvSpPr>
        <p:spPr>
          <a:xfrm>
            <a:off x="6143625" y="2324100"/>
            <a:ext cx="5495925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Apply network policies and publish ports for local service access.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Use the native SSH endpoint with desktop tools.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650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Package batteries-included organizational setups as reusable Kits.</a:t>
            </a:r>
          </a:p>
        </p:txBody>
      </p:sp>
      <p:sp>
        <p:nvSpPr>
          <p:cNvPr id="15" name="section-label-2">
            <a:extLst>
              <a:ext uri="{FF2B5EF4-FFF2-40B4-BE49-F238E27FC236}">
                <a16:creationId xmlns:a16="http://schemas.microsoft.com/office/drawing/2014/main" id="{AB0BCBF8-FEAC-4E3C-9D69-F3176397D96A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DOCKER SANDBOX IN PRACTICE</a:t>
            </a:r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D3DACFE4-46C6-2F6E-9B37-6D0DFFF9AF3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53106559-9369-2C13-C3F1-C573216F0329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9A1ECE5D-EEFB-9882-B02E-1DAC8A76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0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Dockerfiles + dotfiles make the environment reproducible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18DA2D67-17A1-48C1-B4AF-61251C4437AF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DOCKER SANDBOX IN PRACTICE</a:t>
            </a:r>
          </a:p>
        </p:txBody>
      </p:sp>
      <p:sp>
        <p:nvSpPr>
          <p:cNvPr id="22" name="dotfiles-screenshot-outline">
            <a:extLst>
              <a:ext uri="{FF2B5EF4-FFF2-40B4-BE49-F238E27FC236}">
                <a16:creationId xmlns:a16="http://schemas.microsoft.com/office/drawing/2014/main" id="{88ACAE8A-A35E-4B7F-89C9-756CEAEA0010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2895600" cy="4581525"/>
          </a:xfrm>
          <a:prstGeom prst="roundRect">
            <a:avLst>
              <a:gd name="adj" fmla="val 2632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33" name="dotfiles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6677" y="1714500"/>
            <a:ext cx="1527146" cy="4429125"/>
          </a:xfrm>
          <a:prstGeom prst="roundRect">
            <a:avLst>
              <a:gd name="adj" fmla="val 2778"/>
            </a:avLst>
          </a:prstGeom>
        </p:spPr>
      </p:pic>
      <p:sp>
        <p:nvSpPr>
          <p:cNvPr id="24" name="dotfiles-bullets">
            <a:extLst>
              <a:ext uri="{FF2B5EF4-FFF2-40B4-BE49-F238E27FC236}">
                <a16:creationId xmlns:a16="http://schemas.microsoft.com/office/drawing/2014/main" id="{83AC0E1D-81E6-42BF-B558-D677BE40DA07}"/>
              </a:ext>
            </a:extLst>
          </p:cNvPr>
          <p:cNvSpPr>
            <a:spLocks noGrp="1"/>
          </p:cNvSpPr>
          <p:nvPr/>
        </p:nvSpPr>
        <p:spPr>
          <a:xfrm>
            <a:off x="3857625" y="1809750"/>
            <a:ext cx="7781925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72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Combine a </a:t>
            </a:r>
            <a:r>
              <a:rPr sz="2000" dirty="0" err="1"/>
              <a:t>Dockerfile</a:t>
            </a:r>
            <a:r>
              <a:rPr sz="2000" dirty="0"/>
              <a:t> with tracked dotfiles for a fully reproducible, portable, and safe development environment.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72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Track agent configuration—including ~/.</a:t>
            </a:r>
            <a:r>
              <a:rPr sz="2000" dirty="0" err="1"/>
              <a:t>claude</a:t>
            </a:r>
            <a:r>
              <a:rPr lang="en-US" sz="2000" dirty="0"/>
              <a:t> or ~/.codex - </a:t>
            </a:r>
            <a:r>
              <a:rPr sz="2000" dirty="0"/>
              <a:t>as ordinary versioned files</a:t>
            </a:r>
            <a:r>
              <a:rPr lang="en-US" sz="2000" dirty="0"/>
              <a:t> and folders</a:t>
            </a:r>
            <a:r>
              <a:rPr sz="2000" dirty="0"/>
              <a:t>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72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Let the agent act freely as root inside the sandbox while you control every boundary.</a:t>
            </a:r>
          </a:p>
          <a:p>
            <a:pPr marL="342910" indent="-342900">
              <a:spcAft>
                <a:spcPts val="1500"/>
              </a:spcAft>
              <a:buFont typeface="Arial" panose="020B0604020202020204" pitchFamily="34" charset="0"/>
              <a:buChar char="•"/>
              <a:defRPr sz="1725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000" dirty="0"/>
              <a:t>Keep host files, sensitive information, and credentials outside the sandbox</a:t>
            </a:r>
            <a:r>
              <a:rPr lang="en-US" sz="2000" dirty="0"/>
              <a:t> – use </a:t>
            </a:r>
            <a:r>
              <a:rPr lang="en-US" sz="2000" dirty="0" err="1"/>
              <a:t>sym</a:t>
            </a:r>
            <a:r>
              <a:rPr lang="en-US" sz="2000" dirty="0"/>
              <a:t>-linking for env mockups</a:t>
            </a:r>
            <a:endParaRPr sz="2000" dirty="0"/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63A0A0BC-23A4-3DF5-D898-4EE001D716AD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B9F2ED84-E69A-8584-CBD8-42309019074E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51DE6678-D9EC-87FB-30CB-D6C4D8223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mplate-title">
            <a:extLst>
              <a:ext uri="{FF2B5EF4-FFF2-40B4-BE49-F238E27FC236}">
                <a16:creationId xmlns:a16="http://schemas.microsoft.com/office/drawing/2014/main" id="{21D1203B-5865-4EA7-BCF4-7E3C0C236CE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1108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BFD"/>
                </a:solidFill>
                <a:latin typeface="Aptos Display"/>
                <a:ea typeface="Aptos Display"/>
                <a:cs typeface="Aptos Display"/>
              </a:rPr>
              <a:t>System-level tasks can run end to end</a:t>
            </a:r>
          </a:p>
        </p:txBody>
      </p:sp>
      <p:sp>
        <p:nvSpPr>
          <p:cNvPr id="13" name="section-label-2">
            <a:extLst>
              <a:ext uri="{FF2B5EF4-FFF2-40B4-BE49-F238E27FC236}">
                <a16:creationId xmlns:a16="http://schemas.microsoft.com/office/drawing/2014/main" id="{18DA2D67-17A1-48C1-B4AF-61251C4437AF}"/>
              </a:ext>
            </a:extLst>
          </p:cNvPr>
          <p:cNvSpPr>
            <a:spLocks noGrp="1"/>
          </p:cNvSpPr>
          <p:nvPr/>
        </p:nvSpPr>
        <p:spPr>
          <a:xfrm>
            <a:off x="3238500" y="2952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1A7B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7B1"/>
                </a:solidFill>
                <a:latin typeface="Aptos"/>
                <a:ea typeface="Aptos"/>
                <a:cs typeface="Aptos"/>
              </a:rPr>
              <a:t>DOCKER SANDBOX IN PRACTICE</a:t>
            </a:r>
          </a:p>
        </p:txBody>
      </p:sp>
      <p:sp>
        <p:nvSpPr>
          <p:cNvPr id="22" name="omp-task-screenshot-outline">
            <a:extLst>
              <a:ext uri="{FF2B5EF4-FFF2-40B4-BE49-F238E27FC236}">
                <a16:creationId xmlns:a16="http://schemas.microsoft.com/office/drawing/2014/main" id="{323FCB81-9664-4F44-A748-8EECE15C7D2C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7277100" cy="2505075"/>
          </a:xfrm>
          <a:prstGeom prst="roundRect">
            <a:avLst>
              <a:gd name="adj" fmla="val 3042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35" name="omp-task-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" y="1814059"/>
            <a:ext cx="7124700" cy="2344057"/>
          </a:xfrm>
          <a:prstGeom prst="roundRect">
            <a:avLst>
              <a:gd name="adj" fmla="val 3239"/>
            </a:avLst>
          </a:prstGeom>
        </p:spPr>
      </p:pic>
      <p:sp>
        <p:nvSpPr>
          <p:cNvPr id="24" name="omp-result-screenshot-outline">
            <a:extLst>
              <a:ext uri="{FF2B5EF4-FFF2-40B4-BE49-F238E27FC236}">
                <a16:creationId xmlns:a16="http://schemas.microsoft.com/office/drawing/2014/main" id="{6150EADA-8E2E-4AF1-BAD8-767ED82106B9}"/>
              </a:ext>
            </a:extLst>
          </p:cNvPr>
          <p:cNvSpPr>
            <a:spLocks noGrp="1"/>
          </p:cNvSpPr>
          <p:nvPr/>
        </p:nvSpPr>
        <p:spPr>
          <a:xfrm>
            <a:off x="8020050" y="1676400"/>
            <a:ext cx="3619500" cy="2867025"/>
          </a:xfrm>
          <a:prstGeom prst="roundRect">
            <a:avLst>
              <a:gd name="adj" fmla="val 2658"/>
            </a:avLst>
          </a:prstGeom>
          <a:noFill/>
          <a:ln w="9525">
            <a:solidFill>
              <a:srgbClr val="2496ED"/>
            </a:solidFill>
            <a:prstDash val="solid"/>
          </a:ln>
        </p:spPr>
      </p:sp>
      <p:pic>
        <p:nvPicPr>
          <p:cNvPr id="37" name="omp-result-screenshot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0" y="1754142"/>
            <a:ext cx="3467100" cy="2711541"/>
          </a:xfrm>
          <a:prstGeom prst="roundRect">
            <a:avLst>
              <a:gd name="adj" fmla="val 2807"/>
            </a:avLst>
          </a:prstGeom>
        </p:spPr>
      </p:pic>
      <p:sp>
        <p:nvSpPr>
          <p:cNvPr id="26" name="autonomy-accent">
            <a:extLst>
              <a:ext uri="{FF2B5EF4-FFF2-40B4-BE49-F238E27FC236}">
                <a16:creationId xmlns:a16="http://schemas.microsoft.com/office/drawing/2014/main" id="{C5C940FF-2FDD-4415-A39E-453E3913AFD2}"/>
              </a:ext>
            </a:extLst>
          </p:cNvPr>
          <p:cNvSpPr>
            <a:spLocks noGrp="1"/>
          </p:cNvSpPr>
          <p:nvPr/>
        </p:nvSpPr>
        <p:spPr>
          <a:xfrm>
            <a:off x="552450" y="5000625"/>
            <a:ext cx="66675" cy="990600"/>
          </a:xfrm>
          <a:prstGeom prst="rect">
            <a:avLst/>
          </a:prstGeom>
          <a:solidFill>
            <a:srgbClr val="FF6C2F"/>
          </a:solidFill>
          <a:ln w="0">
            <a:solidFill>
              <a:srgbClr val="FF6C2F"/>
            </a:solidFill>
            <a:prstDash val="solid"/>
          </a:ln>
        </p:spPr>
      </p:sp>
      <p:sp>
        <p:nvSpPr>
          <p:cNvPr id="27" name="autonomy-takeaway">
            <a:extLst>
              <a:ext uri="{FF2B5EF4-FFF2-40B4-BE49-F238E27FC236}">
                <a16:creationId xmlns:a16="http://schemas.microsoft.com/office/drawing/2014/main" id="{1564A6B5-5739-43EC-8AB7-6F49B5B4C611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820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2325" b="1">
                <a:solidFill>
                  <a:srgbClr val="F7FBF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FBFD"/>
                </a:solidFill>
                <a:latin typeface="Aptos"/>
                <a:ea typeface="Aptos"/>
                <a:cs typeface="Aptos"/>
              </a:rPr>
              <a:t>You can give your agent ambitious system-level tasks for end-to-end, fully autonomous execution.</a:t>
            </a:r>
          </a:p>
        </p:txBody>
      </p:sp>
      <p:sp>
        <p:nvSpPr>
          <p:cNvPr id="2" name="top-accent-1">
            <a:extLst>
              <a:ext uri="{FF2B5EF4-FFF2-40B4-BE49-F238E27FC236}">
                <a16:creationId xmlns:a16="http://schemas.microsoft.com/office/drawing/2014/main" id="{84675DA2-7818-D050-A24A-9E4CD9C04B57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2514600" cy="45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4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deck-label-1">
            <a:extLst>
              <a:ext uri="{FF2B5EF4-FFF2-40B4-BE49-F238E27FC236}">
                <a16:creationId xmlns:a16="http://schemas.microsoft.com/office/drawing/2014/main" id="{749D6972-4494-5B22-C359-1CEC265D80FA}"/>
              </a:ext>
            </a:extLst>
          </p:cNvPr>
          <p:cNvSpPr>
            <a:spLocks noGrp="1"/>
          </p:cNvSpPr>
          <p:nvPr/>
        </p:nvSpPr>
        <p:spPr>
          <a:xfrm>
            <a:off x="1123950" y="304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F4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dirty="0">
                <a:solidFill>
                  <a:srgbClr val="2496ED"/>
                </a:solidFill>
                <a:latin typeface="Aptos Display"/>
                <a:ea typeface="Aptos Display"/>
                <a:cs typeface="Aptos Display"/>
              </a:rPr>
              <a:t>DOCKER SANDBOX</a:t>
            </a:r>
          </a:p>
        </p:txBody>
      </p:sp>
      <p:pic>
        <p:nvPicPr>
          <p:cNvPr id="4" name="docker-mark-1">
            <a:extLst>
              <a:ext uri="{FF2B5EF4-FFF2-40B4-BE49-F238E27FC236}">
                <a16:creationId xmlns:a16="http://schemas.microsoft.com/office/drawing/2014/main" id="{1A7957E2-0B76-7E37-A68D-17142692F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4685" y="257175"/>
            <a:ext cx="3860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9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1242</Words>
  <Application>Microsoft Macintosh PowerPoint</Application>
  <DocSecurity>0</DocSecurity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עומר גלעד</cp:lastModifiedBy>
  <cp:revision>6</cp:revision>
  <dcterms:created xsi:type="dcterms:W3CDTF">2026-07-26T21:05:44Z</dcterms:created>
  <dcterms:modified xsi:type="dcterms:W3CDTF">2026-07-27T11:28:28Z</dcterms:modified>
</cp:coreProperties>
</file>