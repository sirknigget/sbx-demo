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6" r:id="rId18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" name="Shape 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User-provided screenshot: /Users/omergilad/Documents/Screenshots/sbx demo/Screenshot 2026-07-26 at 15.38.35.png</a:t>
            </a:r>
          </a:p>
          <a:p>
            <a:pPr/>
            <a:r>
              <a:t>- User-provided screenshot: /Users/omergilad/Documents/Screenshots/sbx demo/Screenshot 2026-07-26 at 15.39.54.png</a:t>
            </a:r>
          </a:p>
          <a:p>
            <a:pPr/>
            <a:r>
              <a:t>- User-provided screenshot: /Users/omergilad/Documents/Screenshots/sbx demo/Screenshot 2026-07-26 at 15.40.11.png</a:t>
            </a:r>
          </a:p>
          <a:p>
            <a:pPr/>
            <a:r>
              <a:t>- User-provided screenshot: /Users/omergilad/Documents/Screenshots/sbx demo/Screenshot 2026-07-26 at 15.40.19.png</a:t>
            </a:r>
          </a:p>
          <a:p>
            <a:pPr/>
            <a:r>
              <a:t>- User-provided screenshot: /Users/omergilad/Documents/Screenshots/sbx demo/Screenshot 2026-07-26 at 15.48.20.png</a:t>
            </a:r>
          </a:p>
          <a:p>
            <a:pPr/>
            <a:r>
              <a:t>- Docker whale mark: https://www.docker.com/app/uploads/2026/02/Docker_Mark_660x400.png (official Docker brand resource)</a:t>
            </a:r>
          </a:p>
          <a:p>
            <a:pPr/>
            <a:r>
              <a:t>[/Sources]</a:t>
            </a:r>
          </a:p>
          <a:p>
            <a:r>
              <a:t>Added photo supplied by user: Yuval Avidani LinkedIn post. Actual news headline: BBC News, Laura Cress, 22 July 2026. https://www.bbc.com/news/articles/c3ek3gvdnj3o . The clipping typesets the published headline and byline. It is not an explainer slide or a webpage screenshot. Animation: seven Fade entrance effects, each on a separate click, 0.5 seconds, with no motion or scaling. Existing positions and layering are preserved.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" name="Shape 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User-provided screenshot: /Users/omergilad/Documents/Screenshots/full permissions.png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Shape 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User-provided screenshot: /Users/omergilad/Documents/Screenshots/manual permissions.png</a:t>
            </a:r>
          </a:p>
          <a:p>
            <a:pPr/>
            <a:r>
              <a:t>- Anthropic containment discussion: https://www.anthropic.com/engineering/how-we-contain-claude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" name="Shape 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User-provided screenshot: /Users/omergilad/Documents/Screenshots/auto mode.png</a:t>
            </a:r>
          </a:p>
          <a:p>
            <a:pPr/>
            <a:r>
              <a:t>- Anthropic Claude Code auto mode: https://www.anthropic.com/engineering/claude-code-auto-mode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" name="Shape 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Anthropic Claude Code sandboxing: https://www.anthropic.com/engineering/claude-code-sandboxing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Docker Sandboxes architecture comparison: https://docs.docker.com/ai/sandboxes/architecture/</a:t>
            </a:r>
          </a:p>
          <a:p>
            <a:pPr/>
            <a:r>
              <a:t>- Development Containers specification: https://github.com/devcontainers/spec</a:t>
            </a:r>
          </a:p>
          <a:p>
            <a:pPr/>
            <a:r>
              <a:t>- Dev Containers logo: https://avatars.githubusercontent.com/u/102692984?v=4</a:t>
            </a:r>
          </a:p>
          <a:p>
            <a:pPr/>
            <a:r>
              <a:t>- Docker logo: https://www.docker.com/company/newsroom/media-resources/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Docker Sandboxes overview: https://docs.docker.com/ai/sandboxes/</a:t>
            </a:r>
          </a:p>
          <a:p>
            <a:pPr/>
            <a:r>
              <a:t>- Docker Sandboxes architecture: https://docs.docker.com/ai/sandboxes/architecture/</a:t>
            </a:r>
          </a:p>
          <a:p>
            <a:pPr/>
            <a:r>
              <a:t>- Docker Sandboxes security and isolation: https://docs.docker.com/ai/sandboxes/security/isolation/</a:t>
            </a:r>
          </a:p>
          <a:p>
            <a:pPr/>
            <a:r>
              <a:t>- Docker Sandboxes security defaults: https://docs.docker.com/ai/sandboxes/security/defaults/</a:t>
            </a:r>
          </a:p>
          <a:p>
            <a:pPr/>
            <a:r>
              <a:t>- Docker Agent in Docker Sandboxes: https://docs.docker.com/ai/sandboxes/agents/docker-agent/</a:t>
            </a:r>
          </a:p>
          <a:p>
            <a:pPr/>
            <a:r>
              <a:t>- Docker logo: https://www.docker.com/company/newsroom/media-resources/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Shape 1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Docker Sandbox templates and built-in agent images: https://docs.docker.com/ai/sandboxes/customize/templates/</a:t>
            </a:r>
          </a:p>
          <a:p>
            <a:pPr/>
            <a:r>
              <a:t>- Multiple workspaces and usage: https://docs.docker.com/ai/sandboxes/usage/</a:t>
            </a:r>
          </a:p>
          <a:p>
            <a:pPr/>
            <a:r>
              <a:t>- Snapshot a sandbox as a template: https://docs.docker.com/reference/cli/sbx/template/save/</a:t>
            </a:r>
          </a:p>
          <a:p>
            <a:pPr/>
            <a:r>
              <a:t>- Port publishing: https://docs.docker.com/reference/cli/sbx/ports/</a:t>
            </a:r>
          </a:p>
          <a:p>
            <a:pPr/>
            <a:r>
              <a:t>- Experimental native SSH endpoint: https://docs.docker.com/ai/sandboxes/release-notes/</a:t>
            </a:r>
          </a:p>
          <a:p>
            <a:pPr/>
            <a:r>
              <a:t>- Docker Sandbox Kits: https://docs.docker.com/ai/sandboxes/customize/kits/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User-provided screenshot: /Users/omergilad/Documents/Screenshots/dotfiles.png</a:t>
            </a:r>
          </a:p>
          <a:p>
            <a:pPr/>
            <a:r>
              <a:t>- Docker Sandboxes security model: https://docs.docker.com/ai/sandboxes/security/</a:t>
            </a:r>
          </a:p>
          <a:p>
            <a:pPr/>
            <a:r>
              <a:t>- Docker Sandbox templates: https://docs.docker.com/ai/sandboxes/customize/templates/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7" name="Shape 1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[Sources]</a:t>
            </a:r>
          </a:p>
          <a:p>
            <a:pPr/>
            <a:r>
              <a:t>- User-provided screenshot: /Users/omergilad/Documents/Screenshots/omp.png</a:t>
            </a:r>
          </a:p>
          <a:p>
            <a:pPr/>
            <a:r>
              <a:t>- User-provided screenshot: /Users/omergilad/Documents/Screenshots/omp 2.png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Shape 1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Based on project chat: Find Docker sandbox alternatives. Sources checked 28 September 2026: https://github.com/superradcompany/microsandbox ; https://github.com/boxlite-ai/boxlite ; https://github.com/superhq-ai/shuru ; https://github.com/boxlite-ai/boxlite/blob/main/docs/reference/python/README.md#boxlitecomputerbox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sbx-user-photo.jpeg"/><Relationship Id="rId10" Type="http://schemas.openxmlformats.org/officeDocument/2006/relationships/image" Target="../media/sbx-headline.png"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sp>
        <p:nvSpPr>
          <p:cNvPr id="22" name="section-label-1"/>
          <p:cNvSpPr txBox="1"/>
          <p:nvPr/>
        </p:nvSpPr>
        <p:spPr>
          <a:xfrm>
            <a:off x="3105150" y="304800"/>
            <a:ext cx="4381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900">
                <a:solidFill>
                  <a:srgbClr val="8DA6B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ISOLATION EXISTS</a:t>
            </a:r>
          </a:p>
        </p:txBody>
      </p:sp>
      <p:grpSp>
        <p:nvGrpSpPr>
          <p:cNvPr id="2001" name="Photo 1"/>
          <p:cNvGrpSpPr/>
          <p:nvPr/>
        </p:nvGrpSpPr>
        <p:grpSpPr>
          <a:xfrm>
            <a:off x="476250" y="914400"/>
            <a:ext cx="5219700" cy="1847850"/>
            <a:chOff x="476250" y="914400"/>
            <a:chExt cx="5219700" cy="1847850"/>
          </a:xfrm>
        </p:grpSpPr>
        <p:sp>
          <p:nvSpPr>
            <p:cNvPr id="23" name="screenshot-shadow-1"/>
            <p:cNvSpPr/>
            <p:nvPr/>
          </p:nvSpPr>
          <p:spPr>
            <a:xfrm rot="21414000">
              <a:off x="476250" y="914400"/>
              <a:ext cx="5219700" cy="1847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  <a:effectLst>
              <a:outerShdw sx="100000" sy="100000" kx="0" ky="0" algn="b" rotWithShape="0" blurRad="177800" dist="57150" dir="5400000">
                <a:srgbClr val="000000">
                  <a:alpha val="16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24" name="incident-screenshot-1" descr="incident-screenshot-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 rot="21414000">
              <a:off x="476250" y="916629"/>
              <a:ext cx="5219700" cy="1843392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002" name="Photo 2"/>
          <p:cNvGrpSpPr/>
          <p:nvPr/>
        </p:nvGrpSpPr>
        <p:grpSpPr>
          <a:xfrm>
            <a:off x="3695700" y="781050"/>
            <a:ext cx="4819650" cy="895350"/>
            <a:chOff x="3695700" y="781050"/>
            <a:chExt cx="4819650" cy="895350"/>
          </a:xfrm>
        </p:grpSpPr>
        <p:sp>
          <p:nvSpPr>
            <p:cNvPr id="25" name="screenshot-shadow-2"/>
            <p:cNvSpPr/>
            <p:nvPr/>
          </p:nvSpPr>
          <p:spPr>
            <a:xfrm rot="150000">
              <a:off x="3695700" y="781050"/>
              <a:ext cx="481965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  <a:effectLst>
              <a:outerShdw sx="100000" sy="100000" kx="0" ky="0" algn="b" rotWithShape="0" blurRad="177800" dist="57150" dir="5400000">
                <a:srgbClr val="000000">
                  <a:alpha val="16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26" name="incident-screenshot-2" descr="incident-screenshot-2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 rot="150000">
              <a:off x="3695700" y="781059"/>
              <a:ext cx="4819650" cy="89533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003" name="Photo 3"/>
          <p:cNvGrpSpPr/>
          <p:nvPr/>
        </p:nvGrpSpPr>
        <p:grpSpPr>
          <a:xfrm>
            <a:off x="7486650" y="1095375"/>
            <a:ext cx="3790950" cy="2771775"/>
            <a:chOff x="7486650" y="1095375"/>
            <a:chExt cx="3790950" cy="2771775"/>
          </a:xfrm>
        </p:grpSpPr>
        <p:sp>
          <p:nvSpPr>
            <p:cNvPr id="27" name="screenshot-shadow-3"/>
            <p:cNvSpPr/>
            <p:nvPr/>
          </p:nvSpPr>
          <p:spPr>
            <a:xfrm rot="192001">
              <a:off x="7486650" y="1095375"/>
              <a:ext cx="3790950" cy="27717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  <a:effectLst>
              <a:outerShdw sx="100000" sy="100000" kx="0" ky="0" algn="b" rotWithShape="0" blurRad="177800" dist="57150" dir="5400000">
                <a:srgbClr val="000000">
                  <a:alpha val="16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28" name="incident-screenshot-3" descr="incident-screenshot-3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 rot="192001">
              <a:off x="7486650" y="1095983"/>
              <a:ext cx="3790950" cy="2770559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004" name="Photo 4"/>
          <p:cNvGrpSpPr/>
          <p:nvPr/>
        </p:nvGrpSpPr>
        <p:grpSpPr>
          <a:xfrm>
            <a:off x="1190625" y="2095500"/>
            <a:ext cx="3619500" cy="2990850"/>
            <a:chOff x="1190625" y="2095500"/>
            <a:chExt cx="3619500" cy="2990850"/>
          </a:xfrm>
        </p:grpSpPr>
        <p:sp>
          <p:nvSpPr>
            <p:cNvPr id="29" name="screenshot-shadow-4"/>
            <p:cNvSpPr/>
            <p:nvPr/>
          </p:nvSpPr>
          <p:spPr>
            <a:xfrm rot="21492001">
              <a:off x="1190625" y="2095500"/>
              <a:ext cx="3619500" cy="2990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  <a:effectLst>
              <a:outerShdw sx="100000" sy="100000" kx="0" ky="0" algn="b" rotWithShape="0" blurRad="177800" dist="57150" dir="5400000">
                <a:srgbClr val="000000">
                  <a:alpha val="16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30" name="incident-screenshot-4" descr="incident-screenshot-4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 rot="21492001">
              <a:off x="1192240" y="2095500"/>
              <a:ext cx="3616270" cy="299085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005" name="Photo 5"/>
          <p:cNvGrpSpPr/>
          <p:nvPr/>
        </p:nvGrpSpPr>
        <p:grpSpPr>
          <a:xfrm>
            <a:off x="4524375" y="3429000"/>
            <a:ext cx="4857750" cy="1600200"/>
            <a:chOff x="4524375" y="3429000"/>
            <a:chExt cx="4857750" cy="1600200"/>
          </a:xfrm>
        </p:grpSpPr>
        <p:sp>
          <p:nvSpPr>
            <p:cNvPr id="31" name="screenshot-shadow-5"/>
            <p:cNvSpPr/>
            <p:nvPr/>
          </p:nvSpPr>
          <p:spPr>
            <a:xfrm rot="84000">
              <a:off x="4524375" y="3429000"/>
              <a:ext cx="485775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FFFF"/>
              </a:solidFill>
            </a:ln>
            <a:effectLst>
              <a:outerShdw sx="100000" sy="100000" kx="0" ky="0" algn="b" rotWithShape="0" blurRad="177800" dist="57150" dir="5400000">
                <a:srgbClr val="000000">
                  <a:alpha val="16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32" name="incident-screenshot-5" descr="incident-screenshot-5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 rot="84000">
              <a:off x="4528456" y="3429000"/>
              <a:ext cx="4849589" cy="1600200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33" name="statement-accent"/>
          <p:cNvSpPr/>
          <p:nvPr/>
        </p:nvSpPr>
        <p:spPr>
          <a:xfrm>
            <a:off x="552450" y="5381625"/>
            <a:ext cx="66675" cy="971550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" name="opening-statement"/>
          <p:cNvSpPr txBox="1"/>
          <p:nvPr/>
        </p:nvSpPr>
        <p:spPr>
          <a:xfrm>
            <a:off x="819150" y="5276850"/>
            <a:ext cx="10820400" cy="118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3600">
                <a:solidFill>
                  <a:srgbClr val="F4F8FA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AI agents should never be left unattended</a:t>
            </a:r>
          </a:p>
          <a:p>
            <a:pPr>
              <a:defRPr b="1" sz="3600">
                <a:solidFill>
                  <a:srgbClr val="F4F8FA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without </a:t>
            </a:r>
            <a:r>
              <a:rPr>
                <a:solidFill>
                  <a:srgbClr val="FF6B35"/>
                </a:solidFill>
              </a:rPr>
              <a:t>a sandbox</a:t>
            </a:r>
          </a:p>
        </p:txBody>
      </p:sp>
      <p:pic>
        <p:nvPicPr>
          <p:cNvPr id="35" name="docker-mark-1" descr="docker-mark-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6" name="Yuval Avidani post supplied by user" descr="Yuval Avidani post supplied by user"/>
          <p:cNvPicPr>
            <a:picLocks noChangeAspect="1"/>
          </p:cNvPicPr>
          <p:nvPr/>
        </p:nvPicPr>
        <p:blipFill>
          <a:blip r:embed="rId9"/>
          <a:srcRect t="4375" b="51250"/>
          <a:stretch>
            <a:fillRect/>
          </a:stretch>
        </p:blipFill>
        <p:spPr>
          <a:xfrm rot="180000">
            <a:off x="6477000" y="1104900"/>
            <a:ext cx="3810000" cy="3667125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  <p:pic>
        <p:nvPicPr>
          <p:cNvPr id="2007" name="BBC News headline about the Hugging Face breach" descr="News clipping of the actual BBC headline published 22 July 2026. Typeset from the article text, not a webpage screenshot. Source: https://www.bbc.com/news/articles/c3ek3gvdnj3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20000">
            <a:off x="3238500" y="1524000"/>
            <a:ext cx="7048500" cy="3171825"/>
          </a:xfrm>
          <a:prstGeom prst="rect">
            <a:avLst/>
          </a:prstGeom>
          <a:ln w="12700">
            <a:solidFill>
              <a:srgbClr val="FFFFFF"/>
            </a:solidFill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fill="hold" nodeType="clickEffect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fill="hold" nodeType="clickEffect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fill="hold" nodeType="clickEffect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1" grpId="0" animBg="1"/>
      <p:bldP spid="2002" grpId="0" animBg="1"/>
      <p:bldP spid="2003" grpId="0" animBg="1"/>
      <p:bldP spid="2004" grpId="0" animBg="1"/>
      <p:bldP spid="2005" grpId="0" animBg="1"/>
      <p:bldP spid="2006" grpId="0" animBg="1"/>
      <p:bldP spid="200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1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Unrestricted permissions / YOLO mode on your host</a:t>
            </a:r>
          </a:p>
        </p:txBody>
      </p:sp>
      <p:sp>
        <p:nvSpPr>
          <p:cNvPr id="40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SANDBOXING APPROACHES</a:t>
            </a:r>
          </a:p>
        </p:txBody>
      </p:sp>
      <p:sp>
        <p:nvSpPr>
          <p:cNvPr id="41" name="Rounded Rectangle 13"/>
          <p:cNvSpPr/>
          <p:nvPr/>
        </p:nvSpPr>
        <p:spPr>
          <a:xfrm>
            <a:off x="619125" y="1800225"/>
            <a:ext cx="10953750" cy="1143000"/>
          </a:xfrm>
          <a:prstGeom prst="roundRect">
            <a:avLst>
              <a:gd name="adj" fmla="val 6667"/>
            </a:avLst>
          </a:prstGeom>
          <a:ln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2" name="full-permissions-screenshot" descr="full-permissions-screenshot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9101" y="1885950"/>
            <a:ext cx="10773797" cy="971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3" y="0"/>
                </a:moveTo>
                <a:cubicBezTo>
                  <a:pt x="68" y="0"/>
                  <a:pt x="0" y="758"/>
                  <a:pt x="0" y="1694"/>
                </a:cubicBezTo>
                <a:lnTo>
                  <a:pt x="0" y="19906"/>
                </a:lnTo>
                <a:cubicBezTo>
                  <a:pt x="0" y="20842"/>
                  <a:pt x="68" y="21600"/>
                  <a:pt x="153" y="21600"/>
                </a:cubicBezTo>
                <a:lnTo>
                  <a:pt x="21446" y="21600"/>
                </a:lnTo>
                <a:cubicBezTo>
                  <a:pt x="21531" y="21600"/>
                  <a:pt x="21600" y="20842"/>
                  <a:pt x="21600" y="19906"/>
                </a:cubicBezTo>
                <a:lnTo>
                  <a:pt x="21600" y="1694"/>
                </a:lnTo>
                <a:cubicBezTo>
                  <a:pt x="21600" y="758"/>
                  <a:pt x="21531" y="0"/>
                  <a:pt x="21446" y="0"/>
                </a:cubicBezTo>
                <a:lnTo>
                  <a:pt x="15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3" name="danger-callout"/>
          <p:cNvSpPr/>
          <p:nvPr/>
        </p:nvSpPr>
        <p:spPr>
          <a:xfrm>
            <a:off x="552450" y="3333750"/>
            <a:ext cx="11087100" cy="1809750"/>
          </a:xfrm>
          <a:prstGeom prst="roundRect">
            <a:avLst>
              <a:gd name="adj" fmla="val 8421"/>
            </a:avLst>
          </a:prstGeom>
          <a:ln w="19050">
            <a:solidFill>
              <a:srgbClr val="FF6C2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" name="danger-heading"/>
          <p:cNvSpPr txBox="1"/>
          <p:nvPr/>
        </p:nvSpPr>
        <p:spPr>
          <a:xfrm>
            <a:off x="922018" y="3638551"/>
            <a:ext cx="3337564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700">
                <a:solidFill>
                  <a:srgbClr val="FF6C2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NEVER. EVER.</a:t>
            </a:r>
          </a:p>
        </p:txBody>
      </p:sp>
      <p:sp>
        <p:nvSpPr>
          <p:cNvPr id="45" name="danger-copy"/>
          <p:cNvSpPr txBox="1"/>
          <p:nvPr/>
        </p:nvSpPr>
        <p:spPr>
          <a:xfrm>
            <a:off x="922018" y="4248151"/>
            <a:ext cx="9624064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Unless you want to play with fire.</a:t>
            </a:r>
          </a:p>
        </p:txBody>
      </p:sp>
      <p:sp>
        <p:nvSpPr>
          <p:cNvPr id="46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48" name="docker-mark-1" descr="docker-mark-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4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Manually approving every tool run</a:t>
            </a:r>
          </a:p>
        </p:txBody>
      </p:sp>
      <p:sp>
        <p:nvSpPr>
          <p:cNvPr id="53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SANDBOXING APPROACHES</a:t>
            </a:r>
          </a:p>
        </p:txBody>
      </p:sp>
      <p:sp>
        <p:nvSpPr>
          <p:cNvPr id="54" name="manual-approval-bullets"/>
          <p:cNvSpPr txBox="1"/>
          <p:nvPr/>
        </p:nvSpPr>
        <p:spPr>
          <a:xfrm>
            <a:off x="598168" y="1952625"/>
            <a:ext cx="5242564" cy="175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" indent="-16">
              <a:spcBef>
                <a:spcPts val="1500"/>
              </a:spcBef>
              <a:buSzPct val="100000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No agent autonomy; every step requires constant babysitting.</a:t>
            </a:r>
          </a:p>
          <a:p>
            <a:pPr marL="24" indent="-16">
              <a:spcBef>
                <a:spcPts val="1500"/>
              </a:spcBef>
              <a:buSzPct val="100000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Humans cannot reliably identify every subtle or multi-step attacks.</a:t>
            </a:r>
          </a:p>
        </p:txBody>
      </p:sp>
      <p:sp>
        <p:nvSpPr>
          <p:cNvPr id="55" name="Rounded Rectangle 14"/>
          <p:cNvSpPr/>
          <p:nvPr/>
        </p:nvSpPr>
        <p:spPr>
          <a:xfrm>
            <a:off x="6534150" y="1762125"/>
            <a:ext cx="5038725" cy="2838450"/>
          </a:xfrm>
          <a:prstGeom prst="roundRect">
            <a:avLst>
              <a:gd name="adj" fmla="val 2685"/>
            </a:avLst>
          </a:prstGeom>
          <a:ln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6" name="manual-permissions-screenshot" descr="manual-permissions-screenshot"/>
          <p:cNvPicPr>
            <a:picLocks noChangeAspect="1"/>
          </p:cNvPicPr>
          <p:nvPr/>
        </p:nvPicPr>
        <p:blipFill>
          <a:blip r:embed="rId3">
            <a:extLst/>
          </a:blip>
          <a:srcRect l="0" t="0" r="0" b="6"/>
          <a:stretch>
            <a:fillRect/>
          </a:stretch>
        </p:blipFill>
        <p:spPr>
          <a:xfrm>
            <a:off x="6619875" y="1850343"/>
            <a:ext cx="4867275" cy="2661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8" y="0"/>
                </a:moveTo>
                <a:cubicBezTo>
                  <a:pt x="152" y="0"/>
                  <a:pt x="0" y="277"/>
                  <a:pt x="0" y="618"/>
                </a:cubicBezTo>
                <a:lnTo>
                  <a:pt x="0" y="20985"/>
                </a:lnTo>
                <a:cubicBezTo>
                  <a:pt x="0" y="21326"/>
                  <a:pt x="152" y="21600"/>
                  <a:pt x="338" y="21600"/>
                </a:cubicBezTo>
                <a:lnTo>
                  <a:pt x="21262" y="21600"/>
                </a:lnTo>
                <a:cubicBezTo>
                  <a:pt x="21448" y="21600"/>
                  <a:pt x="21600" y="21326"/>
                  <a:pt x="21600" y="20985"/>
                </a:cubicBezTo>
                <a:lnTo>
                  <a:pt x="21600" y="618"/>
                </a:lnTo>
                <a:cubicBezTo>
                  <a:pt x="21600" y="277"/>
                  <a:pt x="21448" y="0"/>
                  <a:pt x="21262" y="0"/>
                </a:cubicBezTo>
                <a:lnTo>
                  <a:pt x="33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7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59" name="docker-mark-1" descr="docker-mark-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4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Auto mode / classifiers</a:t>
            </a:r>
          </a:p>
        </p:txBody>
      </p:sp>
      <p:sp>
        <p:nvSpPr>
          <p:cNvPr id="64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SANDBOXING APPROACHES</a:t>
            </a:r>
          </a:p>
        </p:txBody>
      </p:sp>
      <p:sp>
        <p:nvSpPr>
          <p:cNvPr id="65" name="Rounded Rectangle 13"/>
          <p:cNvSpPr/>
          <p:nvPr/>
        </p:nvSpPr>
        <p:spPr>
          <a:xfrm>
            <a:off x="619125" y="1676400"/>
            <a:ext cx="10953750" cy="1162050"/>
          </a:xfrm>
          <a:prstGeom prst="roundRect">
            <a:avLst>
              <a:gd name="adj" fmla="val 6557"/>
            </a:avLst>
          </a:prstGeom>
          <a:ln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66" name="auto-mode-screenshot" descr="auto-mode-screenshot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5125" y="1762125"/>
            <a:ext cx="10781750" cy="990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3" y="0"/>
                </a:moveTo>
                <a:cubicBezTo>
                  <a:pt x="68" y="0"/>
                  <a:pt x="0" y="744"/>
                  <a:pt x="0" y="1662"/>
                </a:cubicBezTo>
                <a:lnTo>
                  <a:pt x="0" y="19938"/>
                </a:lnTo>
                <a:cubicBezTo>
                  <a:pt x="0" y="20856"/>
                  <a:pt x="68" y="21600"/>
                  <a:pt x="153" y="21600"/>
                </a:cubicBezTo>
                <a:lnTo>
                  <a:pt x="21447" y="21600"/>
                </a:lnTo>
                <a:cubicBezTo>
                  <a:pt x="21532" y="21600"/>
                  <a:pt x="21600" y="20856"/>
                  <a:pt x="21600" y="19938"/>
                </a:cubicBezTo>
                <a:lnTo>
                  <a:pt x="21600" y="1662"/>
                </a:lnTo>
                <a:cubicBezTo>
                  <a:pt x="21600" y="744"/>
                  <a:pt x="21532" y="0"/>
                  <a:pt x="21447" y="0"/>
                </a:cubicBezTo>
                <a:lnTo>
                  <a:pt x="153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67" name="classifier-bullets"/>
          <p:cNvSpPr txBox="1"/>
          <p:nvPr/>
        </p:nvSpPr>
        <p:spPr>
          <a:xfrm>
            <a:off x="598168" y="3190875"/>
            <a:ext cx="10995664" cy="2136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9" indent="-4572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Anthropic recommends </a:t>
            </a:r>
            <a:r>
              <a:rPr>
                <a:solidFill>
                  <a:srgbClr val="FFFF00"/>
                </a:solidFill>
              </a:rPr>
              <a:t>auto mode </a:t>
            </a:r>
            <a:r>
              <a:t>as a safer middle ground</a:t>
            </a:r>
            <a:endParaRPr sz="1500"/>
          </a:p>
          <a:p>
            <a:pPr marL="457209" indent="-4572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Adds model processing, latency, and sometimes reasoning tokens cost</a:t>
            </a:r>
            <a:endParaRPr sz="1500"/>
          </a:p>
          <a:p>
            <a:pPr marL="457209" indent="-4572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Classifiers can identify false-positives and block legitimate work</a:t>
            </a:r>
            <a:endParaRPr sz="1500"/>
          </a:p>
          <a:p>
            <a:pPr marL="457209" indent="-4572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Sophisticated attacks are not guaranteed to be caught</a:t>
            </a:r>
          </a:p>
        </p:txBody>
      </p:sp>
      <p:sp>
        <p:nvSpPr>
          <p:cNvPr id="68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70" name="docker-mark-1" descr="docker-mark-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0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Harness-based sandboxing (Seatbelt / Bubblewrap)</a:t>
            </a:r>
          </a:p>
        </p:txBody>
      </p:sp>
      <p:sp>
        <p:nvSpPr>
          <p:cNvPr id="75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SANDBOXING APPROACHES</a:t>
            </a:r>
          </a:p>
        </p:txBody>
      </p:sp>
      <p:sp>
        <p:nvSpPr>
          <p:cNvPr id="76" name="harness-bullets"/>
          <p:cNvSpPr txBox="1"/>
          <p:nvPr/>
        </p:nvSpPr>
        <p:spPr>
          <a:xfrm>
            <a:off x="598168" y="1857375"/>
            <a:ext cx="6537964" cy="3418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60" indent="-28575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OS-level filesystem and network boundaries block many dangerous actions.</a:t>
            </a:r>
            <a:endParaRPr sz="1600"/>
          </a:p>
          <a:p>
            <a:pPr marL="285760" indent="-28575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can break useful tasks that need access beyond the project workspace – needs manual approval</a:t>
            </a:r>
          </a:p>
          <a:p>
            <a:pPr marL="285760" indent="-28575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You can’t let Claude / other agents manage their own configuration without allowing them to turn off their own sandbox</a:t>
            </a:r>
          </a:p>
        </p:txBody>
      </p:sp>
      <p:sp>
        <p:nvSpPr>
          <p:cNvPr id="77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79" name="docker-mark-1" descr="docker-mark-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60263" y="1913576"/>
            <a:ext cx="3479287" cy="33124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3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Containers: Docker, Dev Containers, etc.</a:t>
            </a:r>
          </a:p>
        </p:txBody>
      </p:sp>
      <p:sp>
        <p:nvSpPr>
          <p:cNvPr id="85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SANDBOXING APPROACHES</a:t>
            </a:r>
          </a:p>
        </p:txBody>
      </p:sp>
      <p:sp>
        <p:nvSpPr>
          <p:cNvPr id="86" name="container-bullets"/>
          <p:cNvSpPr txBox="1"/>
          <p:nvPr/>
        </p:nvSpPr>
        <p:spPr>
          <a:xfrm>
            <a:off x="598168" y="1857375"/>
            <a:ext cx="7242814" cy="3050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Better isolation: the agent sees a bounded environment instead of the host.</a:t>
            </a:r>
            <a:endParaRPr sz="16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Portability and reproducibility - the problem containers and dev containers were built to solve.</a:t>
            </a:r>
            <a:endParaRPr sz="16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container is not a hardened VM boundary by default; shared-kernel escapes and risky socket mounts remain known failure classes.</a:t>
            </a:r>
          </a:p>
        </p:txBody>
      </p:sp>
      <p:sp>
        <p:nvSpPr>
          <p:cNvPr id="87" name="container-logo-panel"/>
          <p:cNvSpPr/>
          <p:nvPr/>
        </p:nvSpPr>
        <p:spPr>
          <a:xfrm>
            <a:off x="8477250" y="1809750"/>
            <a:ext cx="3162300" cy="3333750"/>
          </a:xfrm>
          <a:prstGeom prst="roundRect">
            <a:avLst>
              <a:gd name="adj" fmla="val 4819"/>
            </a:avLst>
          </a:prstGeom>
          <a:solidFill>
            <a:srgbClr val="0D2632"/>
          </a:solidFill>
          <a:ln>
            <a:solidFill>
              <a:srgbClr val="5F77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88" name="docker-mark-large" descr="docker-mark-lar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74175" y="2190750"/>
            <a:ext cx="1568450" cy="123825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Rectangle 16"/>
          <p:cNvSpPr txBox="1"/>
          <p:nvPr/>
        </p:nvSpPr>
        <p:spPr>
          <a:xfrm>
            <a:off x="9875518" y="3448051"/>
            <a:ext cx="365763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2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+</a:t>
            </a:r>
          </a:p>
        </p:txBody>
      </p:sp>
      <p:pic>
        <p:nvPicPr>
          <p:cNvPr id="90" name="devcontainers-logo" descr="devcontainers-logo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572625" y="3905250"/>
            <a:ext cx="971550" cy="971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41" y="0"/>
                </a:moveTo>
                <a:cubicBezTo>
                  <a:pt x="1138" y="0"/>
                  <a:pt x="0" y="1138"/>
                  <a:pt x="0" y="2541"/>
                </a:cubicBezTo>
                <a:lnTo>
                  <a:pt x="0" y="19059"/>
                </a:lnTo>
                <a:cubicBezTo>
                  <a:pt x="0" y="20462"/>
                  <a:pt x="1138" y="21600"/>
                  <a:pt x="2541" y="21600"/>
                </a:cubicBezTo>
                <a:lnTo>
                  <a:pt x="19059" y="21600"/>
                </a:lnTo>
                <a:cubicBezTo>
                  <a:pt x="20462" y="21600"/>
                  <a:pt x="21600" y="20462"/>
                  <a:pt x="21600" y="19059"/>
                </a:cubicBezTo>
                <a:lnTo>
                  <a:pt x="21600" y="2541"/>
                </a:lnTo>
                <a:cubicBezTo>
                  <a:pt x="21600" y="1138"/>
                  <a:pt x="20462" y="0"/>
                  <a:pt x="19059" y="0"/>
                </a:cubicBezTo>
                <a:lnTo>
                  <a:pt x="2541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91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93" name="docker-mark-1" descr="docker-mark-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6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sp>
        <p:nvSpPr>
          <p:cNvPr id="98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COMMON SANDBOXING APPROACHES</a:t>
            </a:r>
          </a:p>
        </p:txBody>
      </p:sp>
      <p:sp>
        <p:nvSpPr>
          <p:cNvPr id="99" name="docker-sandbox-lockup-panel"/>
          <p:cNvSpPr/>
          <p:nvPr/>
        </p:nvSpPr>
        <p:spPr>
          <a:xfrm>
            <a:off x="552450" y="1895412"/>
            <a:ext cx="3795491" cy="926512"/>
          </a:xfrm>
          <a:prstGeom prst="roundRect">
            <a:avLst>
              <a:gd name="adj" fmla="val 10667"/>
            </a:avLst>
          </a:prstGeom>
          <a:ln w="19050"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00" name="docker-sandbox-lockup-large" descr="docker-sandbox-lockup-lar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9626" y="2067791"/>
            <a:ext cx="3286389" cy="597527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Rectangle 15"/>
          <p:cNvSpPr txBox="1"/>
          <p:nvPr/>
        </p:nvSpPr>
        <p:spPr>
          <a:xfrm>
            <a:off x="598168" y="3429001"/>
            <a:ext cx="4813939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2496E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PURPOSE-BUILT CONTAINMENT</a:t>
            </a:r>
          </a:p>
        </p:txBody>
      </p:sp>
      <p:sp>
        <p:nvSpPr>
          <p:cNvPr id="102" name="Rectangle 16"/>
          <p:cNvSpPr txBox="1"/>
          <p:nvPr/>
        </p:nvSpPr>
        <p:spPr>
          <a:xfrm>
            <a:off x="598170" y="3809998"/>
            <a:ext cx="2886544" cy="1219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8000"/>
              </a:lnSpc>
              <a:defRPr b="1" sz="25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separate kernel changes the blast radius.</a:t>
            </a:r>
          </a:p>
        </p:txBody>
      </p:sp>
      <p:sp>
        <p:nvSpPr>
          <p:cNvPr id="103" name="docker-sandbox-bullets"/>
          <p:cNvSpPr txBox="1"/>
          <p:nvPr/>
        </p:nvSpPr>
        <p:spPr>
          <a:xfrm>
            <a:off x="4599551" y="1641075"/>
            <a:ext cx="6994278" cy="360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60" indent="-28575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microVM with a separate kernel from the host.</a:t>
            </a:r>
            <a:endParaRPr sz="1500"/>
          </a:p>
          <a:p>
            <a:pPr marL="285760" indent="-28575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Designed for autonomous, untrusted AI coding agents.</a:t>
            </a:r>
            <a:endParaRPr sz="1500"/>
          </a:p>
          <a:p>
            <a:pPr marL="285760" indent="-28575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Preserves Docker strengths: portable templates, reproducible state, workspace mounting, and configurable network policy.</a:t>
            </a:r>
            <a:endParaRPr sz="1500"/>
          </a:p>
          <a:p>
            <a:pPr marL="285760" indent="-285750">
              <a:spcBef>
                <a:spcPts val="1500"/>
              </a:spcBef>
              <a:buSzPct val="100000"/>
              <a:buFont typeface="Arial"/>
              <a:buChar char="•"/>
              <a:defRPr sz="24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Run the agent in YOLO mode inside the VM—without giving it your host.</a:t>
            </a:r>
          </a:p>
        </p:txBody>
      </p:sp>
      <p:sp>
        <p:nvSpPr>
          <p:cNvPr id="104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106" name="docker-mark-1" descr="docker-mark-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3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 features</a:t>
            </a:r>
          </a:p>
        </p:txBody>
      </p:sp>
      <p:sp>
        <p:nvSpPr>
          <p:cNvPr id="111" name="features-left-label"/>
          <p:cNvSpPr txBox="1"/>
          <p:nvPr/>
        </p:nvSpPr>
        <p:spPr>
          <a:xfrm>
            <a:off x="598168" y="1733550"/>
            <a:ext cx="4766314" cy="243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2496E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ENVIRONMENTS + STATE</a:t>
            </a:r>
          </a:p>
        </p:txBody>
      </p:sp>
      <p:sp>
        <p:nvSpPr>
          <p:cNvPr id="112" name="Straight Connector 7"/>
          <p:cNvSpPr/>
          <p:nvPr/>
        </p:nvSpPr>
        <p:spPr>
          <a:xfrm>
            <a:off x="552449" y="2095500"/>
            <a:ext cx="4953003" cy="0"/>
          </a:xfrm>
          <a:prstGeom prst="line">
            <a:avLst/>
          </a:prstGeom>
          <a:ln w="19050"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features-left"/>
          <p:cNvSpPr txBox="1"/>
          <p:nvPr/>
        </p:nvSpPr>
        <p:spPr>
          <a:xfrm>
            <a:off x="598168" y="2324100"/>
            <a:ext cx="4909189" cy="3406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Prebuilt images for Claude Code, Codex, and others—plus a bare shell image.</a:t>
            </a:r>
            <a:endParaRPr sz="16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Mount one or multiple workspaces for different isolation models.</a:t>
            </a:r>
            <a:endParaRPr sz="16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Define custom templates with a Dockerfile.</a:t>
            </a:r>
            <a:endParaRPr sz="16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Snapshot a configured sandbox into a reusable template on the fly.</a:t>
            </a:r>
          </a:p>
        </p:txBody>
      </p:sp>
      <p:sp>
        <p:nvSpPr>
          <p:cNvPr id="114" name="features-right-label"/>
          <p:cNvSpPr txBox="1"/>
          <p:nvPr/>
        </p:nvSpPr>
        <p:spPr>
          <a:xfrm>
            <a:off x="6189343" y="1733550"/>
            <a:ext cx="5404489" cy="243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2496E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ACCESS + ORGANIZATIONAL CONTROL</a:t>
            </a:r>
          </a:p>
        </p:txBody>
      </p:sp>
      <p:sp>
        <p:nvSpPr>
          <p:cNvPr id="115" name="Straight Connector 10"/>
          <p:cNvSpPr/>
          <p:nvPr/>
        </p:nvSpPr>
        <p:spPr>
          <a:xfrm>
            <a:off x="6143625" y="2095500"/>
            <a:ext cx="5495927" cy="0"/>
          </a:xfrm>
          <a:prstGeom prst="line">
            <a:avLst/>
          </a:prstGeom>
          <a:ln w="19050"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features-right"/>
          <p:cNvSpPr txBox="1"/>
          <p:nvPr/>
        </p:nvSpPr>
        <p:spPr>
          <a:xfrm>
            <a:off x="6189343" y="2324100"/>
            <a:ext cx="5404489" cy="2301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Apply network policies and publish ports for local service access.</a:t>
            </a:r>
            <a:endParaRPr sz="16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 the native SSH endpoint with desktop apps like Claude Desktop and ChatGPT</a:t>
            </a:r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Package batteries-included organizational setups as reusable Kits.</a:t>
            </a:r>
          </a:p>
        </p:txBody>
      </p:sp>
      <p:sp>
        <p:nvSpPr>
          <p:cNvPr id="117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DOCKER SANDBOX IN PRACTICE</a:t>
            </a:r>
          </a:p>
        </p:txBody>
      </p:sp>
      <p:sp>
        <p:nvSpPr>
          <p:cNvPr id="118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120" name="docker-mark-1" descr="docker-mark-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0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Dockerfiles + dotfiles make the environment reproducible</a:t>
            </a:r>
          </a:p>
        </p:txBody>
      </p:sp>
      <p:sp>
        <p:nvSpPr>
          <p:cNvPr id="125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DOCKER SANDBOX IN PRACTICE</a:t>
            </a:r>
          </a:p>
        </p:txBody>
      </p:sp>
      <p:sp>
        <p:nvSpPr>
          <p:cNvPr id="126" name="dotfiles-screenshot-outline"/>
          <p:cNvSpPr/>
          <p:nvPr/>
        </p:nvSpPr>
        <p:spPr>
          <a:xfrm>
            <a:off x="552450" y="1638300"/>
            <a:ext cx="2895600" cy="4581525"/>
          </a:xfrm>
          <a:prstGeom prst="roundRect">
            <a:avLst>
              <a:gd name="adj" fmla="val 2632"/>
            </a:avLst>
          </a:prstGeom>
          <a:ln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27" name="dotfiles-screenshot" descr="dotfiles-screenshot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6677" y="1714500"/>
            <a:ext cx="1527148" cy="442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1" y="0"/>
                </a:moveTo>
                <a:cubicBezTo>
                  <a:pt x="269" y="0"/>
                  <a:pt x="0" y="93"/>
                  <a:pt x="0" y="207"/>
                </a:cubicBezTo>
                <a:lnTo>
                  <a:pt x="0" y="21393"/>
                </a:lnTo>
                <a:cubicBezTo>
                  <a:pt x="0" y="21507"/>
                  <a:pt x="269" y="21600"/>
                  <a:pt x="601" y="21600"/>
                </a:cubicBezTo>
                <a:lnTo>
                  <a:pt x="20999" y="21600"/>
                </a:lnTo>
                <a:cubicBezTo>
                  <a:pt x="21331" y="21600"/>
                  <a:pt x="21600" y="21507"/>
                  <a:pt x="21600" y="21393"/>
                </a:cubicBezTo>
                <a:lnTo>
                  <a:pt x="21600" y="207"/>
                </a:lnTo>
                <a:cubicBezTo>
                  <a:pt x="21600" y="93"/>
                  <a:pt x="21331" y="0"/>
                  <a:pt x="20999" y="0"/>
                </a:cubicBezTo>
                <a:lnTo>
                  <a:pt x="601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28" name="dotfiles-bullets"/>
          <p:cNvSpPr txBox="1"/>
          <p:nvPr/>
        </p:nvSpPr>
        <p:spPr>
          <a:xfrm>
            <a:off x="3903345" y="1809750"/>
            <a:ext cx="7783898" cy="390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Combine a Dockerfile with tracked dotfiles for a fully reproducible, portable, and safe development environment.</a:t>
            </a:r>
            <a:endParaRPr sz="17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Track agent configuration—including ~/.claude or ~/.codex - as ordinary versioned files and folders.</a:t>
            </a:r>
            <a:endParaRPr sz="17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Let the agent act freely as root inside the sandbox while you control every boundary.</a:t>
            </a:r>
            <a:endParaRPr sz="17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Keep host files, sensitive information, and credentials outside the sandbox – use sym-linking for env mockups</a:t>
            </a:r>
            <a:endParaRPr sz="1700"/>
          </a:p>
          <a:p>
            <a:pPr marL="342910" indent="-342900">
              <a:spcBef>
                <a:spcPts val="1500"/>
              </a:spcBef>
              <a:buSzPct val="100000"/>
              <a:buFont typeface="Arial"/>
              <a:buChar char="•"/>
              <a:defRPr sz="20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 agent skill can automatically log system changes done from anywhere, as backlog for updating the Dockerfile</a:t>
            </a:r>
          </a:p>
        </p:txBody>
      </p:sp>
      <p:sp>
        <p:nvSpPr>
          <p:cNvPr id="129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131" name="docker-mark-1" descr="docker-mark-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4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System-level tasks can run end to end</a:t>
            </a:r>
          </a:p>
        </p:txBody>
      </p:sp>
      <p:sp>
        <p:nvSpPr>
          <p:cNvPr id="136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DOCKER SANDBOX IN PRACTICE</a:t>
            </a:r>
          </a:p>
        </p:txBody>
      </p:sp>
      <p:sp>
        <p:nvSpPr>
          <p:cNvPr id="137" name="omp-task-screenshot-outline"/>
          <p:cNvSpPr/>
          <p:nvPr/>
        </p:nvSpPr>
        <p:spPr>
          <a:xfrm>
            <a:off x="150983" y="1624912"/>
            <a:ext cx="7764319" cy="3202967"/>
          </a:xfrm>
          <a:prstGeom prst="roundRect">
            <a:avLst>
              <a:gd name="adj" fmla="val 2538"/>
            </a:avLst>
          </a:prstGeom>
          <a:ln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38" name="omp-task-screenshot" descr="omp-task-screenshot"/>
          <p:cNvPicPr>
            <a:picLocks noChangeAspect="1"/>
          </p:cNvPicPr>
          <p:nvPr/>
        </p:nvPicPr>
        <p:blipFill>
          <a:blip r:embed="rId3">
            <a:extLst/>
          </a:blip>
          <a:srcRect l="0" t="0" r="1" b="3"/>
          <a:stretch>
            <a:fillRect/>
          </a:stretch>
        </p:blipFill>
        <p:spPr>
          <a:xfrm>
            <a:off x="268188" y="1987748"/>
            <a:ext cx="7529910" cy="24772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0" y="0"/>
                </a:moveTo>
                <a:cubicBezTo>
                  <a:pt x="103" y="0"/>
                  <a:pt x="0" y="312"/>
                  <a:pt x="0" y="699"/>
                </a:cubicBezTo>
                <a:lnTo>
                  <a:pt x="0" y="20901"/>
                </a:lnTo>
                <a:cubicBezTo>
                  <a:pt x="0" y="21288"/>
                  <a:pt x="103" y="21600"/>
                  <a:pt x="230" y="21600"/>
                </a:cubicBezTo>
                <a:lnTo>
                  <a:pt x="21370" y="21600"/>
                </a:lnTo>
                <a:cubicBezTo>
                  <a:pt x="21497" y="21600"/>
                  <a:pt x="21600" y="21288"/>
                  <a:pt x="21600" y="20901"/>
                </a:cubicBezTo>
                <a:lnTo>
                  <a:pt x="21600" y="699"/>
                </a:lnTo>
                <a:cubicBezTo>
                  <a:pt x="21600" y="312"/>
                  <a:pt x="21497" y="0"/>
                  <a:pt x="21370" y="0"/>
                </a:cubicBezTo>
                <a:lnTo>
                  <a:pt x="23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39" name="omp-result-screenshot-outline"/>
          <p:cNvSpPr/>
          <p:nvPr/>
        </p:nvSpPr>
        <p:spPr>
          <a:xfrm>
            <a:off x="8020050" y="1617358"/>
            <a:ext cx="3992960" cy="3218074"/>
          </a:xfrm>
          <a:prstGeom prst="roundRect">
            <a:avLst>
              <a:gd name="adj" fmla="val 2612"/>
            </a:avLst>
          </a:prstGeom>
          <a:ln>
            <a:solidFill>
              <a:srgbClr val="2496ED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40" name="omp-result-screenshot" descr="omp-result-screenshot"/>
          <p:cNvPicPr>
            <a:picLocks noChangeAspect="1"/>
          </p:cNvPicPr>
          <p:nvPr/>
        </p:nvPicPr>
        <p:blipFill>
          <a:blip r:embed="rId4">
            <a:extLst/>
          </a:blip>
          <a:srcRect l="0" t="0" r="0" b="8"/>
          <a:stretch>
            <a:fillRect/>
          </a:stretch>
        </p:blipFill>
        <p:spPr>
          <a:xfrm>
            <a:off x="8058725" y="1695450"/>
            <a:ext cx="3915417" cy="30618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75" y="0"/>
                </a:moveTo>
                <a:cubicBezTo>
                  <a:pt x="213" y="0"/>
                  <a:pt x="0" y="273"/>
                  <a:pt x="0" y="608"/>
                </a:cubicBezTo>
                <a:lnTo>
                  <a:pt x="0" y="20995"/>
                </a:lnTo>
                <a:cubicBezTo>
                  <a:pt x="0" y="21330"/>
                  <a:pt x="213" y="21600"/>
                  <a:pt x="475" y="21600"/>
                </a:cubicBezTo>
                <a:lnTo>
                  <a:pt x="21125" y="21600"/>
                </a:lnTo>
                <a:cubicBezTo>
                  <a:pt x="21387" y="21600"/>
                  <a:pt x="21600" y="21330"/>
                  <a:pt x="21600" y="20995"/>
                </a:cubicBezTo>
                <a:lnTo>
                  <a:pt x="21600" y="608"/>
                </a:lnTo>
                <a:cubicBezTo>
                  <a:pt x="21600" y="273"/>
                  <a:pt x="21387" y="0"/>
                  <a:pt x="21125" y="0"/>
                </a:cubicBezTo>
                <a:lnTo>
                  <a:pt x="475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41" name="autonomy-accent"/>
          <p:cNvSpPr/>
          <p:nvPr/>
        </p:nvSpPr>
        <p:spPr>
          <a:xfrm>
            <a:off x="457856" y="5574940"/>
            <a:ext cx="66676" cy="990601"/>
          </a:xfrm>
          <a:prstGeom prst="rect">
            <a:avLst/>
          </a:prstGeom>
          <a:solidFill>
            <a:srgbClr val="FF6C2F"/>
          </a:solidFill>
          <a:ln w="3175">
            <a:solidFill>
              <a:srgbClr val="FF6C2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" name="autonomy-takeaway"/>
          <p:cNvSpPr txBox="1"/>
          <p:nvPr/>
        </p:nvSpPr>
        <p:spPr>
          <a:xfrm>
            <a:off x="770275" y="5527316"/>
            <a:ext cx="10728963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300">
                <a:solidFill>
                  <a:srgbClr val="F7FBF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You can give your agent ambitious system-level tasks for end-to-end, fully autonomous execution.</a:t>
            </a:r>
          </a:p>
        </p:txBody>
      </p:sp>
      <p:sp>
        <p:nvSpPr>
          <p:cNvPr id="143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145" name="docker-mark-1" descr="docker-mark-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mplate-title"/>
          <p:cNvSpPr txBox="1"/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lnSpc>
                <a:spcPct val="95000"/>
              </a:lnSpc>
              <a:defRPr b="1" sz="3300">
                <a:solidFill>
                  <a:srgbClr val="F7FBF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Alternatives to Docker Sandbox</a:t>
            </a:r>
          </a:p>
        </p:txBody>
      </p:sp>
      <p:sp>
        <p:nvSpPr>
          <p:cNvPr id="117" name="section-label-2"/>
          <p:cNvSpPr txBox="1"/>
          <p:nvPr/>
        </p:nvSpPr>
        <p:spPr>
          <a:xfrm>
            <a:off x="3284218" y="295275"/>
            <a:ext cx="5242564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1A7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LOCAL MICROVM ALTERNATIVES</a:t>
            </a:r>
          </a:p>
        </p:txBody>
      </p:sp>
      <p:sp>
        <p:nvSpPr>
          <p:cNvPr id="118" name="top-accent-1"/>
          <p:cNvSpPr/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" name="deck-label-1"/>
          <p:cNvSpPr txBox="1"/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2496E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DOCKER SANDBOX</a:t>
            </a:r>
          </a:p>
        </p:txBody>
      </p:sp>
      <p:pic>
        <p:nvPicPr>
          <p:cNvPr id="120" name="docker-mark-1" descr="docker-mark-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684" y="257175"/>
            <a:ext cx="386082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3002" name="">
            <a:extLst>
              <a:ext uri="{FF2B5EF4-FFF2-40B4-BE49-F238E27FC236}">
                <a16:creationId xmlns:a16="http://schemas.microsoft.com/office/drawing/2014/main" id="{2BDBC247-D9A6-4124-A9D5-28ECC813BEE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2496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96ED"/>
                </a:solidFill>
                <a:latin typeface="Aptos"/>
                <a:ea typeface="Aptos"/>
                <a:cs typeface="Aptos"/>
              </a:rPr>
              <a:t>Microsandbox</a:t>
            </a:r>
          </a:p>
        </p:txBody>
      </p:sp>
      <p:sp>
        <p:nvSpPr>
          <p:cNvPr id="3003" name="">
            <a:extLst>
              <a:ext uri="{FF2B5EF4-FFF2-40B4-BE49-F238E27FC236}">
                <a16:creationId xmlns:a16="http://schemas.microsoft.com/office/drawing/2014/main" id="{AB3D1FD7-38D9-4E7C-9B96-3E1D81ADFB4F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5AE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EB8"/>
                </a:solidFill>
                <a:latin typeface="Aptos"/>
                <a:ea typeface="Aptos"/>
                <a:cs typeface="Aptos"/>
              </a:rPr>
              <a:t>Closest general alternative</a:t>
            </a:r>
          </a:p>
        </p:txBody>
      </p:sp>
      <p:sp>
        <p:nvSpPr>
          <p:cNvPr id="3004" name="">
            <a:extLst>
              <a:ext uri="{FF2B5EF4-FFF2-40B4-BE49-F238E27FC236}">
                <a16:creationId xmlns:a16="http://schemas.microsoft.com/office/drawing/2014/main" id="{3D8FEB27-595D-449B-AC9B-7E7D8476E690}"/>
              </a:ext>
            </a:extLst>
          </p:cNvPr>
          <p:cNvSpPr>
            <a:spLocks noGrp="1"/>
          </p:cNvSpPr>
          <p:nvPr/>
        </p:nvSpPr>
        <p:spPr>
          <a:xfrm>
            <a:off x="3333750" y="1905000"/>
            <a:ext cx="82296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F7FBFD"/>
                </a:solidFill>
                <a:latin typeface="Aptos"/>
                <a:ea typeface="Aptos"/>
                <a:cs typeface="Aptos"/>
              </a:rPr>
              <a:t>Live branching and full snapshots make parallel experiments easier than sbx’s template workflow. Broad platform support and SDKs, but still beta.</a:t>
            </a:r>
          </a:p>
        </p:txBody>
      </p:sp>
      <p:sp>
        <p:nvSpPr>
          <p:cNvPr id="3005" name="">
            <a:extLst>
              <a:ext uri="{FF2B5EF4-FFF2-40B4-BE49-F238E27FC236}">
                <a16:creationId xmlns:a16="http://schemas.microsoft.com/office/drawing/2014/main" id="{7721B19C-EEFB-4292-B157-F46F684A001F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1087100" cy="14288"/>
          </a:xfrm>
          <a:prstGeom prst="rect">
            <a:avLst/>
          </a:prstGeom>
          <a:solidFill>
            <a:srgbClr val="29434E"/>
          </a:solidFill>
          <a:ln w="0">
            <a:noFill/>
          </a:ln>
        </p:spPr>
      </p:sp>
      <p:sp>
        <p:nvSpPr>
          <p:cNvPr id="3006" name="">
            <a:extLst>
              <a:ext uri="{FF2B5EF4-FFF2-40B4-BE49-F238E27FC236}">
                <a16:creationId xmlns:a16="http://schemas.microsoft.com/office/drawing/2014/main" id="{ACD3A552-AC6E-40AB-984E-C6BCAB7E944E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2496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96ED"/>
                </a:solidFill>
                <a:latin typeface="Aptos"/>
                <a:ea typeface="Aptos"/>
                <a:cs typeface="Aptos"/>
              </a:rPr>
              <a:t>BoxLite</a:t>
            </a:r>
          </a:p>
        </p:txBody>
      </p:sp>
      <p:sp>
        <p:nvSpPr>
          <p:cNvPr id="3007" name="">
            <a:extLst>
              <a:ext uri="{FF2B5EF4-FFF2-40B4-BE49-F238E27FC236}">
                <a16:creationId xmlns:a16="http://schemas.microsoft.com/office/drawing/2014/main" id="{97F0E330-3278-4ABD-AE2F-5D521E185D50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5AE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EB8"/>
                </a:solidFill>
                <a:latin typeface="Aptos"/>
                <a:ea typeface="Aptos"/>
                <a:cs typeface="Aptos"/>
              </a:rPr>
              <a:t>For custom agent frameworks</a:t>
            </a:r>
          </a:p>
        </p:txBody>
      </p:sp>
      <p:sp>
        <p:nvSpPr>
          <p:cNvPr id="3008" name="">
            <a:extLst>
              <a:ext uri="{FF2B5EF4-FFF2-40B4-BE49-F238E27FC236}">
                <a16:creationId xmlns:a16="http://schemas.microsoft.com/office/drawing/2014/main" id="{808028BD-0FE0-481A-AE7F-2FE42D86E3FC}"/>
              </a:ext>
            </a:extLst>
          </p:cNvPr>
          <p:cNvSpPr>
            <a:spLocks noGrp="1"/>
          </p:cNvSpPr>
          <p:nvPr/>
        </p:nvSpPr>
        <p:spPr>
          <a:xfrm>
            <a:off x="3333750" y="3314700"/>
            <a:ext cx="82296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F7FBFD"/>
                </a:solidFill>
                <a:latin typeface="Aptos"/>
                <a:ea typeface="Aptos"/>
                <a:cs typeface="Aptos"/>
              </a:rPr>
              <a:t>An embeddable, daemonless microVM runtime with a built-in Linux desktop API. More programmable than sbx, with more integration work for existing agent CLIs.</a:t>
            </a:r>
          </a:p>
        </p:txBody>
      </p:sp>
      <p:sp>
        <p:nvSpPr>
          <p:cNvPr id="3009" name="">
            <a:extLst>
              <a:ext uri="{FF2B5EF4-FFF2-40B4-BE49-F238E27FC236}">
                <a16:creationId xmlns:a16="http://schemas.microsoft.com/office/drawing/2014/main" id="{07A7A5E0-B927-48F0-9528-206D6C54BCFA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1087100" cy="14288"/>
          </a:xfrm>
          <a:prstGeom prst="rect">
            <a:avLst/>
          </a:prstGeom>
          <a:solidFill>
            <a:srgbClr val="29434E"/>
          </a:solidFill>
          <a:ln w="0">
            <a:noFill/>
          </a:ln>
        </p:spPr>
      </p:sp>
      <p:sp>
        <p:nvSpPr>
          <p:cNvPr id="3010" name="">
            <a:extLst>
              <a:ext uri="{FF2B5EF4-FFF2-40B4-BE49-F238E27FC236}">
                <a16:creationId xmlns:a16="http://schemas.microsoft.com/office/drawing/2014/main" id="{BEF03C13-F389-4CDA-9E9B-2FB732534CFC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2496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96ED"/>
                </a:solidFill>
                <a:latin typeface="Aptos"/>
                <a:ea typeface="Aptos"/>
                <a:cs typeface="Aptos"/>
              </a:rPr>
              <a:t>Shuru</a:t>
            </a:r>
          </a:p>
        </p:txBody>
      </p:sp>
      <p:sp>
        <p:nvSpPr>
          <p:cNvPr id="3011" name="">
            <a:extLst>
              <a:ext uri="{FF2B5EF4-FFF2-40B4-BE49-F238E27FC236}">
                <a16:creationId xmlns:a16="http://schemas.microsoft.com/office/drawing/2014/main" id="{581251EA-DB70-4D65-8255-91F177ED7429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5AE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5AEB8"/>
                </a:solidFill>
                <a:latin typeface="Aptos"/>
                <a:ea typeface="Aptos"/>
                <a:cs typeface="Aptos"/>
              </a:rPr>
              <a:t>For conservative defaults on Macs</a:t>
            </a:r>
          </a:p>
        </p:txBody>
      </p:sp>
      <p:sp>
        <p:nvSpPr>
          <p:cNvPr id="3012" name="">
            <a:extLst>
              <a:ext uri="{FF2B5EF4-FFF2-40B4-BE49-F238E27FC236}">
                <a16:creationId xmlns:a16="http://schemas.microsoft.com/office/drawing/2014/main" id="{7EEC2F82-8BB8-4498-A721-14AE1D95D11A}"/>
              </a:ext>
            </a:extLst>
          </p:cNvPr>
          <p:cNvSpPr>
            <a:spLocks noGrp="1"/>
          </p:cNvSpPr>
          <p:nvPr/>
        </p:nvSpPr>
        <p:spPr>
          <a:xfrm>
            <a:off x="3333750" y="4724400"/>
            <a:ext cx="82296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F7FBFD"/>
                </a:solidFill>
                <a:latin typeface="Aptos"/>
                <a:ea typeface="Aptos"/>
                <a:cs typeface="Aptos"/>
              </a:rPr>
              <a:t>Read-only mounts and disabled networking by default, with host-side credential proxying. Strong defaults, but narrower platform support than sbx.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