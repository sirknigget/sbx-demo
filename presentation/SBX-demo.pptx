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5f1933dddae44cf" /><Relationship Type="http://schemas.openxmlformats.org/officeDocument/2006/relationships/extended-properties" Target="/docProps/app.xml" Id="Rb440590960cb4448" /><Relationship Type="http://schemas.openxmlformats.org/officeDocument/2006/relationships/officeDocument" Target="/ppt/presentation.xml" Id="Ra97555f0ac284f7d" /></Relationships>
</file>

<file path=ppt/presentation.xml><?xml version="1.0" encoding="utf-8"?>
<p:presentation xmlns:p="http://schemas.openxmlformats.org/presentationml/2006/main">
  <p:sldMasterIdLst>
    <p:sldMasterId xmlns:r="http://schemas.openxmlformats.org/officeDocument/2006/relationships" id="2147483648" r:id="R219e1327edcd482b"/>
  </p:sldMasterIdLst>
  <p:notesMasterIdLst>
    <p:notesMasterId xmlns:r="http://schemas.openxmlformats.org/officeDocument/2006/relationships" r:id="R7d30d6a9b97946a6"/>
  </p:notesMasterIdLst>
  <p:sldIdLst>
    <p:sldId xmlns:r="http://schemas.openxmlformats.org/officeDocument/2006/relationships" id="256" r:id="Rb5b1a4319b204c8c"/>
    <p:sldId xmlns:r="http://schemas.openxmlformats.org/officeDocument/2006/relationships" id="257" r:id="Rc2d965f021bc45b5"/>
    <p:sldId xmlns:r="http://schemas.openxmlformats.org/officeDocument/2006/relationships" id="258" r:id="R9f22a6b34ea74566"/>
    <p:sldId xmlns:r="http://schemas.openxmlformats.org/officeDocument/2006/relationships" id="259" r:id="Rb97a923eccbb47cd"/>
    <p:sldId xmlns:r="http://schemas.openxmlformats.org/officeDocument/2006/relationships" id="260" r:id="R42474682d12344cb"/>
    <p:sldId xmlns:r="http://schemas.openxmlformats.org/officeDocument/2006/relationships" id="261" r:id="R86869e10e4b440bc"/>
    <p:sldId xmlns:r="http://schemas.openxmlformats.org/officeDocument/2006/relationships" id="262" r:id="R8697d9cbf16947bc"/>
    <p:sldId xmlns:r="http://schemas.openxmlformats.org/officeDocument/2006/relationships" id="263" r:id="R860ab95b3f9f416e"/>
    <p:sldId xmlns:r="http://schemas.openxmlformats.org/officeDocument/2006/relationships" id="264" r:id="R3ba2c81a85d44204"/>
    <p:sldId xmlns:r="http://schemas.openxmlformats.org/officeDocument/2006/relationships" id="265" r:id="R48cba8b7bb3e408b"/>
    <p:sldId xmlns:r="http://schemas.openxmlformats.org/officeDocument/2006/relationships" id="266" r:id="R92b6f8762b1c4cea"/>
    <p:sldId xmlns:r="http://schemas.openxmlformats.org/officeDocument/2006/relationships" id="267" r:id="Rada500f8720245b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1D8"/>
          </a:solidFill>
        </a:fill>
      </a:tcStyle>
    </a:wholeTbl>
    <a:band2H>
      <a:tcTxStyle b="def" i="def"/>
      <a:tcStyle>
        <a:tcBdr/>
        <a:fill>
          <a:solidFill>
            <a:srgbClr val="E7E9EC"/>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3CB"/>
          </a:solidFill>
        </a:fill>
      </a:tcStyle>
    </a:wholeTbl>
    <a:band2H>
      <a:tcTxStyle b="def" i="def"/>
      <a:tcStyle>
        <a:tcBdr/>
        <a:fill>
          <a:solidFill>
            <a:srgbClr val="E7EA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E1CC"/>
          </a:solidFill>
        </a:fill>
      </a:tcStyle>
    </a:wholeTbl>
    <a:band2H>
      <a:tcTxStyle b="def" i="def"/>
      <a:tcStyle>
        <a:tcBdr/>
        <a:fill>
          <a:solidFill>
            <a:srgbClr val="E8F0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_rels/presentation.xml.rels>&#65279;<?xml version="1.0" encoding="utf-8"?><Relationships xmlns="http://schemas.openxmlformats.org/package/2006/relationships"><Relationship Type="http://schemas.openxmlformats.org/officeDocument/2006/relationships/theme" Target="/ppt/theme/theme1.xml" Id="R0704ac7c8c134af0" /><Relationship Type="http://schemas.openxmlformats.org/officeDocument/2006/relationships/slideMaster" Target="/ppt/slideMasters/slideMaster1.xml" Id="R219e1327edcd482b" /><Relationship Type="http://schemas.openxmlformats.org/officeDocument/2006/relationships/notesMaster" Target="/ppt/notesMasters/notesMaster1.xml" Id="R7d30d6a9b97946a6" /><Relationship Type="http://schemas.openxmlformats.org/officeDocument/2006/relationships/presProps" Target="/ppt/presProps.xml" Id="Re56b139aa88b44ba" /><Relationship Type="http://schemas.openxmlformats.org/officeDocument/2006/relationships/tableStyles" Target="/ppt/tableStyles.xml" Id="R9308bea429e84579" /><Relationship Type="http://schemas.openxmlformats.org/officeDocument/2006/relationships/slide" Target="/ppt/slides/slide1.xml" Id="Rb5b1a4319b204c8c" /><Relationship Type="http://schemas.openxmlformats.org/officeDocument/2006/relationships/slide" Target="/ppt/slides/slide2.xml" Id="Rc2d965f021bc45b5" /><Relationship Type="http://schemas.openxmlformats.org/officeDocument/2006/relationships/slide" Target="/ppt/slides/slide3.xml" Id="R9f22a6b34ea74566" /><Relationship Type="http://schemas.openxmlformats.org/officeDocument/2006/relationships/slide" Target="/ppt/slides/slide4.xml" Id="Rb97a923eccbb47cd" /><Relationship Type="http://schemas.openxmlformats.org/officeDocument/2006/relationships/slide" Target="/ppt/slides/slide5.xml" Id="R42474682d12344cb" /><Relationship Type="http://schemas.openxmlformats.org/officeDocument/2006/relationships/slide" Target="/ppt/slides/slide6.xml" Id="R86869e10e4b440bc" /><Relationship Type="http://schemas.openxmlformats.org/officeDocument/2006/relationships/slide" Target="/ppt/slides/slide7.xml" Id="R8697d9cbf16947bc" /><Relationship Type="http://schemas.openxmlformats.org/officeDocument/2006/relationships/slide" Target="/ppt/slides/slide8.xml" Id="R860ab95b3f9f416e" /><Relationship Type="http://schemas.openxmlformats.org/officeDocument/2006/relationships/slide" Target="/ppt/slides/slide9.xml" Id="R3ba2c81a85d44204" /><Relationship Type="http://schemas.openxmlformats.org/officeDocument/2006/relationships/slide" Target="/ppt/slides/slide10.xml" Id="R48cba8b7bb3e408b" /><Relationship Type="http://schemas.openxmlformats.org/officeDocument/2006/relationships/slide" Target="/ppt/slides/slide11.xml" Id="R92b6f8762b1c4cea" /><Relationship Type="http://schemas.openxmlformats.org/officeDocument/2006/relationships/slide" Target="/ppt/slides/slide12.xml" Id="Rada500f8720245b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b742b1b66f47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Helvetica"/>
        <a:ea typeface="Helvetica"/>
        <a:cs typeface="Helvetica"/>
      </a:majorFont>
      <a:minorFont>
        <a:latin typeface="Helvetica Neue"/>
        <a:ea typeface="Helvetica Neue"/>
        <a:cs typeface="Helvetica Neue"/>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06b71d6fe445df" /><Relationship Type="http://schemas.openxmlformats.org/officeDocument/2006/relationships/notesMaster" Target="/ppt/notesMasters/notesMaster1.xml" Id="Rd142de4c2e5943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92821b706a4181" /><Relationship Type="http://schemas.openxmlformats.org/officeDocument/2006/relationships/notesMaster" Target="/ppt/notesMasters/notesMaster1.xml" Id="Rcb85587c5ab3485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ef8081ebd64767" /><Relationship Type="http://schemas.openxmlformats.org/officeDocument/2006/relationships/notesMaster" Target="/ppt/notesMasters/notesMaster1.xml" Id="R1a71fd72053246c6"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b9b1480ade46fb" /><Relationship Type="http://schemas.openxmlformats.org/officeDocument/2006/relationships/notesMaster" Target="/ppt/notesMasters/notesMaster1.xml" Id="R2dd38e99e1a245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14f95732f94c0f" /><Relationship Type="http://schemas.openxmlformats.org/officeDocument/2006/relationships/notesMaster" Target="/ppt/notesMasters/notesMaster1.xml" Id="R4771f5a41219450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a4b3aa2f2ef4b39" /><Relationship Type="http://schemas.openxmlformats.org/officeDocument/2006/relationships/notesMaster" Target="/ppt/notesMasters/notesMaster1.xml" Id="Rf667e07c0fce4bdf" /></Relationships>
</file>

<file path=ppt/notesSlides/_rels/notesSlide7.xml.rels>&#65279;<?xml version="1.0" encoding="utf-8"?><Relationships xmlns="http://schemas.openxmlformats.org/package/2006/relationships"><Relationship Type="http://schemas.openxmlformats.org/officeDocument/2006/relationships/slide" Target="/ppt/slides/slide7.xml" Id="R0e956947f292400b" /><Relationship Type="http://schemas.openxmlformats.org/officeDocument/2006/relationships/notesMaster" Target="/ppt/notesMasters/notesMaster1.xml" Id="Rbc5f1e46a77e4d9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87f14b0ddfc49ed" /><Relationship Type="http://schemas.openxmlformats.org/officeDocument/2006/relationships/notesMaster" Target="/ppt/notesMasters/notesMaster1.xml" Id="R12da111aceba465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c6625d9beb4c07" /><Relationship Type="http://schemas.openxmlformats.org/officeDocument/2006/relationships/notesMaster" Target="/ppt/notesMasters/notesMaster1.xml" Id="Rff5bf893d7f64ad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31630145fdf4b8d" /><Relationship Type="http://schemas.openxmlformats.org/officeDocument/2006/relationships/notesMaster" Target="/ppt/notesMasters/notesMaster1.xml" Id="R39744b0684f641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a0a1b70b7a94dc9" /><Relationship Type="http://schemas.openxmlformats.org/officeDocument/2006/relationships/notesMaster" Target="/ppt/notesMasters/notesMaster1.xml" Id="Rbe488726588d49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7da0a4509c14280" /><Relationship Type="http://schemas.openxmlformats.org/officeDocument/2006/relationships/notesMaster" Target="/ppt/notesMasters/notesMaster1.xml" Id="R1d887368443a4c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User-provided screenshot: /Users/omergilad/Documents/Screenshots/sbx demo/Screenshot 2026-07-26 at 15.38.35.png</a:t>
            </a:r>
          </a:p>
          <a:p xmlns:a="http://schemas.openxmlformats.org/drawingml/2006/main">
            <a:pPr>
              <a:buNone/>
            </a:pPr>
            <a:r>
              <a:t>- User-provided screenshot: /Users/omergilad/Documents/Screenshots/sbx demo/Screenshot 2026-07-26 at 15.39.54.png</a:t>
            </a:r>
          </a:p>
          <a:p xmlns:a="http://schemas.openxmlformats.org/drawingml/2006/main">
            <a:pPr>
              <a:buNone/>
            </a:pPr>
            <a:r>
              <a:t>- User-provided screenshot: /Users/omergilad/Documents/Screenshots/sbx demo/Screenshot 2026-07-26 at 15.40.11.png</a:t>
            </a:r>
          </a:p>
          <a:p xmlns:a="http://schemas.openxmlformats.org/drawingml/2006/main">
            <a:pPr>
              <a:buNone/>
            </a:pPr>
            <a:r>
              <a:t>- User-provided screenshot: /Users/omergilad/Documents/Screenshots/sbx demo/Screenshot 2026-07-26 at 15.40.19.png</a:t>
            </a:r>
          </a:p>
          <a:p xmlns:a="http://schemas.openxmlformats.org/drawingml/2006/main">
            <a:pPr>
              <a:buNone/>
            </a:pPr>
            <a:r>
              <a:t>- User-provided screenshot: /Users/omergilad/Documents/Screenshots/sbx demo/Screenshot 2026-07-26 at 15.48.20.png</a:t>
            </a:r>
          </a:p>
          <a:p xmlns:a="http://schemas.openxmlformats.org/drawingml/2006/main">
            <a:pPr>
              <a:buNone/>
            </a:pPr>
            <a:r>
              <a:t>- Docker whale mark: https://www.docker.com/app/uploads/2026/02/Docker_Mark_660x400.png (official Docker brand resource)</a:t>
            </a:r>
          </a:p>
          <a:p xmlns:a="http://schemas.openxmlformats.org/drawingml/2006/main">
            <a:pPr>
              <a:buNone/>
            </a:pPr>
            <a:r>
              <a:t>[/Sources]</a:t>
            </a:r>
          </a:p>
          <a:p xmlns:a="http://schemas.openxmlformats.org/drawingml/2006/main">
            <a:r>
              <a:t>Added photo supplied by user: Yuval Avidani LinkedIn post. Actual news headline: BBC News, Laura Cress, 22 July 2026. https://www.bbc.com/news/articles/c3ek3gvdnj3o . The clipping typesets the published headline and byline. It is not an explainer slide or a webpage screenshot. Animation: seven Fade entrance effects, each on a separate click, 0.5 seconds, with no motion or scaling. Existing positions and layering are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User-provided screenshot: /Users/omergilad/Documents/Screenshots/full permissions.png</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User-provided screenshot: /Users/omergilad/Documents/Screenshots/manual permissions.png</a:t>
            </a:r>
          </a:p>
          <a:p xmlns:a="http://schemas.openxmlformats.org/drawingml/2006/main">
            <a:pPr>
              <a:buNone/>
            </a:pPr>
            <a:r>
              <a:t>- Anthropic containment discussion: https://www.anthropic.com/engineering/how-we-contain-claude</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User-provided screenshot: /Users/omergilad/Documents/Screenshots/auto mode.png</a:t>
            </a:r>
          </a:p>
          <a:p xmlns:a="http://schemas.openxmlformats.org/drawingml/2006/main">
            <a:pPr>
              <a:buNone/>
            </a:pPr>
            <a:r>
              <a:t>- Anthropic Claude Code auto mode: https://www.anthropic.com/engineering/claude-code-auto-mode</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Anthropic Claude Code sandboxing: https://www.anthropic.com/engineering/claude-code-sandboxing</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Docker Sandboxes architecture comparison: https://docs.docker.com/ai/sandboxes/architecture/</a:t>
            </a:r>
          </a:p>
          <a:p xmlns:a="http://schemas.openxmlformats.org/drawingml/2006/main">
            <a:pPr>
              <a:buNone/>
            </a:pPr>
            <a:r>
              <a:t>- Development Containers specification: https://github.com/devcontainers/spec</a:t>
            </a:r>
          </a:p>
          <a:p xmlns:a="http://schemas.openxmlformats.org/drawingml/2006/main">
            <a:pPr>
              <a:buNone/>
            </a:pPr>
            <a:r>
              <a:t>- Dev Containers logo: https://avatars.githubusercontent.com/u/102692984?v=4</a:t>
            </a:r>
          </a:p>
          <a:p xmlns:a="http://schemas.openxmlformats.org/drawingml/2006/main">
            <a:pPr>
              <a:buNone/>
            </a:pPr>
            <a:r>
              <a:t>- Docker logo: https://www.docker.com/company/newsroom/media-resources/</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Docker Sandboxes overview: https://docs.docker.com/ai/sandboxes/</a:t>
            </a:r>
          </a:p>
          <a:p xmlns:a="http://schemas.openxmlformats.org/drawingml/2006/main">
            <a:pPr>
              <a:buNone/>
            </a:pPr>
            <a:r>
              <a:t>- Docker Sandboxes architecture: https://docs.docker.com/ai/sandboxes/architecture/</a:t>
            </a:r>
          </a:p>
          <a:p xmlns:a="http://schemas.openxmlformats.org/drawingml/2006/main">
            <a:pPr>
              <a:buNone/>
            </a:pPr>
            <a:r>
              <a:t>- Docker Sandboxes security and isolation: https://docs.docker.com/ai/sandboxes/security/isolation/</a:t>
            </a:r>
          </a:p>
          <a:p xmlns:a="http://schemas.openxmlformats.org/drawingml/2006/main">
            <a:pPr>
              <a:buNone/>
            </a:pPr>
            <a:r>
              <a:t>- Docker Sandboxes security defaults: https://docs.docker.com/ai/sandboxes/security/defaults/</a:t>
            </a:r>
          </a:p>
          <a:p xmlns:a="http://schemas.openxmlformats.org/drawingml/2006/main">
            <a:pPr>
              <a:buNone/>
            </a:pPr>
            <a:r>
              <a:t>- Docker Agent in Docker Sandboxes: https://docs.docker.com/ai/sandboxes/agents/docker-agent/</a:t>
            </a:r>
          </a:p>
          <a:p xmlns:a="http://schemas.openxmlformats.org/drawingml/2006/main">
            <a:pPr>
              <a:buNone/>
            </a:pPr>
            <a:r>
              <a:t>- Docker logo: https://www.docker.com/company/newsroom/media-resources/</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Docker Sandbox templates and built-in agent images: https://docs.docker.com/ai/sandboxes/customize/templates/</a:t>
            </a:r>
          </a:p>
          <a:p xmlns:a="http://schemas.openxmlformats.org/drawingml/2006/main">
            <a:pPr>
              <a:buNone/>
            </a:pPr>
            <a:r>
              <a:t>- Multiple workspaces and usage: https://docs.docker.com/ai/sandboxes/usage/</a:t>
            </a:r>
          </a:p>
          <a:p xmlns:a="http://schemas.openxmlformats.org/drawingml/2006/main">
            <a:pPr>
              <a:buNone/>
            </a:pPr>
            <a:r>
              <a:t>- Snapshot a sandbox as a template: https://docs.docker.com/reference/cli/sbx/template/save/</a:t>
            </a:r>
          </a:p>
          <a:p xmlns:a="http://schemas.openxmlformats.org/drawingml/2006/main">
            <a:pPr>
              <a:buNone/>
            </a:pPr>
            <a:r>
              <a:t>- Port publishing: https://docs.docker.com/reference/cli/sbx/ports/</a:t>
            </a:r>
          </a:p>
          <a:p xmlns:a="http://schemas.openxmlformats.org/drawingml/2006/main">
            <a:pPr>
              <a:buNone/>
            </a:pPr>
            <a:r>
              <a:t>- Experimental native SSH endpoint: https://docs.docker.com/ai/sandboxes/release-notes/</a:t>
            </a:r>
          </a:p>
          <a:p xmlns:a="http://schemas.openxmlformats.org/drawingml/2006/main">
            <a:pPr>
              <a:buNone/>
            </a:pPr>
            <a:r>
              <a:t>- Docker Sandbox Kits: https://docs.docker.com/ai/sandboxes/customize/kits/</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Based on project chat: Find Docker sandbox alternatives.</a:t>
            </a:r>
          </a:p>
          <a:p xmlns:a="http://schemas.openxmlformats.org/drawingml/2006/main">
            <a:r>
              <a:t>Sources checked 30 September 2026:</a:t>
            </a:r>
          </a:p>
          <a:p xmlns:a="http://schemas.openxmlformats.org/drawingml/2006/main">
            <a:r>
              <a:t>https://github.com/superradcompany/microsandbox</a:t>
            </a:r>
          </a:p>
          <a:p xmlns:a="http://schemas.openxmlformats.org/drawingml/2006/main">
            <a:r>
              <a:t>https://github.com/boxlite-ai/boxlite</a:t>
            </a:r>
          </a:p>
          <a:p xmlns:a="http://schemas.openxmlformats.org/drawingml/2006/main">
            <a:r>
              <a:t>https://github.com/superhq-ai/shuru</a:t>
            </a:r>
          </a:p>
          <a:p xmlns:a="http://schemas.openxmlformats.org/drawingml/2006/main">
            <a:r>
              <a:t>https://kb.parallels.com/en/128867</a:t>
            </a:r>
          </a:p>
          <a:p xmlns:a="http://schemas.openxmlformats.org/drawingml/2006/main">
            <a:r>
              <a:t>https://kb.parallels.com/en/128842</a:t>
            </a:r>
          </a:p>
          <a:p xmlns:a="http://schemas.openxmlformats.org/drawingml/2006/main">
            <a:r>
              <a:t>https://cua.ai/docs</a:t>
            </a:r>
          </a:p>
          <a:p xmlns:a="http://schemas.openxmlformats.org/drawingml/2006/main">
            <a:r>
              <a:t>https://github.com/openai/tart</a:t>
            </a:r>
          </a:p>
          <a:p xmlns:a="http://schemas.openxmlformats.org/drawingml/2006/main">
            <a:r>
              <a:t>https://learn.microsoft.com/en-us/windows/security/application-security/application-isolation/windows-sandbox/</a:t>
            </a:r>
          </a:p>
          <a:p xmlns:a="http://schemas.openxmlformats.org/drawingml/2006/main">
            <a:r>
              <a:t>Desktop VM safety depends on disabling unnecessary host sharing, limiting networking and using task-specific credentials.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 of deployment modes and protection goals. Products may support multiple deployment modes. Sandbox isolation contains untrusted code execution, including RCE, rather than preventing all execution inside the sandbox. Forbidden API or business actions require least-privilege credentials, authorization and tool policies. Host data and browser sessions remain protected only when not exposed through mounts, credentials, bridges or tools.</a:t>
            </a:r>
          </a:p>
          <a:p xmlns:a="http://schemas.openxmlformats.org/drawingml/2006/main">
            <a:r>
              <a:t>Sources (checked 2026-09-30):</a:t>
            </a:r>
          </a:p>
          <a:p xmlns:a="http://schemas.openxmlformats.org/drawingml/2006/main">
            <a:r>
              <a:t>https://www.docker.com/products/docker-sandboxes/</a:t>
            </a:r>
          </a:p>
          <a:p xmlns:a="http://schemas.openxmlformats.org/drawingml/2006/main">
            <a:r>
              <a:t>https://microsandbox.dev/platform/local</a:t>
            </a:r>
          </a:p>
          <a:p xmlns:a="http://schemas.openxmlformats.org/drawingml/2006/main">
            <a:r>
              <a:t>https://github.com/boxlite-ai/boxlite</a:t>
            </a:r>
          </a:p>
          <a:p xmlns:a="http://schemas.openxmlformats.org/drawingml/2006/main">
            <a:r>
              <a:t>https://aws.amazon.com/bedrock/agentcore/faqs/</a:t>
            </a:r>
          </a:p>
          <a:p xmlns:a="http://schemas.openxmlformats.org/drawingml/2006/main">
            <a:r>
              <a:t>https://docs.aws.amazon.com/bedrock-agentcore/latest/devguide/code-interpreter-create.html</a:t>
            </a:r>
          </a:p>
          <a:p xmlns:a="http://schemas.openxmlformats.org/drawingml/2006/main">
            <a:r>
              <a:t>https://e2b.dev/docs/sdk-reference/js-sdk/v2.6.2/sandbox</a:t>
            </a:r>
          </a:p>
          <a:p xmlns:a="http://schemas.openxmlformats.org/drawingml/2006/main">
            <a:r>
              <a:t>https://www.daytona.io/docs/en/sandboxes/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User-provided screenshot: /Users/omergilad/Documents/Screenshots/dotfiles.png</a:t>
            </a:r>
          </a:p>
          <a:p xmlns:a="http://schemas.openxmlformats.org/drawingml/2006/main">
            <a:pPr>
              <a:buNone/>
            </a:pPr>
            <a:r>
              <a:t>- Docker Sandboxes security model: https://docs.docker.com/ai/sandboxes/security/</a:t>
            </a:r>
          </a:p>
          <a:p xmlns:a="http://schemas.openxmlformats.org/drawingml/2006/main">
            <a:pPr>
              <a:buNone/>
            </a:pPr>
            <a:r>
              <a:t>- Docker Sandbox templates: https://docs.docker.com/ai/sandboxes/customize/templates/</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buNone/>
            </a:pPr>
            <a:r>
              <a:t>[Sources]</a:t>
            </a:r>
          </a:p>
          <a:p xmlns:a="http://schemas.openxmlformats.org/drawingml/2006/main">
            <a:pPr>
              <a:buNone/>
            </a:pPr>
            <a:r>
              <a:t>- User-provided screenshot: /Users/omergilad/Documents/Screenshots/omp.png</a:t>
            </a:r>
          </a:p>
          <a:p xmlns:a="http://schemas.openxmlformats.org/drawingml/2006/main">
            <a:pPr>
              <a:buNone/>
            </a:pPr>
            <a:r>
              <a:t>- User-provided screenshot: /Users/omergilad/Documents/Screenshots/omp 2.png</a:t>
            </a:r>
          </a:p>
          <a:p xmlns:a="http://schemas.openxmlformats.org/drawingml/2006/main">
            <a:pPr>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7da3ce085d454f" /></Relationships>
</file>

<file path=ppt/slideLayouts/slideLayout1.xml><?xml version="1.0" encoding="utf-8"?>
<p:sldLayout xmlns:p="http://schemas.openxmlformats.org/presentationml/2006/main" showMasterSp="1" showMasterPhAnim="1">
  <p:cSld name="Title Slide">
    <p:spTree>
      <p:nvGrpSpPr>
        <p:cNvPr id="1" name=""/>
        <p:cNvGrpSpPr/>
        <p:nvPr/>
      </p:nvGrpSpPr>
      <p:grpSpPr>
        <a:xfrm xmlns:a="http://schemas.openxmlformats.org/drawingml/2006/main"/>
      </p:grpSpPr>
      <p:sp>
        <p:nvSpPr>
          <p:cNvPr id="11" name="Slide Number">
            <a:extLst xmlns:a="http://schemas.openxmlformats.org/drawingml/2006/main">
              <a:ext uri="{FF2B5EF4-FFF2-40B4-BE49-F238E27FC236}">
                <a16:creationId xmlns:a16="http://schemas.microsoft.com/office/drawing/2014/main" id="{C5CB8A39-2955-491C-BD89-73789294DA1E}"/>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bf71d3af7c4f55" /><Relationship Type="http://schemas.openxmlformats.org/officeDocument/2006/relationships/slideLayout" Target="/ppt/slideLayouts/slideLayout1.xml" Id="R87a31a06a1f444e8"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itle Text">
            <a:extLst xmlns:a="http://schemas.openxmlformats.org/drawingml/2006/main">
              <a:ext uri="{FF2B5EF4-FFF2-40B4-BE49-F238E27FC236}">
                <a16:creationId xmlns:a16="http://schemas.microsoft.com/office/drawing/2014/main" id="{7869AEB6-08F6-40B3-8630-E74D4A13A32D}"/>
              </a:ext>
            </a:extLst>
          </p:cNvPr>
          <p:cNvSpPr>
            <a:spLocks xmlns:a="http://schemas.openxmlformats.org/drawingml/2006/main" noGrp="1"/>
          </p:cNvSpPr>
          <p:nvPr>
            <p:ph type="title" idx="0"/>
          </p:nvPr>
        </p:nvSpPr>
        <p:spPr>
          <a:xfrm xmlns:a="http://schemas.openxmlformats.org/drawingml/2006/main">
            <a:off x="1826683" y="769937"/>
            <a:ext cx="9753601" cy="1668463"/>
          </a:xfrm>
          <a:prstGeom xmlns:a="http://schemas.openxmlformats.org/drawingml/2006/main" prst="rect">
            <a:avLst/>
          </a:prstGeom>
          <a:ln xmlns:a="http://schemas.openxmlformats.org/drawingml/2006/main" w="12700"/>
        </p:spPr>
        <p:txBody>
          <a:bodyPr xmlns:a="http://schemas.openxmlformats.org/drawingml/2006/main" lIns="45718" tIns="45718" rIns="45718" bIns="45718" anchor="ctr"/>
          <a:lstStyle xmlns:a="http://schemas.openxmlformats.org/drawingml/2006/main"/>
          <a:p xmlns:a="http://schemas.openxmlformats.org/drawingml/2006/main">
            <a:pPr>
              <a:buNone/>
            </a:pPr>
            <a:r>
              <a:t>Title Text</a:t>
            </a:r>
          </a:p>
        </p:txBody>
      </p:sp>
      <p:sp>
        <p:nvSpPr>
          <p:cNvPr id="3" name="Body Level One…">
            <a:extLst xmlns:a="http://schemas.openxmlformats.org/drawingml/2006/main">
              <a:ext uri="{FF2B5EF4-FFF2-40B4-BE49-F238E27FC236}">
                <a16:creationId xmlns:a16="http://schemas.microsoft.com/office/drawing/2014/main" id="{3383B347-1FC0-4EA7-AE1F-D868E1D29248}"/>
              </a:ext>
            </a:extLst>
          </p:cNvPr>
          <p:cNvSpPr>
            <a:spLocks xmlns:a="http://schemas.openxmlformats.org/drawingml/2006/main" noGrp="1"/>
          </p:cNvSpPr>
          <p:nvPr>
            <p:ph type="body" idx="1"/>
          </p:nvPr>
        </p:nvSpPr>
        <p:spPr>
          <a:xfrm xmlns:a="http://schemas.openxmlformats.org/drawingml/2006/main">
            <a:off x="6805083" y="2438400"/>
            <a:ext cx="4775201" cy="4419600"/>
          </a:xfrm>
          <a:prstGeom xmlns:a="http://schemas.openxmlformats.org/drawingml/2006/main" prst="rect">
            <a:avLst/>
          </a:prstGeom>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pPr>
            <a:r>
              <a:t>Body Level One</a:t>
            </a:r>
          </a:p>
          <a:p xmlns:a="http://schemas.openxmlformats.org/drawingml/2006/main">
            <a:pPr lvl="1">
              <a:buNone/>
            </a:pPr>
            <a:r>
              <a:t>Body Level Two</a:t>
            </a:r>
          </a:p>
          <a:p xmlns:a="http://schemas.openxmlformats.org/drawingml/2006/main">
            <a:pPr lvl="2">
              <a:buNone/>
            </a:pPr>
            <a:r>
              <a:t>Body Level Three</a:t>
            </a:r>
          </a:p>
          <a:p xmlns:a="http://schemas.openxmlformats.org/drawingml/2006/main">
            <a:pPr lvl="3">
              <a:buNone/>
            </a:pPr>
            <a:r>
              <a:t>Body Level Four</a:t>
            </a:r>
          </a:p>
          <a:p xmlns:a="http://schemas.openxmlformats.org/drawingml/2006/main">
            <a:pPr lvl="4">
              <a:buNone/>
            </a:pPr>
            <a:r>
              <a:t>Body Level Five</a:t>
            </a:r>
          </a:p>
        </p:txBody>
      </p:sp>
      <p:sp>
        <p:nvSpPr>
          <p:cNvPr id="4" name="Slide Number">
            <a:extLst xmlns:a="http://schemas.openxmlformats.org/drawingml/2006/main">
              <a:ext uri="{FF2B5EF4-FFF2-40B4-BE49-F238E27FC236}">
                <a16:creationId xmlns:a16="http://schemas.microsoft.com/office/drawing/2014/main" id="{99EA4CB6-8B47-4E20-A751-0AF504BFBF8A}"/>
              </a:ext>
            </a:extLst>
          </p:cNvPr>
          <p:cNvSpPr>
            <a:spLocks xmlns:a="http://schemas.openxmlformats.org/drawingml/2006/main" noGrp="1"/>
          </p:cNvSpPr>
          <p:nvPr>
            <p:ph type="sldNum" idx="2"/>
          </p:nvPr>
        </p:nvSpPr>
        <p:spPr>
          <a:xfrm xmlns:a="http://schemas.openxmlformats.org/drawingml/2006/main">
            <a:off x="8478978" y="6232198"/>
            <a:ext cx="258623" cy="248304"/>
          </a:xfrm>
          <a:prstGeom xmlns:a="http://schemas.openxmlformats.org/drawingml/2006/main" prst="rect">
            <a:avLst/>
          </a:prstGeom>
          <a:ln xmlns:a="http://schemas.openxmlformats.org/drawingml/2006/main" w="12700"/>
        </p:spPr>
        <p:txBody>
          <a:bodyPr xmlns:a="http://schemas.openxmlformats.org/drawingml/2006/main" wrap="none" lIns="45718" tIns="45718" rIns="45718" bIns="45718" anchor="ctr">
            <a:spAutoFit/>
          </a:bodyPr>
          <a:lstStyle xmlns:a="http://schemas.openxmlformats.org/drawingml/2006/main">
            <a:lvl1pPr algn="r">
              <a:buNone/>
              <a:defRPr sz="1200">
                <a:latin typeface="Calibri"/>
                <a:ea typeface="Calibri"/>
                <a:cs typeface="Calibri"/>
              </a:defRPr>
            </a:lvl1pPr>
          </a:lstStyle>
          <a:p xmlns:a="http://schemas.openxmlformats.org/drawingml/2006/main">
            <a:pPr>
              <a:buNone/>
            </a:p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a31a06a1f444e8"/>
  </p:sldLayoutIdLst>
  <p:txStyles>
    <p:titleStyle>
      <a:lvl1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1pPr>
      <a:lvl2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2pPr>
      <a:lvl3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3pPr>
      <a:lvl4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4pPr>
      <a:lvl5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5pPr>
      <a:lvl6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6pPr>
      <a:lvl7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7pPr>
      <a:lvl8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8pPr>
      <a:lvl9pPr xmlns:a="http://schemas.openxmlformats.org/drawingml/2006/main" marL="0" marR="0" indent="0" algn="l" defTabSz="914400">
        <a:lnSpc>
          <a:spcPct val="90000"/>
        </a:lnSpc>
        <a:spcBef>
          <a:spcPts val="0"/>
        </a:spcBef>
        <a:spcAft>
          <a:spcPts val="0"/>
        </a:spcAft>
        <a:buClrTx/>
        <a:buSzTx/>
        <a:buFontTx/>
        <a:buNone/>
        <a:defRPr sz="4400" b="0" i="0" u="none" cap="none" spc="0" baseline="0">
          <a:solidFill>
            <a:srgbClr val="000000"/>
          </a:solidFill>
          <a:latin typeface="Calibri Light"/>
          <a:ea typeface="Calibri Light"/>
          <a:cs typeface="Calibri Light"/>
        </a:defRPr>
      </a:lvl9pPr>
    </p:titleStyle>
    <p:bodyStyle>
      <a:lvl1pPr xmlns:a="http://schemas.openxmlformats.org/drawingml/2006/main" marL="228600" marR="0" indent="-228600"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1pPr>
      <a:lvl2pPr xmlns:a="http://schemas.openxmlformats.org/drawingml/2006/main" marL="723900" marR="0" indent="-266700"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2pPr>
      <a:lvl3pPr xmlns:a="http://schemas.openxmlformats.org/drawingml/2006/main" marL="1234438" marR="0" indent="-320038"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3pPr>
      <a:lvl4pPr xmlns:a="http://schemas.openxmlformats.org/drawingml/2006/main" marL="1727200" marR="0" indent="-355600"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4pPr>
      <a:lvl5pPr xmlns:a="http://schemas.openxmlformats.org/drawingml/2006/main" marL="2184400" marR="0" indent="-355600"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5pPr>
      <a:lvl6pPr xmlns:a="http://schemas.openxmlformats.org/drawingml/2006/main" marL="2641600" marR="0" indent="-355600"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6pPr>
      <a:lvl7pPr xmlns:a="http://schemas.openxmlformats.org/drawingml/2006/main" marL="3098800" marR="0" indent="-355600"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7pPr>
      <a:lvl8pPr xmlns:a="http://schemas.openxmlformats.org/drawingml/2006/main" marL="3556000" marR="0" indent="-355600"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8pPr>
      <a:lvl9pPr xmlns:a="http://schemas.openxmlformats.org/drawingml/2006/main" marL="4013200" marR="0" indent="-355600" algn="l" defTabSz="914400">
        <a:lnSpc>
          <a:spcPct val="90000"/>
        </a:lnSpc>
        <a:spcBef>
          <a:spcPts val="1000"/>
        </a:spcBef>
        <a:spcAft>
          <a:spcPts val="0"/>
        </a:spcAft>
        <a:buClrTx/>
        <a:buSzPct val="100000"/>
        <a:buFontTx/>
        <a:buChar char="•"/>
        <a:defRPr sz="2800" b="0" i="0" u="none" cap="none" spc="0" baseline="0">
          <a:solidFill>
            <a:srgbClr val="000000"/>
          </a:solidFill>
          <a:latin typeface="Calibri"/>
          <a:ea typeface="Calibri"/>
          <a:cs typeface="Calibri"/>
        </a:defRPr>
      </a:lvl9pPr>
    </p:bodyStyle>
    <p:otherStyle>
      <a:lvl1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1pPr>
      <a:lvl2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2pPr>
      <a:lvl3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3pPr>
      <a:lvl4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4pPr>
      <a:lvl5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5pPr>
      <a:lvl6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6pPr>
      <a:lvl7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7pPr>
      <a:lvl8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8pPr>
      <a:lvl9pPr xmlns:a="http://schemas.openxmlformats.org/drawingml/2006/main" marL="0" marR="0" indent="0" algn="r" defTabSz="914400">
        <a:lnSpc>
          <a:spcPct val="100000"/>
        </a:lnSpc>
        <a:spcBef>
          <a:spcPts val="0"/>
        </a:spcBef>
        <a:spcAft>
          <a:spcPts val="0"/>
        </a:spcAft>
        <a:buClrTx/>
        <a:buSzTx/>
        <a:buFontTx/>
        <a:buNone/>
        <a:defRPr sz="1200" b="0" i="0" u="none" cap="none" spc="0" baseline="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Helvetica"/>
        <a:ea typeface="Helvetica"/>
        <a:cs typeface="Helvetica"/>
      </a:majorFont>
      <a:minorFont>
        <a:latin typeface="Helvetica Neue"/>
        <a:ea typeface="Helvetica Neue"/>
        <a:cs typeface="Helvetica Neue"/>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xml" /><Relationship Id="rId3" Type="http://schemas.openxmlformats.org/officeDocument/2006/relationships/image" Target="../media/animation-slide1-image1.png" /><Relationship Id="rId4" Type="http://schemas.openxmlformats.org/officeDocument/2006/relationships/image" Target="../media/animation-slide1-image2.png" /><Relationship Id="rId5" Type="http://schemas.openxmlformats.org/officeDocument/2006/relationships/image" Target="../media/animation-slide1-image3.png" /><Relationship Id="rId6" Type="http://schemas.openxmlformats.org/officeDocument/2006/relationships/image" Target="../media/animation-slide1-image4.png" /><Relationship Id="rId7" Type="http://schemas.openxmlformats.org/officeDocument/2006/relationships/image" Target="../media/animation-slide1-image5.png" /><Relationship Id="rId8" Type="http://schemas.openxmlformats.org/officeDocument/2006/relationships/image" Target="../media/animation-slide1-image6.png" /><Relationship Id="rId9" Type="http://schemas.openxmlformats.org/officeDocument/2006/relationships/image" Target="../media/animation-slide1-sbx-user-photo.jpeg" /><Relationship Id="rId10" Type="http://schemas.openxmlformats.org/officeDocument/2006/relationships/image" Target="../media/animation-slide1-sbx-headline.png"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eb6572447ed4d46" /><Relationship Type="http://schemas.openxmlformats.org/officeDocument/2006/relationships/image" Target="/ppt/media/image8.png" Id="R9f80e0a2aa214acc" /><Relationship Type="http://schemas.openxmlformats.org/officeDocument/2006/relationships/image" Target="/ppt/media/image6.png" Id="R404e10b3c94b4d8d" /><Relationship Type="http://schemas.openxmlformats.org/officeDocument/2006/relationships/notesSlide" Target="/ppt/notesSlides/notesSlide2.xml" Id="R2159c6b99fc0403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4a831186b7d49b2" /><Relationship Type="http://schemas.openxmlformats.org/officeDocument/2006/relationships/image" Target="/ppt/media/image9.png" Id="R777c49fec6434a9e" /><Relationship Type="http://schemas.openxmlformats.org/officeDocument/2006/relationships/image" Target="/ppt/media/image6.png" Id="Re342810e84174ab6" /><Relationship Type="http://schemas.openxmlformats.org/officeDocument/2006/relationships/notesSlide" Target="/ppt/notesSlides/notesSlide3.xml" Id="R314c6fc91c844a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c783dad3374475b" /><Relationship Type="http://schemas.openxmlformats.org/officeDocument/2006/relationships/image" Target="/ppt/media/image10.png" Id="Rbc134962cd6f4ebf" /><Relationship Type="http://schemas.openxmlformats.org/officeDocument/2006/relationships/image" Target="/ppt/media/image6.png" Id="R968050da1466403a" /><Relationship Type="http://schemas.openxmlformats.org/officeDocument/2006/relationships/notesSlide" Target="/ppt/notesSlides/notesSlide4.xml" Id="R7482f243cd464c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0f2648f5bbe4e8d" /><Relationship Type="http://schemas.openxmlformats.org/officeDocument/2006/relationships/image" Target="/ppt/media/image6.png" Id="Re5b6f49b268845d0" /><Relationship Type="http://schemas.openxmlformats.org/officeDocument/2006/relationships/image" Target="/ppt/media/image11.png" Id="R041750741c2d4a26" /><Relationship Type="http://schemas.openxmlformats.org/officeDocument/2006/relationships/notesSlide" Target="/ppt/notesSlides/notesSlide5.xml" Id="R0ba5cca3434848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bf70cf0760d4d14" /><Relationship Type="http://schemas.openxmlformats.org/officeDocument/2006/relationships/image" Target="/ppt/media/image6.png" Id="R643a29c67fcc4dc7" /><Relationship Type="http://schemas.openxmlformats.org/officeDocument/2006/relationships/image" Target="/ppt/media/image12.png" Id="R2302c142bdf242e4" /><Relationship Type="http://schemas.openxmlformats.org/officeDocument/2006/relationships/notesSlide" Target="/ppt/notesSlides/notesSlide6.xml" Id="Rfcdc88aa22f042b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9361485bcfc4697" /><Relationship Type="http://schemas.openxmlformats.org/officeDocument/2006/relationships/image" Target="/ppt/media/image13.png" Id="Rde60632353e649f5" /><Relationship Type="http://schemas.openxmlformats.org/officeDocument/2006/relationships/image" Target="/ppt/media/image6.png" Id="Rb1cee79e8c3f4f50" /><Relationship Type="http://schemas.openxmlformats.org/officeDocument/2006/relationships/notesSlide" Target="/ppt/notesSlides/notesSlide7.xml" Id="Rea7310c6b055478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3cf641988f4107" /><Relationship Type="http://schemas.openxmlformats.org/officeDocument/2006/relationships/image" Target="/ppt/media/image6.png" Id="R51951c47867644ba" /><Relationship Type="http://schemas.openxmlformats.org/officeDocument/2006/relationships/notesSlide" Target="/ppt/notesSlides/notesSlide8.xml" Id="R036f5e63ea834c8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ae6d2985c8e4183" /><Relationship Type="http://schemas.openxmlformats.org/officeDocument/2006/relationships/image" Target="/ppt/media/image6.png" Id="R3e5064d830b849fc" /><Relationship Type="http://schemas.openxmlformats.org/officeDocument/2006/relationships/notesSlide" Target="/ppt/notesSlides/notesSlide9.xml" Id="R6ad2d06768084d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fb30e1f730a42b6" /><Relationship Type="http://schemas.openxmlformats.org/officeDocument/2006/relationships/image" Target="/ppt/media/image6.png" Id="Rda392f5403ea4b2c" /><Relationship Type="http://schemas.openxmlformats.org/officeDocument/2006/relationships/notesSlide" Target="/ppt/notesSlides/notesSlide10.xml" Id="Rf13bfb6ace3047c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cc1cb2d6cd94aab" /><Relationship Type="http://schemas.openxmlformats.org/officeDocument/2006/relationships/image" Target="/ppt/media/image14.png" Id="Rb83731bb1c8e43ee" /><Relationship Type="http://schemas.openxmlformats.org/officeDocument/2006/relationships/image" Target="/ppt/media/image6.png" Id="Rcf4c00df0eba45a3" /><Relationship Type="http://schemas.openxmlformats.org/officeDocument/2006/relationships/notesSlide" Target="/ppt/notesSlides/notesSlide11.xml" Id="Rec09258f62d040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7d1d4f618574618" /><Relationship Type="http://schemas.openxmlformats.org/officeDocument/2006/relationships/image" Target="/ppt/media/image15.png" Id="R677c20a62ee847ac" /><Relationship Type="http://schemas.openxmlformats.org/officeDocument/2006/relationships/image" Target="/ppt/media/image16.png" Id="R092459cfb4404fb0" /><Relationship Type="http://schemas.openxmlformats.org/officeDocument/2006/relationships/image" Target="/ppt/media/image6.png" Id="Ra5185b96c9a04d9b" /><Relationship Type="http://schemas.openxmlformats.org/officeDocument/2006/relationships/notesSlide" Target="/ppt/notesSlides/notesSlide12.xml" Id="Re594ab2531184ae0" /></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6131B"/>
        </a:solidFill>
      </p:bgPr>
    </p:bg>
    <p:spTree>
      <p:nvGrpSpPr>
        <p:cNvPr id="1" name=""/>
        <p:cNvGrpSpPr/>
        <p:nvPr/>
      </p:nvGrpSpPr>
      <p:grpSpPr>
        <a:xfrm>
          <a:off x="0" y="0"/>
          <a:ext cx="0" cy="0"/>
          <a:chOff x="0" y="0"/>
          <a:chExt cx="0" cy="0"/>
        </a:xfrm>
      </p:grpSpPr>
      <p:sp>
        <p:nvSpPr>
          <p:cNvPr id="20" name="top-accent-1"/>
          <p:cNvSpPr/>
          <p:nvPr/>
        </p:nvSpPr>
        <p:spPr>
          <a:xfrm>
            <a:off x="552450" y="209550"/>
            <a:ext cx="2514600" cy="457200"/>
          </a:xfrm>
          <a:prstGeom prst="roundRect">
            <a:avLst>
              <a:gd name="adj" fmla="val 16667"/>
            </a:avLst>
          </a:prstGeom>
          <a:gradFill>
            <a:gsLst>
              <a:gs pos="0">
                <a:srgbClr val="FFFFFF"/>
              </a:gs>
              <a:gs pos="42000">
                <a:srgbClr val="FFFFFF">
                  <a:alpha val="94000"/>
                </a:srgbClr>
              </a:gs>
              <a:gs pos="100000">
                <a:srgbClr val="FFFFFF">
                  <a:alpha val="0"/>
                </a:srgbClr>
              </a:gs>
            </a:gsLst>
          </a:gradFill>
          <a:ln w="12700">
            <a:miter lim="400000"/>
          </a:ln>
        </p:spPr>
        <p:txBody>
          <a:bodyPr lIns="45718" tIns="45718" rIns="45718" bIns="45718"/>
          <a:lstStyle/>
          <a:p>
            <a:pPr>
              <a:defRPr>
                <a:latin typeface="Calibri"/>
                <a:ea typeface="Calibri"/>
                <a:cs typeface="Calibri"/>
                <a:sym typeface="Calibri"/>
              </a:defRPr>
            </a:pPr>
          </a:p>
        </p:txBody>
      </p:sp>
      <p:sp>
        <p:nvSpPr>
          <p:cNvPr id="21" name="deck-label-1"/>
          <p:cNvSpPr txBox="1"/>
          <p:nvPr/>
        </p:nvSpPr>
        <p:spPr>
          <a:xfrm>
            <a:off x="1123950" y="304800"/>
            <a:ext cx="1714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1000">
                <a:solidFill>
                  <a:srgbClr val="2496ED"/>
                </a:solidFill>
                <a:latin typeface="Aptos Display"/>
                <a:ea typeface="Aptos Display"/>
                <a:cs typeface="Aptos Display"/>
                <a:sym typeface="Aptos Display"/>
              </a:defRPr>
            </a:lvl1pPr>
          </a:lstStyle>
          <a:p>
            <a:pPr/>
            <a:r>
              <a:t>DOCKER SANDBOX</a:t>
            </a:r>
          </a:p>
        </p:txBody>
      </p:sp>
      <p:sp>
        <p:nvSpPr>
          <p:cNvPr id="22" name="section-label-1"/>
          <p:cNvSpPr txBox="1"/>
          <p:nvPr/>
        </p:nvSpPr>
        <p:spPr>
          <a:xfrm>
            <a:off x="3105150" y="304800"/>
            <a:ext cx="4381500"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defRPr b="1" sz="900">
                <a:solidFill>
                  <a:srgbClr val="8DA6B4"/>
                </a:solidFill>
                <a:latin typeface="Aptos"/>
                <a:ea typeface="Aptos"/>
                <a:cs typeface="Aptos"/>
                <a:sym typeface="Aptos"/>
              </a:defRPr>
            </a:lvl1pPr>
          </a:lstStyle>
          <a:p>
            <a:pPr/>
            <a:r>
              <a:t>WHY ISOLATION EXISTS</a:t>
            </a:r>
          </a:p>
        </p:txBody>
      </p:sp>
      <p:grpSp>
        <p:nvGrpSpPr>
          <p:cNvPr id="2001" name="Photo 1"/>
          <p:cNvGrpSpPr/>
          <p:nvPr/>
        </p:nvGrpSpPr>
        <p:grpSpPr>
          <a:xfrm>
            <a:off x="476250" y="914400"/>
            <a:ext cx="5219700" cy="1847850"/>
            <a:chOff x="476250" y="914400"/>
            <a:chExt cx="5219700" cy="1847850"/>
          </a:xfrm>
        </p:grpSpPr>
        <p:sp>
          <p:nvSpPr>
            <p:cNvPr id="23" name="screenshot-shadow-1"/>
            <p:cNvSpPr/>
            <p:nvPr/>
          </p:nvSpPr>
          <p:spPr>
            <a:xfrm rot="21414000">
              <a:off x="476250" y="914400"/>
              <a:ext cx="5219700" cy="1847850"/>
            </a:xfrm>
            <a:prstGeom prst="rect">
              <a:avLst/>
            </a:prstGeom>
            <a:solidFill>
              <a:srgbClr val="FFFFFF"/>
            </a:solidFill>
            <a:ln w="19050">
              <a:solidFill>
                <a:srgbClr val="FFFFFF"/>
              </a:solidFill>
            </a:ln>
            <a:effectLst>
              <a:outerShdw sx="100000" sy="100000" kx="0" ky="0" algn="b" rotWithShape="0" blurRad="177800" dist="57150" dir="5400000">
                <a:srgbClr val="000000">
                  <a:alpha val="16000"/>
                </a:srgbClr>
              </a:outerShdw>
            </a:effectLst>
          </p:spPr>
          <p:txBody>
            <a:bodyPr lIns="45718" tIns="45718" rIns="45718" bIns="45718"/>
            <a:lstStyle/>
            <a:p>
              <a:pPr>
                <a:defRPr>
                  <a:latin typeface="Calibri"/>
                  <a:ea typeface="Calibri"/>
                  <a:cs typeface="Calibri"/>
                  <a:sym typeface="Calibri"/>
                </a:defRPr>
              </a:pPr>
            </a:p>
          </p:txBody>
        </p:sp>
        <p:pic>
          <p:nvPicPr>
            <p:cNvPr id="24" name="incident-screenshot-1" descr="incident-screenshot-1"/>
            <p:cNvPicPr>
              <a:picLocks noChangeAspect="1"/>
            </p:cNvPicPr>
            <p:nvPr/>
          </p:nvPicPr>
          <p:blipFill>
            <a:blip r:embed="rId3">
              <a:extLst/>
            </a:blip>
            <a:stretch>
              <a:fillRect/>
            </a:stretch>
          </p:blipFill>
          <p:spPr>
            <a:xfrm rot="21414000">
              <a:off x="476250" y="916629"/>
              <a:ext cx="5219700" cy="1843392"/>
            </a:xfrm>
            <a:prstGeom prst="rect">
              <a:avLst/>
            </a:prstGeom>
            <a:ln w="12700">
              <a:miter lim="400000"/>
            </a:ln>
          </p:spPr>
        </p:pic>
      </p:grpSp>
      <p:grpSp>
        <p:nvGrpSpPr>
          <p:cNvPr id="2002" name="Photo 2"/>
          <p:cNvGrpSpPr/>
          <p:nvPr/>
        </p:nvGrpSpPr>
        <p:grpSpPr>
          <a:xfrm>
            <a:off x="3695700" y="781050"/>
            <a:ext cx="4819650" cy="895350"/>
            <a:chOff x="3695700" y="781050"/>
            <a:chExt cx="4819650" cy="895350"/>
          </a:xfrm>
        </p:grpSpPr>
        <p:sp>
          <p:nvSpPr>
            <p:cNvPr id="25" name="screenshot-shadow-2"/>
            <p:cNvSpPr/>
            <p:nvPr/>
          </p:nvSpPr>
          <p:spPr>
            <a:xfrm rot="150000">
              <a:off x="3695700" y="781050"/>
              <a:ext cx="4819650" cy="895350"/>
            </a:xfrm>
            <a:prstGeom prst="rect">
              <a:avLst/>
            </a:prstGeom>
            <a:solidFill>
              <a:srgbClr val="FFFFFF"/>
            </a:solidFill>
            <a:ln w="19050">
              <a:solidFill>
                <a:srgbClr val="FFFFFF"/>
              </a:solidFill>
            </a:ln>
            <a:effectLst>
              <a:outerShdw sx="100000" sy="100000" kx="0" ky="0" algn="b" rotWithShape="0" blurRad="177800" dist="57150" dir="5400000">
                <a:srgbClr val="000000">
                  <a:alpha val="16000"/>
                </a:srgbClr>
              </a:outerShdw>
            </a:effectLst>
          </p:spPr>
          <p:txBody>
            <a:bodyPr lIns="45718" tIns="45718" rIns="45718" bIns="45718"/>
            <a:lstStyle/>
            <a:p>
              <a:pPr>
                <a:defRPr>
                  <a:latin typeface="Calibri"/>
                  <a:ea typeface="Calibri"/>
                  <a:cs typeface="Calibri"/>
                  <a:sym typeface="Calibri"/>
                </a:defRPr>
              </a:pPr>
            </a:p>
          </p:txBody>
        </p:sp>
        <p:pic>
          <p:nvPicPr>
            <p:cNvPr id="26" name="incident-screenshot-2" descr="incident-screenshot-2"/>
            <p:cNvPicPr>
              <a:picLocks noChangeAspect="1"/>
            </p:cNvPicPr>
            <p:nvPr/>
          </p:nvPicPr>
          <p:blipFill>
            <a:blip r:embed="rId4">
              <a:extLst/>
            </a:blip>
            <a:stretch>
              <a:fillRect/>
            </a:stretch>
          </p:blipFill>
          <p:spPr>
            <a:xfrm rot="150000">
              <a:off x="3695700" y="781059"/>
              <a:ext cx="4819650" cy="895330"/>
            </a:xfrm>
            <a:prstGeom prst="rect">
              <a:avLst/>
            </a:prstGeom>
            <a:ln w="12700">
              <a:miter lim="400000"/>
            </a:ln>
          </p:spPr>
        </p:pic>
      </p:grpSp>
      <p:grpSp>
        <p:nvGrpSpPr>
          <p:cNvPr id="2003" name="Photo 3"/>
          <p:cNvGrpSpPr/>
          <p:nvPr/>
        </p:nvGrpSpPr>
        <p:grpSpPr>
          <a:xfrm>
            <a:off x="7486650" y="1095375"/>
            <a:ext cx="3790950" cy="2771775"/>
            <a:chOff x="7486650" y="1095375"/>
            <a:chExt cx="3790950" cy="2771775"/>
          </a:xfrm>
        </p:grpSpPr>
        <p:sp>
          <p:nvSpPr>
            <p:cNvPr id="27" name="screenshot-shadow-3"/>
            <p:cNvSpPr/>
            <p:nvPr/>
          </p:nvSpPr>
          <p:spPr>
            <a:xfrm rot="192001">
              <a:off x="7486650" y="1095375"/>
              <a:ext cx="3790950" cy="2771775"/>
            </a:xfrm>
            <a:prstGeom prst="rect">
              <a:avLst/>
            </a:prstGeom>
            <a:solidFill>
              <a:srgbClr val="FFFFFF"/>
            </a:solidFill>
            <a:ln w="19050">
              <a:solidFill>
                <a:srgbClr val="FFFFFF"/>
              </a:solidFill>
            </a:ln>
            <a:effectLst>
              <a:outerShdw sx="100000" sy="100000" kx="0" ky="0" algn="b" rotWithShape="0" blurRad="177800" dist="57150" dir="5400000">
                <a:srgbClr val="000000">
                  <a:alpha val="16000"/>
                </a:srgbClr>
              </a:outerShdw>
            </a:effectLst>
          </p:spPr>
          <p:txBody>
            <a:bodyPr lIns="45718" tIns="45718" rIns="45718" bIns="45718"/>
            <a:lstStyle/>
            <a:p>
              <a:pPr>
                <a:defRPr>
                  <a:latin typeface="Calibri"/>
                  <a:ea typeface="Calibri"/>
                  <a:cs typeface="Calibri"/>
                  <a:sym typeface="Calibri"/>
                </a:defRPr>
              </a:pPr>
            </a:p>
          </p:txBody>
        </p:sp>
        <p:pic>
          <p:nvPicPr>
            <p:cNvPr id="28" name="incident-screenshot-3" descr="incident-screenshot-3"/>
            <p:cNvPicPr>
              <a:picLocks noChangeAspect="1"/>
            </p:cNvPicPr>
            <p:nvPr/>
          </p:nvPicPr>
          <p:blipFill>
            <a:blip r:embed="rId5">
              <a:extLst/>
            </a:blip>
            <a:stretch>
              <a:fillRect/>
            </a:stretch>
          </p:blipFill>
          <p:spPr>
            <a:xfrm rot="192001">
              <a:off x="7486650" y="1095983"/>
              <a:ext cx="3790950" cy="2770559"/>
            </a:xfrm>
            <a:prstGeom prst="rect">
              <a:avLst/>
            </a:prstGeom>
            <a:ln w="12700">
              <a:miter lim="400000"/>
            </a:ln>
          </p:spPr>
        </p:pic>
      </p:grpSp>
      <p:grpSp>
        <p:nvGrpSpPr>
          <p:cNvPr id="2004" name="Photo 4"/>
          <p:cNvGrpSpPr/>
          <p:nvPr/>
        </p:nvGrpSpPr>
        <p:grpSpPr>
          <a:xfrm>
            <a:off x="1190625" y="2095500"/>
            <a:ext cx="3619500" cy="2990850"/>
            <a:chOff x="1190625" y="2095500"/>
            <a:chExt cx="3619500" cy="2990850"/>
          </a:xfrm>
        </p:grpSpPr>
        <p:sp>
          <p:nvSpPr>
            <p:cNvPr id="29" name="screenshot-shadow-4"/>
            <p:cNvSpPr/>
            <p:nvPr/>
          </p:nvSpPr>
          <p:spPr>
            <a:xfrm rot="21492001">
              <a:off x="1190625" y="2095500"/>
              <a:ext cx="3619500" cy="2990850"/>
            </a:xfrm>
            <a:prstGeom prst="rect">
              <a:avLst/>
            </a:prstGeom>
            <a:solidFill>
              <a:srgbClr val="FFFFFF"/>
            </a:solidFill>
            <a:ln w="19050">
              <a:solidFill>
                <a:srgbClr val="FFFFFF"/>
              </a:solidFill>
            </a:ln>
            <a:effectLst>
              <a:outerShdw sx="100000" sy="100000" kx="0" ky="0" algn="b" rotWithShape="0" blurRad="177800" dist="57150" dir="5400000">
                <a:srgbClr val="000000">
                  <a:alpha val="16000"/>
                </a:srgbClr>
              </a:outerShdw>
            </a:effectLst>
          </p:spPr>
          <p:txBody>
            <a:bodyPr lIns="45718" tIns="45718" rIns="45718" bIns="45718"/>
            <a:lstStyle/>
            <a:p>
              <a:pPr>
                <a:defRPr>
                  <a:latin typeface="Calibri"/>
                  <a:ea typeface="Calibri"/>
                  <a:cs typeface="Calibri"/>
                  <a:sym typeface="Calibri"/>
                </a:defRPr>
              </a:pPr>
            </a:p>
          </p:txBody>
        </p:sp>
        <p:pic>
          <p:nvPicPr>
            <p:cNvPr id="30" name="incident-screenshot-4" descr="incident-screenshot-4"/>
            <p:cNvPicPr>
              <a:picLocks noChangeAspect="1"/>
            </p:cNvPicPr>
            <p:nvPr/>
          </p:nvPicPr>
          <p:blipFill>
            <a:blip r:embed="rId6">
              <a:extLst/>
            </a:blip>
            <a:stretch>
              <a:fillRect/>
            </a:stretch>
          </p:blipFill>
          <p:spPr>
            <a:xfrm rot="21492001">
              <a:off x="1192240" y="2095500"/>
              <a:ext cx="3616270" cy="2990850"/>
            </a:xfrm>
            <a:prstGeom prst="rect">
              <a:avLst/>
            </a:prstGeom>
            <a:ln w="12700">
              <a:miter lim="400000"/>
            </a:ln>
          </p:spPr>
        </p:pic>
      </p:grpSp>
      <p:grpSp>
        <p:nvGrpSpPr>
          <p:cNvPr id="2005" name="Photo 5"/>
          <p:cNvGrpSpPr/>
          <p:nvPr/>
        </p:nvGrpSpPr>
        <p:grpSpPr>
          <a:xfrm>
            <a:off x="4524375" y="3429000"/>
            <a:ext cx="4857750" cy="1600200"/>
            <a:chOff x="4524375" y="3429000"/>
            <a:chExt cx="4857750" cy="1600200"/>
          </a:xfrm>
        </p:grpSpPr>
        <p:sp>
          <p:nvSpPr>
            <p:cNvPr id="31" name="screenshot-shadow-5"/>
            <p:cNvSpPr/>
            <p:nvPr/>
          </p:nvSpPr>
          <p:spPr>
            <a:xfrm rot="84000">
              <a:off x="4524375" y="3429000"/>
              <a:ext cx="4857750" cy="1600200"/>
            </a:xfrm>
            <a:prstGeom prst="rect">
              <a:avLst/>
            </a:prstGeom>
            <a:solidFill>
              <a:srgbClr val="FFFFFF"/>
            </a:solidFill>
            <a:ln w="19050">
              <a:solidFill>
                <a:srgbClr val="FFFFFF"/>
              </a:solidFill>
            </a:ln>
            <a:effectLst>
              <a:outerShdw sx="100000" sy="100000" kx="0" ky="0" algn="b" rotWithShape="0" blurRad="177800" dist="57150" dir="5400000">
                <a:srgbClr val="000000">
                  <a:alpha val="16000"/>
                </a:srgbClr>
              </a:outerShdw>
            </a:effectLst>
          </p:spPr>
          <p:txBody>
            <a:bodyPr lIns="45718" tIns="45718" rIns="45718" bIns="45718"/>
            <a:lstStyle/>
            <a:p>
              <a:pPr>
                <a:defRPr>
                  <a:latin typeface="Calibri"/>
                  <a:ea typeface="Calibri"/>
                  <a:cs typeface="Calibri"/>
                  <a:sym typeface="Calibri"/>
                </a:defRPr>
              </a:pPr>
            </a:p>
          </p:txBody>
        </p:sp>
        <p:pic>
          <p:nvPicPr>
            <p:cNvPr id="32" name="incident-screenshot-5" descr="incident-screenshot-5"/>
            <p:cNvPicPr>
              <a:picLocks noChangeAspect="1"/>
            </p:cNvPicPr>
            <p:nvPr/>
          </p:nvPicPr>
          <p:blipFill>
            <a:blip r:embed="rId7">
              <a:extLst/>
            </a:blip>
            <a:stretch>
              <a:fillRect/>
            </a:stretch>
          </p:blipFill>
          <p:spPr>
            <a:xfrm rot="84000">
              <a:off x="4528456" y="3429000"/>
              <a:ext cx="4849589" cy="1600200"/>
            </a:xfrm>
            <a:prstGeom prst="rect">
              <a:avLst/>
            </a:prstGeom>
            <a:ln w="12700">
              <a:miter lim="400000"/>
            </a:ln>
          </p:spPr>
        </p:pic>
      </p:grpSp>
      <p:sp>
        <p:nvSpPr>
          <p:cNvPr id="33" name="statement-accent"/>
          <p:cNvSpPr/>
          <p:nvPr/>
        </p:nvSpPr>
        <p:spPr>
          <a:xfrm>
            <a:off x="552450" y="5381625"/>
            <a:ext cx="66675" cy="971550"/>
          </a:xfrm>
          <a:prstGeom prst="rect">
            <a:avLst/>
          </a:prstGeom>
          <a:solidFill>
            <a:srgbClr val="FF6B35"/>
          </a:solidFill>
          <a:ln w="12700">
            <a:miter lim="400000"/>
          </a:ln>
        </p:spPr>
        <p:txBody>
          <a:bodyPr lIns="45718" tIns="45718" rIns="45718" bIns="45718"/>
          <a:lstStyle/>
          <a:p>
            <a:pPr>
              <a:defRPr>
                <a:latin typeface="Calibri"/>
                <a:ea typeface="Calibri"/>
                <a:cs typeface="Calibri"/>
                <a:sym typeface="Calibri"/>
              </a:defRPr>
            </a:pPr>
          </a:p>
        </p:txBody>
      </p:sp>
      <p:sp>
        <p:nvSpPr>
          <p:cNvPr id="34" name="opening-statement"/>
          <p:cNvSpPr txBox="1"/>
          <p:nvPr/>
        </p:nvSpPr>
        <p:spPr>
          <a:xfrm>
            <a:off x="819150" y="5276850"/>
            <a:ext cx="10820400" cy="1181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p>
            <a:pPr>
              <a:defRPr b="1" sz="3600">
                <a:solidFill>
                  <a:srgbClr val="F4F8FA"/>
                </a:solidFill>
                <a:latin typeface="Aptos Display"/>
                <a:ea typeface="Aptos Display"/>
                <a:cs typeface="Aptos Display"/>
                <a:sym typeface="Aptos Display"/>
              </a:defRPr>
            </a:pPr>
            <a:r>
              <a:t>AI agents should never be left unattended</a:t>
            </a:r>
          </a:p>
          <a:p>
            <a:pPr>
              <a:defRPr b="1" sz="3600">
                <a:solidFill>
                  <a:srgbClr val="F4F8FA"/>
                </a:solidFill>
                <a:latin typeface="Aptos Display"/>
                <a:ea typeface="Aptos Display"/>
                <a:cs typeface="Aptos Display"/>
                <a:sym typeface="Aptos Display"/>
              </a:defRPr>
            </a:pPr>
            <a:r>
              <a:t>without </a:t>
            </a:r>
            <a:r>
              <a:rPr>
                <a:solidFill>
                  <a:srgbClr val="FF6B35"/>
                </a:solidFill>
              </a:rPr>
              <a:t>a sandbox</a:t>
            </a:r>
          </a:p>
        </p:txBody>
      </p:sp>
      <p:pic>
        <p:nvPicPr>
          <p:cNvPr id="35" name="docker-mark-1" descr="docker-mark-1"/>
          <p:cNvPicPr>
            <a:picLocks noChangeAspect="1"/>
          </p:cNvPicPr>
          <p:nvPr/>
        </p:nvPicPr>
        <p:blipFill>
          <a:blip r:embed="rId8">
            <a:extLst/>
          </a:blip>
          <a:stretch>
            <a:fillRect/>
          </a:stretch>
        </p:blipFill>
        <p:spPr>
          <a:xfrm>
            <a:off x="654684" y="257175"/>
            <a:ext cx="386082" cy="304800"/>
          </a:xfrm>
          <a:prstGeom prst="rect">
            <a:avLst/>
          </a:prstGeom>
          <a:ln w="12700">
            <a:miter lim="400000"/>
          </a:ln>
        </p:spPr>
      </p:pic>
      <p:pic>
        <p:nvPicPr>
          <p:cNvPr id="2006" name="Yuval Avidani post supplied by user" descr="Yuval Avidani post supplied by user"/>
          <p:cNvPicPr>
            <a:picLocks noChangeAspect="1"/>
          </p:cNvPicPr>
          <p:nvPr/>
        </p:nvPicPr>
        <p:blipFill>
          <a:blip r:embed="rId9"/>
          <a:srcRect t="4375" b="51250"/>
          <a:stretch>
            <a:fillRect/>
          </a:stretch>
        </p:blipFill>
        <p:spPr>
          <a:xfrm rot="180000">
            <a:off x="6477000" y="1104900"/>
            <a:ext cx="3810000" cy="3667125"/>
          </a:xfrm>
          <a:prstGeom prst="rect">
            <a:avLst/>
          </a:prstGeom>
          <a:ln w="12700">
            <a:solidFill>
              <a:srgbClr val="FFFFFF"/>
            </a:solidFill>
          </a:ln>
        </p:spPr>
      </p:pic>
      <p:pic>
        <p:nvPicPr>
          <p:cNvPr id="2007" name="BBC News headline about the Hugging Face breach" descr="News clipping of the actual BBC headline published 22 July 2026. Typeset from the article text, not a webpage screenshot. Source: https://www.bbc.com/news/articles/c3ek3gvdnj3o"/>
          <p:cNvPicPr>
            <a:picLocks noChangeAspect="1"/>
          </p:cNvPicPr>
          <p:nvPr/>
        </p:nvPicPr>
        <p:blipFill>
          <a:blip r:embed="rId10"/>
          <a:stretch>
            <a:fillRect/>
          </a:stretch>
        </p:blipFill>
        <p:spPr>
          <a:xfrm rot="-120000">
            <a:off x="3238500" y="1524000"/>
            <a:ext cx="7048500" cy="3171825"/>
          </a:xfrm>
          <a:prstGeom prst="rect">
            <a:avLst/>
          </a:prstGeom>
          <a:ln w="12700">
            <a:solidFill>
              <a:srgbClr val="FFFFFF"/>
            </a:solidFill>
          </a:ln>
        </p:spPr>
      </p:pic>
    </p:spTree>
  </p:cSld>
  <p:clrMapOvr>
    <a:masterClrMapping/>
  </p:clrMapOvr>
  <p:transition xmlns:p14="http://schemas.microsoft.com/office/powerpoint/2010/main" spd="med" advClick="1"/>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resetSubtype="0">
                                  <p:stCondLst>
                                    <p:cond delay="0"/>
                                  </p:stCondLst>
                                  <p:childTnLst>
                                    <p:set>
                                      <p:cBhvr>
                                        <p:cTn id="6" dur="0" fill="hold">
                                          <p:stCondLst>
                                            <p:cond delay="0"/>
                                          </p:stCondLst>
                                        </p:cTn>
                                        <p:tgtEl>
                                          <p:spTgt spid="2001"/>
                                        </p:tgtEl>
                                        <p:attrNameLst>
                                          <p:attrName>style.visibility</p:attrName>
                                        </p:attrNameLst>
                                      </p:cBhvr>
                                      <p:to>
                                        <p:strVal val="visible"/>
                                      </p:to>
                                    </p:set>
                                    <p:animEffect transition="in" filter="fade">
                                      <p:cBhvr additive="repl">
                                        <p:cTn id="7" dur="500" fill="hold">
                                          <p:stCondLst>
                                            <p:cond delay="0"/>
                                          </p:stCondLst>
                                        </p:cTn>
                                        <p:tgtEl>
                                          <p:spTgt spid="20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resetSubtype="0">
                                  <p:stCondLst>
                                    <p:cond delay="0"/>
                                  </p:stCondLst>
                                  <p:childTnLst>
                                    <p:set>
                                      <p:cBhvr>
                                        <p:cTn id="11" dur="0" fill="hold">
                                          <p:stCondLst>
                                            <p:cond delay="0"/>
                                          </p:stCondLst>
                                        </p:cTn>
                                        <p:tgtEl>
                                          <p:spTgt spid="2002"/>
                                        </p:tgtEl>
                                        <p:attrNameLst>
                                          <p:attrName>style.visibility</p:attrName>
                                        </p:attrNameLst>
                                      </p:cBhvr>
                                      <p:to>
                                        <p:strVal val="visible"/>
                                      </p:to>
                                    </p:set>
                                    <p:animEffect transition="in" filter="fade">
                                      <p:cBhvr additive="repl">
                                        <p:cTn id="12" dur="500" fill="hold">
                                          <p:stCondLst>
                                            <p:cond delay="0"/>
                                          </p:stCondLst>
                                        </p:cTn>
                                        <p:tgtEl>
                                          <p:spTgt spid="200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resetSubtype="0">
                                  <p:stCondLst>
                                    <p:cond delay="0"/>
                                  </p:stCondLst>
                                  <p:childTnLst>
                                    <p:set>
                                      <p:cBhvr>
                                        <p:cTn id="16" dur="0" fill="hold">
                                          <p:stCondLst>
                                            <p:cond delay="0"/>
                                          </p:stCondLst>
                                        </p:cTn>
                                        <p:tgtEl>
                                          <p:spTgt spid="2003"/>
                                        </p:tgtEl>
                                        <p:attrNameLst>
                                          <p:attrName>style.visibility</p:attrName>
                                        </p:attrNameLst>
                                      </p:cBhvr>
                                      <p:to>
                                        <p:strVal val="visible"/>
                                      </p:to>
                                    </p:set>
                                    <p:animEffect transition="in" filter="fade">
                                      <p:cBhvr additive="repl">
                                        <p:cTn id="17" dur="500" fill="hold">
                                          <p:stCondLst>
                                            <p:cond delay="0"/>
                                          </p:stCondLst>
                                        </p:cTn>
                                        <p:tgtEl>
                                          <p:spTgt spid="200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fill="hold" nodeType="clickEffect" presetSubtype="0">
                                  <p:stCondLst>
                                    <p:cond delay="0"/>
                                  </p:stCondLst>
                                  <p:childTnLst>
                                    <p:set>
                                      <p:cBhvr>
                                        <p:cTn id="21" dur="0" fill="hold">
                                          <p:stCondLst>
                                            <p:cond delay="0"/>
                                          </p:stCondLst>
                                        </p:cTn>
                                        <p:tgtEl>
                                          <p:spTgt spid="2004"/>
                                        </p:tgtEl>
                                        <p:attrNameLst>
                                          <p:attrName>style.visibility</p:attrName>
                                        </p:attrNameLst>
                                      </p:cBhvr>
                                      <p:to>
                                        <p:strVal val="visible"/>
                                      </p:to>
                                    </p:set>
                                    <p:animEffect transition="in" filter="fade">
                                      <p:cBhvr additive="repl">
                                        <p:cTn id="22" dur="500" fill="hold">
                                          <p:stCondLst>
                                            <p:cond delay="0"/>
                                          </p:stCondLst>
                                        </p:cTn>
                                        <p:tgtEl>
                                          <p:spTgt spid="200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fill="hold" nodeType="clickEffect" presetSubtype="0">
                                  <p:stCondLst>
                                    <p:cond delay="0"/>
                                  </p:stCondLst>
                                  <p:childTnLst>
                                    <p:set>
                                      <p:cBhvr>
                                        <p:cTn id="26" dur="0" fill="hold">
                                          <p:stCondLst>
                                            <p:cond delay="0"/>
                                          </p:stCondLst>
                                        </p:cTn>
                                        <p:tgtEl>
                                          <p:spTgt spid="2005"/>
                                        </p:tgtEl>
                                        <p:attrNameLst>
                                          <p:attrName>style.visibility</p:attrName>
                                        </p:attrNameLst>
                                      </p:cBhvr>
                                      <p:to>
                                        <p:strVal val="visible"/>
                                      </p:to>
                                    </p:set>
                                    <p:animEffect transition="in" filter="fade">
                                      <p:cBhvr additive="repl">
                                        <p:cTn id="27" dur="500" fill="hold">
                                          <p:stCondLst>
                                            <p:cond delay="0"/>
                                          </p:stCondLst>
                                        </p:cTn>
                                        <p:tgtEl>
                                          <p:spTgt spid="20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fill="hold" nodeType="clickEffect" presetSubtype="0">
                                  <p:stCondLst>
                                    <p:cond delay="0"/>
                                  </p:stCondLst>
                                  <p:childTnLst>
                                    <p:set>
                                      <p:cBhvr>
                                        <p:cTn id="31" dur="0" fill="hold">
                                          <p:stCondLst>
                                            <p:cond delay="0"/>
                                          </p:stCondLst>
                                        </p:cTn>
                                        <p:tgtEl>
                                          <p:spTgt spid="2006"/>
                                        </p:tgtEl>
                                        <p:attrNameLst>
                                          <p:attrName>style.visibility</p:attrName>
                                        </p:attrNameLst>
                                      </p:cBhvr>
                                      <p:to>
                                        <p:strVal val="visible"/>
                                      </p:to>
                                    </p:set>
                                    <p:animEffect transition="in" filter="fade">
                                      <p:cBhvr additive="repl">
                                        <p:cTn id="32" dur="500" fill="hold">
                                          <p:stCondLst>
                                            <p:cond delay="0"/>
                                          </p:stCondLst>
                                        </p:cTn>
                                        <p:tgtEl>
                                          <p:spTgt spid="200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fill="hold" nodeType="clickEffect" presetSubtype="0">
                                  <p:stCondLst>
                                    <p:cond delay="0"/>
                                  </p:stCondLst>
                                  <p:childTnLst>
                                    <p:set>
                                      <p:cBhvr>
                                        <p:cTn id="36" dur="0" fill="hold">
                                          <p:stCondLst>
                                            <p:cond delay="0"/>
                                          </p:stCondLst>
                                        </p:cTn>
                                        <p:tgtEl>
                                          <p:spTgt spid="2007"/>
                                        </p:tgtEl>
                                        <p:attrNameLst>
                                          <p:attrName>style.visibility</p:attrName>
                                        </p:attrNameLst>
                                      </p:cBhvr>
                                      <p:to>
                                        <p:strVal val="visible"/>
                                      </p:to>
                                    </p:set>
                                    <p:animEffect transition="in" filter="fade">
                                      <p:cBhvr additive="repl">
                                        <p:cTn id="37" dur="500" fill="hold">
                                          <p:stCondLst>
                                            <p:cond delay="0"/>
                                          </p:stCondLst>
                                        </p:cTn>
                                        <p:tgtEl>
                                          <p:spTgt spid="20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spid="2001" grpId="0" animBg="1"/>
      <p:bldP spid="2002" grpId="0" animBg="1"/>
      <p:bldP spid="2003" grpId="0" animBg="1"/>
      <p:bldP spid="2004" grpId="0" animBg="1"/>
      <p:bldP spid="2005" grpId="0" animBg="1"/>
      <p:bldP spid="2006" grpId="0" animBg="1"/>
      <p:bldP spid="2007" grpId="0" animBg="1"/>
    </p:bldLst>
  </p:timing>
</p:sld>
</file>

<file path=ppt/slides/slide2.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39" name="template-title">
            <a:extLst xmlns:a="http://schemas.openxmlformats.org/drawingml/2006/main">
              <a:ext uri="{FF2B5EF4-FFF2-40B4-BE49-F238E27FC236}">
                <a16:creationId xmlns:a16="http://schemas.microsoft.com/office/drawing/2014/main" id="{3D2117B7-FD6E-4C13-8EE8-03595DB0F78B}"/>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100" b="1">
                <a:solidFill>
                  <a:srgbClr val="F7FBFD"/>
                </a:solidFill>
                <a:latin typeface="Aptos Display"/>
                <a:ea typeface="Aptos Display"/>
                <a:cs typeface="Aptos Display"/>
              </a:defRPr>
            </a:lvl1pPr>
          </a:lstStyle>
          <a:p xmlns:a="http://schemas.openxmlformats.org/drawingml/2006/main">
            <a:pPr>
              <a:buNone/>
            </a:pPr>
            <a:r>
              <a:t>Unrestricted permissions / YOLO mode on your host</a:t>
            </a:r>
          </a:p>
        </p:txBody>
      </p:sp>
      <p:sp>
        <p:nvSpPr>
          <p:cNvPr id="40" name="section-label-2">
            <a:extLst xmlns:a="http://schemas.openxmlformats.org/drawingml/2006/main">
              <a:ext uri="{FF2B5EF4-FFF2-40B4-BE49-F238E27FC236}">
                <a16:creationId xmlns:a16="http://schemas.microsoft.com/office/drawing/2014/main" id="{CC245DFB-A292-459F-BA60-EB5AF2BB027A}"/>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COMMON SANDBOXING APPROACHES</a:t>
            </a:r>
          </a:p>
        </p:txBody>
      </p:sp>
      <p:sp>
        <p:nvSpPr>
          <p:cNvPr id="41" name="Rounded Rectangle 13">
            <a:extLst xmlns:a="http://schemas.openxmlformats.org/drawingml/2006/main">
              <a:ext uri="{FF2B5EF4-FFF2-40B4-BE49-F238E27FC236}">
                <a16:creationId xmlns:a16="http://schemas.microsoft.com/office/drawing/2014/main" id="{EC4E5E08-62B1-4BA4-B42D-AF14BF7CB304}"/>
              </a:ext>
            </a:extLst>
          </p:cNvPr>
          <p:cNvSpPr>
            <a:spLocks xmlns:a="http://schemas.openxmlformats.org/drawingml/2006/main" noGrp="1"/>
          </p:cNvSpPr>
          <p:nvPr/>
        </p:nvSpPr>
        <p:spPr>
          <a:xfrm xmlns:a="http://schemas.openxmlformats.org/drawingml/2006/main">
            <a:off x="619125" y="1800225"/>
            <a:ext cx="10953750" cy="1143000"/>
          </a:xfrm>
          <a:prstGeom xmlns:a="http://schemas.openxmlformats.org/drawingml/2006/main" prst="roundRect">
            <a:avLst>
              <a:gd name="adj" fmla="val 6667"/>
            </a:avLst>
          </a:prstGeom>
          <a:ln xmlns:a="http://schemas.openxmlformats.org/drawingml/2006/main">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pic>
        <p:nvPicPr>
          <p:cNvPr id="53" name="full-permissions-screenshot"/>
          <p:cNvPicPr>
            <a:picLocks xmlns:a="http://schemas.openxmlformats.org/drawingml/2006/main" noChangeAspect="1"/>
          </p:cNvPicPr>
          <p:nvPr/>
        </p:nvPicPr>
        <p:blipFill>
          <a:blip xmlns:r="http://schemas.openxmlformats.org/officeDocument/2006/relationships" xmlns:a="http://schemas.openxmlformats.org/drawingml/2006/main" r:embed="R9f80e0a2aa214acc"/>
          <a:stretch xmlns:a="http://schemas.openxmlformats.org/drawingml/2006/main">
            <a:fillRect l="0" t="0" r="0" b="0"/>
          </a:stretch>
        </p:blipFill>
        <p:spPr>
          <a:xfrm xmlns:a="http://schemas.openxmlformats.org/drawingml/2006/main">
            <a:off x="709101" y="1885950"/>
            <a:ext cx="10773797" cy="971550"/>
          </a:xfrm>
          <a:ln xmlns:a="http://schemas.openxmlformats.org/drawingml/2006/main" w="12700">
            <a:miter/>
          </a:ln>
        </p:spPr>
      </p:pic>
      <p:sp>
        <p:nvSpPr>
          <p:cNvPr id="43" name="danger-callout">
            <a:extLst xmlns:a="http://schemas.openxmlformats.org/drawingml/2006/main">
              <a:ext uri="{FF2B5EF4-FFF2-40B4-BE49-F238E27FC236}">
                <a16:creationId xmlns:a16="http://schemas.microsoft.com/office/drawing/2014/main" id="{A4D5C487-8188-46B2-BD8C-EA4C384C89F4}"/>
              </a:ext>
            </a:extLst>
          </p:cNvPr>
          <p:cNvSpPr>
            <a:spLocks xmlns:a="http://schemas.openxmlformats.org/drawingml/2006/main" noGrp="1"/>
          </p:cNvSpPr>
          <p:nvPr/>
        </p:nvSpPr>
        <p:spPr>
          <a:xfrm xmlns:a="http://schemas.openxmlformats.org/drawingml/2006/main">
            <a:off x="552450" y="3333750"/>
            <a:ext cx="11087100" cy="1809750"/>
          </a:xfrm>
          <a:prstGeom xmlns:a="http://schemas.openxmlformats.org/drawingml/2006/main" prst="roundRect">
            <a:avLst>
              <a:gd name="adj" fmla="val 8421"/>
            </a:avLst>
          </a:prstGeom>
          <a:ln xmlns:a="http://schemas.openxmlformats.org/drawingml/2006/main" w="19050">
            <a:solidFill>
              <a:srgbClr val="FF6C2F"/>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44" name="danger-heading">
            <a:extLst xmlns:a="http://schemas.openxmlformats.org/drawingml/2006/main">
              <a:ext uri="{FF2B5EF4-FFF2-40B4-BE49-F238E27FC236}">
                <a16:creationId xmlns:a16="http://schemas.microsoft.com/office/drawing/2014/main" id="{BD9CD486-43D1-4CC4-BB24-DFA48A425F3B}"/>
              </a:ext>
            </a:extLst>
          </p:cNvPr>
          <p:cNvSpPr>
            <a:spLocks xmlns:a="http://schemas.openxmlformats.org/drawingml/2006/main" noGrp="1"/>
          </p:cNvSpPr>
          <p:nvPr/>
        </p:nvSpPr>
        <p:spPr>
          <a:xfrm xmlns:a="http://schemas.openxmlformats.org/drawingml/2006/main">
            <a:off x="922018" y="3638551"/>
            <a:ext cx="3337564" cy="4978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2700" b="1">
                <a:solidFill>
                  <a:srgbClr val="FF6C2F"/>
                </a:solidFill>
                <a:latin typeface="Aptos"/>
                <a:ea typeface="Aptos"/>
                <a:cs typeface="Aptos"/>
              </a:defRPr>
            </a:lvl1pPr>
          </a:lstStyle>
          <a:p xmlns:a="http://schemas.openxmlformats.org/drawingml/2006/main">
            <a:pPr>
              <a:buNone/>
            </a:pPr>
            <a:r>
              <a:t>NEVER. EVER.</a:t>
            </a:r>
          </a:p>
        </p:txBody>
      </p:sp>
      <p:sp>
        <p:nvSpPr>
          <p:cNvPr id="45" name="danger-copy">
            <a:extLst xmlns:a="http://schemas.openxmlformats.org/drawingml/2006/main">
              <a:ext uri="{FF2B5EF4-FFF2-40B4-BE49-F238E27FC236}">
                <a16:creationId xmlns:a16="http://schemas.microsoft.com/office/drawing/2014/main" id="{1B09B6C6-5333-4F8B-B9D0-EE3444989A6F}"/>
              </a:ext>
            </a:extLst>
          </p:cNvPr>
          <p:cNvSpPr>
            <a:spLocks xmlns:a="http://schemas.openxmlformats.org/drawingml/2006/main" noGrp="1"/>
          </p:cNvSpPr>
          <p:nvPr/>
        </p:nvSpPr>
        <p:spPr>
          <a:xfrm xmlns:a="http://schemas.openxmlformats.org/drawingml/2006/main">
            <a:off x="922018" y="4248151"/>
            <a:ext cx="9624064" cy="3962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2000">
                <a:solidFill>
                  <a:srgbClr val="F7FBFD"/>
                </a:solidFill>
                <a:latin typeface="Aptos"/>
                <a:ea typeface="Aptos"/>
                <a:cs typeface="Aptos"/>
              </a:defRPr>
            </a:lvl1pPr>
          </a:lstStyle>
          <a:p xmlns:a="http://schemas.openxmlformats.org/drawingml/2006/main">
            <a:pPr>
              <a:buNone/>
            </a:pPr>
            <a:r>
              <a:t>Unless you want to play with fire.</a:t>
            </a:r>
          </a:p>
        </p:txBody>
      </p:sp>
      <p:sp>
        <p:nvSpPr>
          <p:cNvPr id="46" name="top-accent-1">
            <a:extLst xmlns:a="http://schemas.openxmlformats.org/drawingml/2006/main">
              <a:ext uri="{FF2B5EF4-FFF2-40B4-BE49-F238E27FC236}">
                <a16:creationId xmlns:a16="http://schemas.microsoft.com/office/drawing/2014/main" id="{1ED91A49-3F17-47F1-9921-B4196F1EDF97}"/>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47" name="deck-label-1">
            <a:extLst xmlns:a="http://schemas.openxmlformats.org/drawingml/2006/main">
              <a:ext uri="{FF2B5EF4-FFF2-40B4-BE49-F238E27FC236}">
                <a16:creationId xmlns:a16="http://schemas.microsoft.com/office/drawing/2014/main" id="{94B4969C-0684-4A2C-A1FC-20200580A43B}"/>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59" name="docker-mark-1"/>
          <p:cNvPicPr>
            <a:picLocks xmlns:a="http://schemas.openxmlformats.org/drawingml/2006/main" noChangeAspect="1"/>
          </p:cNvPicPr>
          <p:nvPr/>
        </p:nvPicPr>
        <p:blipFill>
          <a:blip xmlns:r="http://schemas.openxmlformats.org/officeDocument/2006/relationships" xmlns:a="http://schemas.openxmlformats.org/drawingml/2006/main" r:embed="R404e10b3c94b4d8d"/>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1812627120"/>
      </p:ext>
    </p:extLst>
  </p:cSld>
</p:sld>
</file>

<file path=ppt/slides/slide3.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52" name="template-title">
            <a:extLst xmlns:a="http://schemas.openxmlformats.org/drawingml/2006/main">
              <a:ext uri="{FF2B5EF4-FFF2-40B4-BE49-F238E27FC236}">
                <a16:creationId xmlns:a16="http://schemas.microsoft.com/office/drawing/2014/main" id="{617EC569-96CA-4540-939A-D7908F7C54C4}"/>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400" b="1">
                <a:solidFill>
                  <a:srgbClr val="F7FBFD"/>
                </a:solidFill>
                <a:latin typeface="Aptos Display"/>
                <a:ea typeface="Aptos Display"/>
                <a:cs typeface="Aptos Display"/>
              </a:defRPr>
            </a:lvl1pPr>
          </a:lstStyle>
          <a:p xmlns:a="http://schemas.openxmlformats.org/drawingml/2006/main">
            <a:pPr>
              <a:buNone/>
            </a:pPr>
            <a:r>
              <a:t>Manually approving every tool run</a:t>
            </a:r>
          </a:p>
        </p:txBody>
      </p:sp>
      <p:sp>
        <p:nvSpPr>
          <p:cNvPr id="53" name="section-label-2">
            <a:extLst xmlns:a="http://schemas.openxmlformats.org/drawingml/2006/main">
              <a:ext uri="{FF2B5EF4-FFF2-40B4-BE49-F238E27FC236}">
                <a16:creationId xmlns:a16="http://schemas.microsoft.com/office/drawing/2014/main" id="{D2B0132A-1E49-4275-AB0A-C3ECC48B51AA}"/>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COMMON SANDBOXING APPROACHES</a:t>
            </a:r>
          </a:p>
        </p:txBody>
      </p:sp>
      <p:sp>
        <p:nvSpPr>
          <p:cNvPr id="54" name="manual-approval-bullets">
            <a:extLst xmlns:a="http://schemas.openxmlformats.org/drawingml/2006/main">
              <a:ext uri="{FF2B5EF4-FFF2-40B4-BE49-F238E27FC236}">
                <a16:creationId xmlns:a16="http://schemas.microsoft.com/office/drawing/2014/main" id="{B7118008-85F7-4758-971F-9FC1B68E90EB}"/>
              </a:ext>
            </a:extLst>
          </p:cNvPr>
          <p:cNvSpPr>
            <a:spLocks xmlns:a="http://schemas.openxmlformats.org/drawingml/2006/main" noGrp="1"/>
          </p:cNvSpPr>
          <p:nvPr/>
        </p:nvSpPr>
        <p:spPr>
          <a:xfrm xmlns:a="http://schemas.openxmlformats.org/drawingml/2006/main">
            <a:off x="598168" y="1952625"/>
            <a:ext cx="5242564" cy="1755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p xmlns:a="http://schemas.openxmlformats.org/drawingml/2006/main">
            <a:pPr marL="24" indent="-16">
              <a:spcBef>
                <a:spcPts val="1500"/>
              </a:spcBef>
              <a:buSzPct val="100000"/>
              <a:buChar char="•"/>
              <a:defRPr sz="2400">
                <a:solidFill>
                  <a:srgbClr val="F7FBFD"/>
                </a:solidFill>
                <a:latin typeface="Aptos"/>
                <a:ea typeface="Aptos"/>
                <a:cs typeface="Aptos"/>
              </a:defRPr>
            </a:pPr>
            <a:r>
              <a:t> No agent autonomy; every step requires constant babysitting.</a:t>
            </a:r>
          </a:p>
          <a:p xmlns:a="http://schemas.openxmlformats.org/drawingml/2006/main">
            <a:pPr marL="24" indent="-16">
              <a:spcBef>
                <a:spcPts val="1500"/>
              </a:spcBef>
              <a:buSzPct val="100000"/>
              <a:buChar char="•"/>
              <a:defRPr sz="2400">
                <a:solidFill>
                  <a:srgbClr val="F7FBFD"/>
                </a:solidFill>
                <a:latin typeface="Aptos"/>
                <a:ea typeface="Aptos"/>
                <a:cs typeface="Aptos"/>
              </a:defRPr>
            </a:pPr>
            <a:r>
              <a:t> Humans cannot reliably identify every subtle or multi-step attacks.</a:t>
            </a:r>
          </a:p>
        </p:txBody>
      </p:sp>
      <p:sp>
        <p:nvSpPr>
          <p:cNvPr id="55" name="Rounded Rectangle 14">
            <a:extLst xmlns:a="http://schemas.openxmlformats.org/drawingml/2006/main">
              <a:ext uri="{FF2B5EF4-FFF2-40B4-BE49-F238E27FC236}">
                <a16:creationId xmlns:a16="http://schemas.microsoft.com/office/drawing/2014/main" id="{599F9034-9FC2-4861-9442-138CB72F22F4}"/>
              </a:ext>
            </a:extLst>
          </p:cNvPr>
          <p:cNvSpPr>
            <a:spLocks xmlns:a="http://schemas.openxmlformats.org/drawingml/2006/main" noGrp="1"/>
          </p:cNvSpPr>
          <p:nvPr/>
        </p:nvSpPr>
        <p:spPr>
          <a:xfrm xmlns:a="http://schemas.openxmlformats.org/drawingml/2006/main">
            <a:off x="6534150" y="1762125"/>
            <a:ext cx="5038725" cy="2838450"/>
          </a:xfrm>
          <a:prstGeom xmlns:a="http://schemas.openxmlformats.org/drawingml/2006/main" prst="roundRect">
            <a:avLst>
              <a:gd name="adj" fmla="val 2685"/>
            </a:avLst>
          </a:prstGeom>
          <a:ln xmlns:a="http://schemas.openxmlformats.org/drawingml/2006/main">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pic>
        <p:nvPicPr>
          <p:cNvPr id="65" name="manual-permissions-screenshot"/>
          <p:cNvPicPr>
            <a:picLocks xmlns:a="http://schemas.openxmlformats.org/drawingml/2006/main" noChangeAspect="1"/>
          </p:cNvPicPr>
          <p:nvPr/>
        </p:nvPicPr>
        <p:blipFill>
          <a:blip xmlns:r="http://schemas.openxmlformats.org/officeDocument/2006/relationships" xmlns:a="http://schemas.openxmlformats.org/drawingml/2006/main" r:embed="R777c49fec6434a9e"/>
          <a:srcRect xmlns:a="http://schemas.openxmlformats.org/drawingml/2006/main" l="0" t="0" r="0" b="6"/>
          <a:stretch xmlns:a="http://schemas.openxmlformats.org/drawingml/2006/main">
            <a:fillRect l="0" t="0" r="0" b="0"/>
          </a:stretch>
        </p:blipFill>
        <p:spPr>
          <a:xfrm xmlns:a="http://schemas.openxmlformats.org/drawingml/2006/main">
            <a:off x="6619875" y="1850343"/>
            <a:ext cx="4867275" cy="2661841"/>
          </a:xfrm>
          <a:ln xmlns:a="http://schemas.openxmlformats.org/drawingml/2006/main" w="12700">
            <a:miter/>
          </a:ln>
        </p:spPr>
      </p:pic>
      <p:sp>
        <p:nvSpPr>
          <p:cNvPr id="57" name="top-accent-1">
            <a:extLst xmlns:a="http://schemas.openxmlformats.org/drawingml/2006/main">
              <a:ext uri="{FF2B5EF4-FFF2-40B4-BE49-F238E27FC236}">
                <a16:creationId xmlns:a16="http://schemas.microsoft.com/office/drawing/2014/main" id="{70EF201B-CEC2-49D1-8F79-7E7BA618FC8C}"/>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58" name="deck-label-1">
            <a:extLst xmlns:a="http://schemas.openxmlformats.org/drawingml/2006/main">
              <a:ext uri="{FF2B5EF4-FFF2-40B4-BE49-F238E27FC236}">
                <a16:creationId xmlns:a16="http://schemas.microsoft.com/office/drawing/2014/main" id="{8687C4AF-211B-4763-90DB-C8827B19EC19}"/>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68" name="docker-mark-1"/>
          <p:cNvPicPr>
            <a:picLocks xmlns:a="http://schemas.openxmlformats.org/drawingml/2006/main" noChangeAspect="1"/>
          </p:cNvPicPr>
          <p:nvPr/>
        </p:nvPicPr>
        <p:blipFill>
          <a:blip xmlns:r="http://schemas.openxmlformats.org/officeDocument/2006/relationships" xmlns:a="http://schemas.openxmlformats.org/drawingml/2006/main" r:embed="Re342810e84174ab6"/>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627297987"/>
      </p:ext>
    </p:extLst>
  </p:cSld>
</p:sld>
</file>

<file path=ppt/slides/slide4.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63" name="template-title">
            <a:extLst xmlns:a="http://schemas.openxmlformats.org/drawingml/2006/main">
              <a:ext uri="{FF2B5EF4-FFF2-40B4-BE49-F238E27FC236}">
                <a16:creationId xmlns:a16="http://schemas.microsoft.com/office/drawing/2014/main" id="{C8CEA85F-F979-42F0-B153-D7B24A1D5DFA}"/>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400" b="1">
                <a:solidFill>
                  <a:srgbClr val="F7FBFD"/>
                </a:solidFill>
                <a:latin typeface="Aptos Display"/>
                <a:ea typeface="Aptos Display"/>
                <a:cs typeface="Aptos Display"/>
              </a:defRPr>
            </a:lvl1pPr>
          </a:lstStyle>
          <a:p xmlns:a="http://schemas.openxmlformats.org/drawingml/2006/main">
            <a:pPr>
              <a:buNone/>
            </a:pPr>
            <a:r>
              <a:t>Auto mode / classifiers</a:t>
            </a:r>
          </a:p>
        </p:txBody>
      </p:sp>
      <p:sp>
        <p:nvSpPr>
          <p:cNvPr id="64" name="section-label-2">
            <a:extLst xmlns:a="http://schemas.openxmlformats.org/drawingml/2006/main">
              <a:ext uri="{FF2B5EF4-FFF2-40B4-BE49-F238E27FC236}">
                <a16:creationId xmlns:a16="http://schemas.microsoft.com/office/drawing/2014/main" id="{4192842A-2BE3-45F0-82AB-4844B61439B8}"/>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COMMON SANDBOXING APPROACHES</a:t>
            </a:r>
          </a:p>
        </p:txBody>
      </p:sp>
      <p:sp>
        <p:nvSpPr>
          <p:cNvPr id="65" name="Rounded Rectangle 13">
            <a:extLst xmlns:a="http://schemas.openxmlformats.org/drawingml/2006/main">
              <a:ext uri="{FF2B5EF4-FFF2-40B4-BE49-F238E27FC236}">
                <a16:creationId xmlns:a16="http://schemas.microsoft.com/office/drawing/2014/main" id="{0014F7BA-ECE5-432D-A1B6-B96A552068BD}"/>
              </a:ext>
            </a:extLst>
          </p:cNvPr>
          <p:cNvSpPr>
            <a:spLocks xmlns:a="http://schemas.openxmlformats.org/drawingml/2006/main" noGrp="1"/>
          </p:cNvSpPr>
          <p:nvPr/>
        </p:nvSpPr>
        <p:spPr>
          <a:xfrm xmlns:a="http://schemas.openxmlformats.org/drawingml/2006/main">
            <a:off x="619125" y="1676400"/>
            <a:ext cx="10953750" cy="1162050"/>
          </a:xfrm>
          <a:prstGeom xmlns:a="http://schemas.openxmlformats.org/drawingml/2006/main" prst="roundRect">
            <a:avLst>
              <a:gd name="adj" fmla="val 6557"/>
            </a:avLst>
          </a:prstGeom>
          <a:ln xmlns:a="http://schemas.openxmlformats.org/drawingml/2006/main">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pic>
        <p:nvPicPr>
          <p:cNvPr id="75" name="auto-mode-screenshot"/>
          <p:cNvPicPr>
            <a:picLocks xmlns:a="http://schemas.openxmlformats.org/drawingml/2006/main" noChangeAspect="1"/>
          </p:cNvPicPr>
          <p:nvPr/>
        </p:nvPicPr>
        <p:blipFill>
          <a:blip xmlns:r="http://schemas.openxmlformats.org/officeDocument/2006/relationships" xmlns:a="http://schemas.openxmlformats.org/drawingml/2006/main" r:embed="Rbc134962cd6f4ebf"/>
          <a:stretch xmlns:a="http://schemas.openxmlformats.org/drawingml/2006/main">
            <a:fillRect l="0" t="0" r="0" b="0"/>
          </a:stretch>
        </p:blipFill>
        <p:spPr>
          <a:xfrm xmlns:a="http://schemas.openxmlformats.org/drawingml/2006/main">
            <a:off x="705125" y="1762125"/>
            <a:ext cx="10781750" cy="990600"/>
          </a:xfrm>
          <a:ln xmlns:a="http://schemas.openxmlformats.org/drawingml/2006/main" w="12700">
            <a:miter/>
          </a:ln>
        </p:spPr>
      </p:pic>
      <p:sp>
        <p:nvSpPr>
          <p:cNvPr id="67" name="classifier-bullets">
            <a:extLst xmlns:a="http://schemas.openxmlformats.org/drawingml/2006/main">
              <a:ext uri="{FF2B5EF4-FFF2-40B4-BE49-F238E27FC236}">
                <a16:creationId xmlns:a16="http://schemas.microsoft.com/office/drawing/2014/main" id="{81A1D653-6122-4D20-ADD3-35E517C84C2F}"/>
              </a:ext>
            </a:extLst>
          </p:cNvPr>
          <p:cNvSpPr>
            <a:spLocks xmlns:a="http://schemas.openxmlformats.org/drawingml/2006/main" noGrp="1"/>
          </p:cNvSpPr>
          <p:nvPr/>
        </p:nvSpPr>
        <p:spPr>
          <a:xfrm xmlns:a="http://schemas.openxmlformats.org/drawingml/2006/main">
            <a:off x="598168" y="3190875"/>
            <a:ext cx="10995664" cy="2136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p xmlns:a="http://schemas.openxmlformats.org/drawingml/2006/main">
            <a:pPr marL="457209" indent="-457200">
              <a:spcBef>
                <a:spcPts val="1500"/>
              </a:spcBef>
              <a:buSzPct val="100000"/>
              <a:buFont typeface="Arial"/>
              <a:buChar char="•"/>
              <a:defRPr sz="2400">
                <a:solidFill>
                  <a:srgbClr val="F7FBFD"/>
                </a:solidFill>
                <a:latin typeface="Aptos"/>
                <a:ea typeface="Aptos"/>
                <a:cs typeface="Aptos"/>
              </a:defRPr>
            </a:pPr>
            <a:r>
              <a:t>Anthropic recommends </a:t>
            </a:r>
            <a:r>
              <a:rPr>
                <a:solidFill>
                  <a:srgbClr val="FFFF00"/>
                </a:solidFill>
              </a:rPr>
              <a:t>auto mode </a:t>
            </a:r>
            <a:r>
              <a:t>as a safer middle ground</a:t>
            </a:r>
            <a:endParaRPr sz="1500"/>
          </a:p>
          <a:p xmlns:a="http://schemas.openxmlformats.org/drawingml/2006/main">
            <a:pPr marL="457209" indent="-457200">
              <a:spcBef>
                <a:spcPts val="1500"/>
              </a:spcBef>
              <a:buSzPct val="100000"/>
              <a:buFont typeface="Arial"/>
              <a:buChar char="•"/>
              <a:defRPr sz="2400">
                <a:solidFill>
                  <a:srgbClr val="F7FBFD"/>
                </a:solidFill>
                <a:latin typeface="Aptos"/>
                <a:ea typeface="Aptos"/>
                <a:cs typeface="Aptos"/>
              </a:defRPr>
            </a:pPr>
            <a:r>
              <a:t>Adds model processing, latency, and sometimes reasoning tokens cost</a:t>
            </a:r>
            <a:endParaRPr sz="1500"/>
          </a:p>
          <a:p xmlns:a="http://schemas.openxmlformats.org/drawingml/2006/main">
            <a:pPr marL="457209" indent="-457200">
              <a:spcBef>
                <a:spcPts val="1500"/>
              </a:spcBef>
              <a:buSzPct val="100000"/>
              <a:buFont typeface="Arial"/>
              <a:buChar char="•"/>
              <a:defRPr sz="2400">
                <a:solidFill>
                  <a:srgbClr val="F7FBFD"/>
                </a:solidFill>
                <a:latin typeface="Aptos"/>
                <a:ea typeface="Aptos"/>
                <a:cs typeface="Aptos"/>
              </a:defRPr>
            </a:pPr>
            <a:r>
              <a:t>Classifiers can identify false-positives and block legitimate work</a:t>
            </a:r>
            <a:endParaRPr sz="1500"/>
          </a:p>
          <a:p xmlns:a="http://schemas.openxmlformats.org/drawingml/2006/main">
            <a:pPr marL="457209" indent="-457200">
              <a:spcBef>
                <a:spcPts val="1500"/>
              </a:spcBef>
              <a:buSzPct val="100000"/>
              <a:buFont typeface="Arial"/>
              <a:buChar char="•"/>
              <a:defRPr sz="2400">
                <a:solidFill>
                  <a:srgbClr val="F7FBFD"/>
                </a:solidFill>
                <a:latin typeface="Aptos"/>
                <a:ea typeface="Aptos"/>
                <a:cs typeface="Aptos"/>
              </a:defRPr>
            </a:pPr>
            <a:r>
              <a:t>Sophisticated attacks are not guaranteed to be caught</a:t>
            </a:r>
          </a:p>
        </p:txBody>
      </p:sp>
      <p:sp>
        <p:nvSpPr>
          <p:cNvPr id="68" name="top-accent-1">
            <a:extLst xmlns:a="http://schemas.openxmlformats.org/drawingml/2006/main">
              <a:ext uri="{FF2B5EF4-FFF2-40B4-BE49-F238E27FC236}">
                <a16:creationId xmlns:a16="http://schemas.microsoft.com/office/drawing/2014/main" id="{C751211C-0D23-46FF-BB60-81B89151786A}"/>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69" name="deck-label-1">
            <a:extLst xmlns:a="http://schemas.openxmlformats.org/drawingml/2006/main">
              <a:ext uri="{FF2B5EF4-FFF2-40B4-BE49-F238E27FC236}">
                <a16:creationId xmlns:a16="http://schemas.microsoft.com/office/drawing/2014/main" id="{BE27EDC4-BE87-4A05-8D74-557338D25D2F}"/>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79" name="docker-mark-1"/>
          <p:cNvPicPr>
            <a:picLocks xmlns:a="http://schemas.openxmlformats.org/drawingml/2006/main" noChangeAspect="1"/>
          </p:cNvPicPr>
          <p:nvPr/>
        </p:nvPicPr>
        <p:blipFill>
          <a:blip xmlns:r="http://schemas.openxmlformats.org/officeDocument/2006/relationships" xmlns:a="http://schemas.openxmlformats.org/drawingml/2006/main" r:embed="R968050da1466403a"/>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1088790546"/>
      </p:ext>
    </p:extLst>
  </p:cSld>
</p:sld>
</file>

<file path=ppt/slides/slide5.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74" name="template-title">
            <a:extLst xmlns:a="http://schemas.openxmlformats.org/drawingml/2006/main">
              <a:ext uri="{FF2B5EF4-FFF2-40B4-BE49-F238E27FC236}">
                <a16:creationId xmlns:a16="http://schemas.microsoft.com/office/drawing/2014/main" id="{6193F59D-F6DB-45B7-9DEF-316572177962}"/>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000" b="1">
                <a:solidFill>
                  <a:srgbClr val="F7FBFD"/>
                </a:solidFill>
                <a:latin typeface="Aptos Display"/>
                <a:ea typeface="Aptos Display"/>
                <a:cs typeface="Aptos Display"/>
              </a:defRPr>
            </a:lvl1pPr>
          </a:lstStyle>
          <a:p xmlns:a="http://schemas.openxmlformats.org/drawingml/2006/main">
            <a:pPr>
              <a:buNone/>
            </a:pPr>
            <a:r>
              <a:t>Harness-based sandboxing (Seatbelt / Bubblewrap)</a:t>
            </a:r>
          </a:p>
        </p:txBody>
      </p:sp>
      <p:sp>
        <p:nvSpPr>
          <p:cNvPr id="75" name="section-label-2">
            <a:extLst xmlns:a="http://schemas.openxmlformats.org/drawingml/2006/main">
              <a:ext uri="{FF2B5EF4-FFF2-40B4-BE49-F238E27FC236}">
                <a16:creationId xmlns:a16="http://schemas.microsoft.com/office/drawing/2014/main" id="{C6747012-FAC7-4CD0-AAC1-CFA82D84F392}"/>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COMMON SANDBOXING APPROACHES</a:t>
            </a:r>
          </a:p>
        </p:txBody>
      </p:sp>
      <p:sp>
        <p:nvSpPr>
          <p:cNvPr id="76" name="harness-bullets">
            <a:extLst xmlns:a="http://schemas.openxmlformats.org/drawingml/2006/main">
              <a:ext uri="{FF2B5EF4-FFF2-40B4-BE49-F238E27FC236}">
                <a16:creationId xmlns:a16="http://schemas.microsoft.com/office/drawing/2014/main" id="{DF905BBE-1F7E-4C7A-85E5-A1DAE997E5F6}"/>
              </a:ext>
            </a:extLst>
          </p:cNvPr>
          <p:cNvSpPr>
            <a:spLocks xmlns:a="http://schemas.openxmlformats.org/drawingml/2006/main" noGrp="1"/>
          </p:cNvSpPr>
          <p:nvPr/>
        </p:nvSpPr>
        <p:spPr>
          <a:xfrm xmlns:a="http://schemas.openxmlformats.org/drawingml/2006/main">
            <a:off x="598168" y="1857375"/>
            <a:ext cx="6537964" cy="34188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p xmlns:a="http://schemas.openxmlformats.org/drawingml/2006/main">
            <a:pPr marL="285760" indent="-285750">
              <a:spcBef>
                <a:spcPts val="1500"/>
              </a:spcBef>
              <a:buSzPct val="100000"/>
              <a:buFont typeface="Arial"/>
              <a:buChar char="•"/>
              <a:defRPr sz="2400">
                <a:solidFill>
                  <a:srgbClr val="F7FBFD"/>
                </a:solidFill>
                <a:latin typeface="Aptos"/>
                <a:ea typeface="Aptos"/>
                <a:cs typeface="Aptos"/>
              </a:defRPr>
            </a:pPr>
            <a:r>
              <a:t>OS-level filesystem and network boundaries block many dangerous actions.</a:t>
            </a:r>
            <a:endParaRPr sz="1600"/>
          </a:p>
          <a:p xmlns:a="http://schemas.openxmlformats.org/drawingml/2006/main">
            <a:pPr marL="285760" indent="-285750">
              <a:spcBef>
                <a:spcPts val="1500"/>
              </a:spcBef>
              <a:buSzPct val="100000"/>
              <a:buFont typeface="Arial"/>
              <a:buChar char="•"/>
              <a:defRPr sz="2400">
                <a:solidFill>
                  <a:srgbClr val="F7FBFD"/>
                </a:solidFill>
                <a:latin typeface="Aptos"/>
                <a:ea typeface="Aptos"/>
                <a:cs typeface="Aptos"/>
              </a:defRPr>
            </a:pPr>
            <a:r>
              <a:t>It can break useful tasks that need access beyond the project workspace – needs manual approval</a:t>
            </a:r>
          </a:p>
          <a:p xmlns:a="http://schemas.openxmlformats.org/drawingml/2006/main">
            <a:pPr marL="285760" indent="-285750">
              <a:spcBef>
                <a:spcPts val="1500"/>
              </a:spcBef>
              <a:buSzPct val="100000"/>
              <a:buFont typeface="Arial"/>
              <a:buChar char="•"/>
              <a:defRPr sz="2400">
                <a:solidFill>
                  <a:srgbClr val="F7FBFD"/>
                </a:solidFill>
                <a:latin typeface="Aptos"/>
                <a:ea typeface="Aptos"/>
                <a:cs typeface="Aptos"/>
              </a:defRPr>
            </a:pPr>
            <a:r>
              <a:t>You can’t let Claude / other agents manage their own configuration without allowing them to turn off their own sandbox</a:t>
            </a:r>
          </a:p>
        </p:txBody>
      </p:sp>
      <p:sp>
        <p:nvSpPr>
          <p:cNvPr id="77" name="top-accent-1">
            <a:extLst xmlns:a="http://schemas.openxmlformats.org/drawingml/2006/main">
              <a:ext uri="{FF2B5EF4-FFF2-40B4-BE49-F238E27FC236}">
                <a16:creationId xmlns:a16="http://schemas.microsoft.com/office/drawing/2014/main" id="{E0F7782E-94B9-4EBE-ACFC-8D18F30CE0D7}"/>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78" name="deck-label-1">
            <a:extLst xmlns:a="http://schemas.openxmlformats.org/drawingml/2006/main">
              <a:ext uri="{FF2B5EF4-FFF2-40B4-BE49-F238E27FC236}">
                <a16:creationId xmlns:a16="http://schemas.microsoft.com/office/drawing/2014/main" id="{B5A2ADF1-1357-4D39-AEF4-E53F6A9F18A0}"/>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86" name="docker-mark-1"/>
          <p:cNvPicPr>
            <a:picLocks xmlns:a="http://schemas.openxmlformats.org/drawingml/2006/main" noChangeAspect="1"/>
          </p:cNvPicPr>
          <p:nvPr/>
        </p:nvPicPr>
        <p:blipFill>
          <a:blip xmlns:r="http://schemas.openxmlformats.org/officeDocument/2006/relationships" xmlns:a="http://schemas.openxmlformats.org/drawingml/2006/main" r:embed="Re5b6f49b268845d0"/>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pic>
        <p:nvPicPr>
          <p:cNvPr id="87" name="Picture 6"/>
          <p:cNvPicPr>
            <a:picLocks xmlns:a="http://schemas.openxmlformats.org/drawingml/2006/main" noChangeAspect="1"/>
          </p:cNvPicPr>
          <p:nvPr/>
        </p:nvPicPr>
        <p:blipFill>
          <a:blip xmlns:r="http://schemas.openxmlformats.org/officeDocument/2006/relationships" xmlns:a="http://schemas.openxmlformats.org/drawingml/2006/main" r:embed="R041750741c2d4a26"/>
          <a:stretch xmlns:a="http://schemas.openxmlformats.org/drawingml/2006/main">
            <a:fillRect l="0" t="0" r="0" b="0"/>
          </a:stretch>
        </p:blipFill>
        <p:spPr>
          <a:xfrm xmlns:a="http://schemas.openxmlformats.org/drawingml/2006/main">
            <a:off x="8160263" y="1913576"/>
            <a:ext cx="3479287" cy="3312474"/>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2074492987"/>
      </p:ext>
    </p:extLst>
  </p:cSld>
</p:sld>
</file>

<file path=ppt/slides/slide6.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84" name="template-title">
            <a:extLst xmlns:a="http://schemas.openxmlformats.org/drawingml/2006/main">
              <a:ext uri="{FF2B5EF4-FFF2-40B4-BE49-F238E27FC236}">
                <a16:creationId xmlns:a16="http://schemas.microsoft.com/office/drawing/2014/main" id="{EC891FF7-713A-4432-A75D-079EE212DBE1}"/>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300" b="1">
                <a:solidFill>
                  <a:srgbClr val="F7FBFD"/>
                </a:solidFill>
                <a:latin typeface="Aptos Display"/>
                <a:ea typeface="Aptos Display"/>
                <a:cs typeface="Aptos Display"/>
              </a:defRPr>
            </a:lvl1pPr>
          </a:lstStyle>
          <a:p xmlns:a="http://schemas.openxmlformats.org/drawingml/2006/main">
            <a:pPr>
              <a:buNone/>
            </a:pPr>
            <a:r>
              <a:t>Containers: Docker, Dev Containers, etc.</a:t>
            </a:r>
          </a:p>
        </p:txBody>
      </p:sp>
      <p:sp>
        <p:nvSpPr>
          <p:cNvPr id="85" name="section-label-2">
            <a:extLst xmlns:a="http://schemas.openxmlformats.org/drawingml/2006/main">
              <a:ext uri="{FF2B5EF4-FFF2-40B4-BE49-F238E27FC236}">
                <a16:creationId xmlns:a16="http://schemas.microsoft.com/office/drawing/2014/main" id="{1AFA5A8C-19DE-43C6-8B35-BCBCE2BAAF99}"/>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COMMON SANDBOXING APPROACHES</a:t>
            </a:r>
          </a:p>
        </p:txBody>
      </p:sp>
      <p:sp>
        <p:nvSpPr>
          <p:cNvPr id="86" name="container-bullets">
            <a:extLst xmlns:a="http://schemas.openxmlformats.org/drawingml/2006/main">
              <a:ext uri="{FF2B5EF4-FFF2-40B4-BE49-F238E27FC236}">
                <a16:creationId xmlns:a16="http://schemas.microsoft.com/office/drawing/2014/main" id="{1EAC7361-C7CF-4736-9878-3A6923AF12CB}"/>
              </a:ext>
            </a:extLst>
          </p:cNvPr>
          <p:cNvSpPr>
            <a:spLocks xmlns:a="http://schemas.openxmlformats.org/drawingml/2006/main" noGrp="1"/>
          </p:cNvSpPr>
          <p:nvPr/>
        </p:nvSpPr>
        <p:spPr>
          <a:xfrm xmlns:a="http://schemas.openxmlformats.org/drawingml/2006/main">
            <a:off x="598168" y="1857375"/>
            <a:ext cx="7242814" cy="30505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p xmlns:a="http://schemas.openxmlformats.org/drawingml/2006/main">
            <a:pPr marL="342910" indent="-342900">
              <a:spcBef>
                <a:spcPts val="1500"/>
              </a:spcBef>
              <a:buSzPct val="100000"/>
              <a:buFont typeface="Arial"/>
              <a:buChar char="•"/>
              <a:defRPr sz="2400">
                <a:solidFill>
                  <a:srgbClr val="F7FBFD"/>
                </a:solidFill>
                <a:latin typeface="Aptos"/>
                <a:ea typeface="Aptos"/>
                <a:cs typeface="Aptos"/>
              </a:defRPr>
            </a:pPr>
            <a:r>
              <a:t>Better isolation: the agent sees a bounded environment instead of the host.</a:t>
            </a:r>
            <a:endParaRPr sz="1600"/>
          </a:p>
          <a:p xmlns:a="http://schemas.openxmlformats.org/drawingml/2006/main">
            <a:pPr marL="342910" indent="-342900">
              <a:spcBef>
                <a:spcPts val="1500"/>
              </a:spcBef>
              <a:buSzPct val="100000"/>
              <a:buFont typeface="Arial"/>
              <a:buChar char="•"/>
              <a:defRPr sz="2400">
                <a:solidFill>
                  <a:srgbClr val="F7FBFD"/>
                </a:solidFill>
                <a:latin typeface="Aptos"/>
                <a:ea typeface="Aptos"/>
                <a:cs typeface="Aptos"/>
              </a:defRPr>
            </a:pPr>
            <a:r>
              <a:t>Portability and reproducibility - the problem containers and dev containers were built to solve.</a:t>
            </a:r>
            <a:endParaRPr sz="1600"/>
          </a:p>
          <a:p xmlns:a="http://schemas.openxmlformats.org/drawingml/2006/main">
            <a:pPr marL="342910" indent="-342900">
              <a:spcBef>
                <a:spcPts val="1500"/>
              </a:spcBef>
              <a:buSzPct val="100000"/>
              <a:buFont typeface="Arial"/>
              <a:buChar char="•"/>
              <a:defRPr sz="2400">
                <a:solidFill>
                  <a:srgbClr val="F7FBFD"/>
                </a:solidFill>
                <a:latin typeface="Aptos"/>
                <a:ea typeface="Aptos"/>
                <a:cs typeface="Aptos"/>
              </a:defRPr>
            </a:pPr>
            <a:r>
              <a:t>A container is not a hardened VM boundary by default; shared-kernel escapes and risky socket mounts remain known failure classes.</a:t>
            </a:r>
          </a:p>
        </p:txBody>
      </p:sp>
      <p:sp>
        <p:nvSpPr>
          <p:cNvPr id="87" name="container-logo-panel">
            <a:extLst xmlns:a="http://schemas.openxmlformats.org/drawingml/2006/main">
              <a:ext uri="{FF2B5EF4-FFF2-40B4-BE49-F238E27FC236}">
                <a16:creationId xmlns:a16="http://schemas.microsoft.com/office/drawing/2014/main" id="{C8B3381D-1CE1-4A06-B8C6-3FC0139C1247}"/>
              </a:ext>
            </a:extLst>
          </p:cNvPr>
          <p:cNvSpPr>
            <a:spLocks xmlns:a="http://schemas.openxmlformats.org/drawingml/2006/main" noGrp="1"/>
          </p:cNvSpPr>
          <p:nvPr/>
        </p:nvSpPr>
        <p:spPr>
          <a:xfrm xmlns:a="http://schemas.openxmlformats.org/drawingml/2006/main">
            <a:off x="8477250" y="1809750"/>
            <a:ext cx="3162300" cy="3333750"/>
          </a:xfrm>
          <a:prstGeom xmlns:a="http://schemas.openxmlformats.org/drawingml/2006/main" prst="roundRect">
            <a:avLst>
              <a:gd name="adj" fmla="val 4819"/>
            </a:avLst>
          </a:prstGeom>
          <a:solidFill xmlns:a="http://schemas.openxmlformats.org/drawingml/2006/main">
            <a:srgbClr val="0D2632"/>
          </a:solidFill>
          <a:ln xmlns:a="http://schemas.openxmlformats.org/drawingml/2006/main">
            <a:solidFill>
              <a:srgbClr val="5F7782"/>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pic>
        <p:nvPicPr>
          <p:cNvPr id="100" name="docker-mark-large"/>
          <p:cNvPicPr>
            <a:picLocks xmlns:a="http://schemas.openxmlformats.org/drawingml/2006/main" noChangeAspect="1"/>
          </p:cNvPicPr>
          <p:nvPr/>
        </p:nvPicPr>
        <p:blipFill>
          <a:blip xmlns:r="http://schemas.openxmlformats.org/officeDocument/2006/relationships" xmlns:a="http://schemas.openxmlformats.org/drawingml/2006/main" r:embed="R643a29c67fcc4dc7"/>
          <a:stretch xmlns:a="http://schemas.openxmlformats.org/drawingml/2006/main">
            <a:fillRect l="0" t="0" r="0" b="0"/>
          </a:stretch>
        </p:blipFill>
        <p:spPr>
          <a:xfrm xmlns:a="http://schemas.openxmlformats.org/drawingml/2006/main">
            <a:off x="9274175" y="2190750"/>
            <a:ext cx="1568450" cy="1238250"/>
          </a:xfrm>
          <a:prstGeom xmlns:a="http://schemas.openxmlformats.org/drawingml/2006/main" prst="rect">
            <a:avLst/>
          </a:prstGeom>
          <a:ln xmlns:a="http://schemas.openxmlformats.org/drawingml/2006/main" w="12700">
            <a:miter/>
          </a:ln>
        </p:spPr>
      </p:pic>
      <p:sp>
        <p:nvSpPr>
          <p:cNvPr id="89" name="Rectangle 16">
            <a:extLst xmlns:a="http://schemas.openxmlformats.org/drawingml/2006/main">
              <a:ext uri="{FF2B5EF4-FFF2-40B4-BE49-F238E27FC236}">
                <a16:creationId xmlns:a16="http://schemas.microsoft.com/office/drawing/2014/main" id="{2EE9C10B-4BB2-48E0-A9A6-3C9B7D98037C}"/>
              </a:ext>
            </a:extLst>
          </p:cNvPr>
          <p:cNvSpPr>
            <a:spLocks xmlns:a="http://schemas.openxmlformats.org/drawingml/2006/main" noGrp="1"/>
          </p:cNvSpPr>
          <p:nvPr/>
        </p:nvSpPr>
        <p:spPr>
          <a:xfrm xmlns:a="http://schemas.openxmlformats.org/drawingml/2006/main">
            <a:off x="9875518" y="3448051"/>
            <a:ext cx="365763" cy="4216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2200" b="1">
                <a:solidFill>
                  <a:srgbClr val="91A7B1"/>
                </a:solidFill>
                <a:latin typeface="Aptos"/>
                <a:ea typeface="Aptos"/>
                <a:cs typeface="Aptos"/>
              </a:defRPr>
            </a:lvl1pPr>
          </a:lstStyle>
          <a:p xmlns:a="http://schemas.openxmlformats.org/drawingml/2006/main">
            <a:pPr>
              <a:buNone/>
            </a:pPr>
            <a:r>
              <a:t>+</a:t>
            </a:r>
          </a:p>
        </p:txBody>
      </p:sp>
      <p:pic>
        <p:nvPicPr>
          <p:cNvPr id="102" name="devcontainers-logo"/>
          <p:cNvPicPr>
            <a:picLocks xmlns:a="http://schemas.openxmlformats.org/drawingml/2006/main" noChangeAspect="1"/>
          </p:cNvPicPr>
          <p:nvPr/>
        </p:nvPicPr>
        <p:blipFill>
          <a:blip xmlns:r="http://schemas.openxmlformats.org/officeDocument/2006/relationships" xmlns:a="http://schemas.openxmlformats.org/drawingml/2006/main" r:embed="R2302c142bdf242e4"/>
          <a:stretch xmlns:a="http://schemas.openxmlformats.org/drawingml/2006/main">
            <a:fillRect l="0" t="0" r="0" b="0"/>
          </a:stretch>
        </p:blipFill>
        <p:spPr>
          <a:xfrm xmlns:a="http://schemas.openxmlformats.org/drawingml/2006/main">
            <a:off x="9572625" y="3905250"/>
            <a:ext cx="971550" cy="971550"/>
          </a:xfrm>
          <a:ln xmlns:a="http://schemas.openxmlformats.org/drawingml/2006/main" w="12700">
            <a:miter/>
          </a:ln>
        </p:spPr>
      </p:pic>
      <p:sp>
        <p:nvSpPr>
          <p:cNvPr id="91" name="top-accent-1">
            <a:extLst xmlns:a="http://schemas.openxmlformats.org/drawingml/2006/main">
              <a:ext uri="{FF2B5EF4-FFF2-40B4-BE49-F238E27FC236}">
                <a16:creationId xmlns:a16="http://schemas.microsoft.com/office/drawing/2014/main" id="{BBA795D8-8855-43E0-BB12-8A32D3D01F32}"/>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92" name="deck-label-1">
            <a:extLst xmlns:a="http://schemas.openxmlformats.org/drawingml/2006/main">
              <a:ext uri="{FF2B5EF4-FFF2-40B4-BE49-F238E27FC236}">
                <a16:creationId xmlns:a16="http://schemas.microsoft.com/office/drawing/2014/main" id="{997E9227-41A3-44CF-A394-6EB386D2D93C}"/>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105" name="docker-mark-1"/>
          <p:cNvPicPr>
            <a:picLocks xmlns:a="http://schemas.openxmlformats.org/drawingml/2006/main" noChangeAspect="1"/>
          </p:cNvPicPr>
          <p:nvPr/>
        </p:nvPicPr>
        <p:blipFill>
          <a:blip xmlns:r="http://schemas.openxmlformats.org/officeDocument/2006/relationships" xmlns:a="http://schemas.openxmlformats.org/drawingml/2006/main" r:embed="R643a29c67fcc4dc7"/>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147347815"/>
      </p:ext>
    </p:extLst>
  </p:cSld>
</p:sld>
</file>

<file path=ppt/slides/slide7.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97" name="template-title">
            <a:extLst xmlns:a="http://schemas.openxmlformats.org/drawingml/2006/main">
              <a:ext uri="{FF2B5EF4-FFF2-40B4-BE49-F238E27FC236}">
                <a16:creationId xmlns:a16="http://schemas.microsoft.com/office/drawing/2014/main" id="{2E4FA68B-2536-49D9-9C76-3AE1C2885B82}"/>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600" b="1">
                <a:solidFill>
                  <a:srgbClr val="F7FBFD"/>
                </a:solidFill>
                <a:latin typeface="Aptos Display"/>
                <a:ea typeface="Aptos Display"/>
                <a:cs typeface="Aptos Display"/>
              </a:defRPr>
            </a:lvl1pPr>
          </a:lstStyle>
          <a:p xmlns:a="http://schemas.openxmlformats.org/drawingml/2006/main">
            <a:pPr>
              <a:buNone/>
            </a:pPr>
            <a:r>
              <a:t>Docker Sandbox</a:t>
            </a:r>
          </a:p>
        </p:txBody>
      </p:sp>
      <p:sp>
        <p:nvSpPr>
          <p:cNvPr id="98" name="section-label-2">
            <a:extLst xmlns:a="http://schemas.openxmlformats.org/drawingml/2006/main">
              <a:ext uri="{FF2B5EF4-FFF2-40B4-BE49-F238E27FC236}">
                <a16:creationId xmlns:a16="http://schemas.microsoft.com/office/drawing/2014/main" id="{164AD106-C3D5-4C0A-9B54-CB9F27B78FE6}"/>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COMMON SANDBOXING APPROACHES</a:t>
            </a:r>
          </a:p>
        </p:txBody>
      </p:sp>
      <p:sp>
        <p:nvSpPr>
          <p:cNvPr id="99" name="docker-sandbox-lockup-panel">
            <a:extLst xmlns:a="http://schemas.openxmlformats.org/drawingml/2006/main">
              <a:ext uri="{FF2B5EF4-FFF2-40B4-BE49-F238E27FC236}">
                <a16:creationId xmlns:a16="http://schemas.microsoft.com/office/drawing/2014/main" id="{771F84C1-F704-4622-9FE6-FFA126259AF9}"/>
              </a:ext>
            </a:extLst>
          </p:cNvPr>
          <p:cNvSpPr>
            <a:spLocks xmlns:a="http://schemas.openxmlformats.org/drawingml/2006/main" noGrp="1"/>
          </p:cNvSpPr>
          <p:nvPr/>
        </p:nvSpPr>
        <p:spPr>
          <a:xfrm xmlns:a="http://schemas.openxmlformats.org/drawingml/2006/main">
            <a:off x="552450" y="1895412"/>
            <a:ext cx="3795491" cy="926512"/>
          </a:xfrm>
          <a:prstGeom xmlns:a="http://schemas.openxmlformats.org/drawingml/2006/main" prst="roundRect">
            <a:avLst>
              <a:gd name="adj" fmla="val 10667"/>
            </a:avLst>
          </a:prstGeom>
          <a:ln xmlns:a="http://schemas.openxmlformats.org/drawingml/2006/main" w="19050">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pic>
        <p:nvPicPr>
          <p:cNvPr id="111" name="docker-sandbox-lockup-large"/>
          <p:cNvPicPr>
            <a:picLocks xmlns:a="http://schemas.openxmlformats.org/drawingml/2006/main" noChangeAspect="1"/>
          </p:cNvPicPr>
          <p:nvPr/>
        </p:nvPicPr>
        <p:blipFill>
          <a:blip xmlns:r="http://schemas.openxmlformats.org/officeDocument/2006/relationships" xmlns:a="http://schemas.openxmlformats.org/drawingml/2006/main" r:embed="Rde60632353e649f5"/>
          <a:stretch xmlns:a="http://schemas.openxmlformats.org/drawingml/2006/main">
            <a:fillRect l="0" t="0" r="0" b="0"/>
          </a:stretch>
        </p:blipFill>
        <p:spPr>
          <a:xfrm xmlns:a="http://schemas.openxmlformats.org/drawingml/2006/main">
            <a:off x="809626" y="2067791"/>
            <a:ext cx="3286389" cy="597527"/>
          </a:xfrm>
          <a:prstGeom xmlns:a="http://schemas.openxmlformats.org/drawingml/2006/main" prst="rect">
            <a:avLst/>
          </a:prstGeom>
          <a:ln xmlns:a="http://schemas.openxmlformats.org/drawingml/2006/main" w="12700">
            <a:miter/>
          </a:ln>
        </p:spPr>
      </p:pic>
      <p:sp>
        <p:nvSpPr>
          <p:cNvPr id="101" name="Rectangle 15">
            <a:extLst xmlns:a="http://schemas.openxmlformats.org/drawingml/2006/main">
              <a:ext uri="{FF2B5EF4-FFF2-40B4-BE49-F238E27FC236}">
                <a16:creationId xmlns:a16="http://schemas.microsoft.com/office/drawing/2014/main" id="{BFA340D3-E4F5-4CBF-9AF6-C6658123F1DD}"/>
              </a:ext>
            </a:extLst>
          </p:cNvPr>
          <p:cNvSpPr>
            <a:spLocks xmlns:a="http://schemas.openxmlformats.org/drawingml/2006/main" noGrp="1"/>
          </p:cNvSpPr>
          <p:nvPr/>
        </p:nvSpPr>
        <p:spPr>
          <a:xfrm xmlns:a="http://schemas.openxmlformats.org/drawingml/2006/main">
            <a:off x="598168" y="3429001"/>
            <a:ext cx="4813939"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2496ED"/>
                </a:solidFill>
                <a:latin typeface="Aptos"/>
                <a:ea typeface="Aptos"/>
                <a:cs typeface="Aptos"/>
              </a:defRPr>
            </a:lvl1pPr>
          </a:lstStyle>
          <a:p xmlns:a="http://schemas.openxmlformats.org/drawingml/2006/main">
            <a:pPr>
              <a:buNone/>
            </a:pPr>
            <a:r>
              <a:t>PURPOSE-BUILT CONTAINMENT</a:t>
            </a:r>
          </a:p>
        </p:txBody>
      </p:sp>
      <p:sp>
        <p:nvSpPr>
          <p:cNvPr id="102" name="Rectangle 16">
            <a:extLst xmlns:a="http://schemas.openxmlformats.org/drawingml/2006/main">
              <a:ext uri="{FF2B5EF4-FFF2-40B4-BE49-F238E27FC236}">
                <a16:creationId xmlns:a16="http://schemas.microsoft.com/office/drawing/2014/main" id="{BC68C44E-FF25-4D47-AA41-9D38CFDF0B60}"/>
              </a:ext>
            </a:extLst>
          </p:cNvPr>
          <p:cNvSpPr>
            <a:spLocks xmlns:a="http://schemas.openxmlformats.org/drawingml/2006/main" noGrp="1"/>
          </p:cNvSpPr>
          <p:nvPr/>
        </p:nvSpPr>
        <p:spPr>
          <a:xfrm xmlns:a="http://schemas.openxmlformats.org/drawingml/2006/main">
            <a:off x="598170" y="3809998"/>
            <a:ext cx="2886544" cy="121919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lnSpc>
                <a:spcPct val="98000"/>
              </a:lnSpc>
              <a:buNone/>
              <a:defRPr sz="2500" b="1">
                <a:solidFill>
                  <a:srgbClr val="F7FBFD"/>
                </a:solidFill>
                <a:latin typeface="Aptos"/>
                <a:ea typeface="Aptos"/>
                <a:cs typeface="Aptos"/>
              </a:defRPr>
            </a:lvl1pPr>
          </a:lstStyle>
          <a:p xmlns:a="http://schemas.openxmlformats.org/drawingml/2006/main">
            <a:pPr>
              <a:buNone/>
            </a:pPr>
            <a:r>
              <a:t>A separate kernel changes the blast radius.</a:t>
            </a:r>
          </a:p>
        </p:txBody>
      </p:sp>
      <p:sp>
        <p:nvSpPr>
          <p:cNvPr id="103" name="docker-sandbox-bullets">
            <a:extLst xmlns:a="http://schemas.openxmlformats.org/drawingml/2006/main">
              <a:ext uri="{FF2B5EF4-FFF2-40B4-BE49-F238E27FC236}">
                <a16:creationId xmlns:a16="http://schemas.microsoft.com/office/drawing/2014/main" id="{45DF1738-9CEB-4E03-9CE9-EDDE05075D84}"/>
              </a:ext>
            </a:extLst>
          </p:cNvPr>
          <p:cNvSpPr>
            <a:spLocks xmlns:a="http://schemas.openxmlformats.org/drawingml/2006/main" noGrp="1"/>
          </p:cNvSpPr>
          <p:nvPr/>
        </p:nvSpPr>
        <p:spPr>
          <a:xfrm xmlns:a="http://schemas.openxmlformats.org/drawingml/2006/main">
            <a:off x="4599551" y="1641075"/>
            <a:ext cx="6994278" cy="36093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p xmlns:a="http://schemas.openxmlformats.org/drawingml/2006/main">
            <a:pPr marL="285760" indent="-285750">
              <a:spcBef>
                <a:spcPts val="1500"/>
              </a:spcBef>
              <a:buSzPct val="100000"/>
              <a:buFont typeface="Arial"/>
              <a:buChar char="•"/>
              <a:defRPr sz="2400">
                <a:solidFill>
                  <a:srgbClr val="F7FBFD"/>
                </a:solidFill>
                <a:latin typeface="Aptos"/>
                <a:ea typeface="Aptos"/>
                <a:cs typeface="Aptos"/>
              </a:defRPr>
            </a:pPr>
            <a:r>
              <a:t>A microVM with a separate kernel from the host.</a:t>
            </a:r>
            <a:endParaRPr sz="1500"/>
          </a:p>
          <a:p xmlns:a="http://schemas.openxmlformats.org/drawingml/2006/main">
            <a:pPr marL="285760" indent="-285750">
              <a:spcBef>
                <a:spcPts val="1500"/>
              </a:spcBef>
              <a:buSzPct val="100000"/>
              <a:buFont typeface="Arial"/>
              <a:buChar char="•"/>
              <a:defRPr sz="2400">
                <a:solidFill>
                  <a:srgbClr val="F7FBFD"/>
                </a:solidFill>
                <a:latin typeface="Aptos"/>
                <a:ea typeface="Aptos"/>
                <a:cs typeface="Aptos"/>
              </a:defRPr>
            </a:pPr>
            <a:r>
              <a:t>Designed for autonomous, untrusted AI coding agents.</a:t>
            </a:r>
            <a:endParaRPr sz="1500"/>
          </a:p>
          <a:p xmlns:a="http://schemas.openxmlformats.org/drawingml/2006/main">
            <a:pPr marL="285760" indent="-285750">
              <a:spcBef>
                <a:spcPts val="1500"/>
              </a:spcBef>
              <a:buSzPct val="100000"/>
              <a:buFont typeface="Arial"/>
              <a:buChar char="•"/>
              <a:defRPr sz="2400">
                <a:solidFill>
                  <a:srgbClr val="F7FBFD"/>
                </a:solidFill>
                <a:latin typeface="Aptos"/>
                <a:ea typeface="Aptos"/>
                <a:cs typeface="Aptos"/>
              </a:defRPr>
            </a:pPr>
            <a:r>
              <a:t>Preserves Docker strengths: portable templates, reproducible state, workspace mounting, and configurable network policy.</a:t>
            </a:r>
            <a:endParaRPr sz="1500"/>
          </a:p>
          <a:p xmlns:a="http://schemas.openxmlformats.org/drawingml/2006/main">
            <a:pPr marL="285760" indent="-285750">
              <a:spcBef>
                <a:spcPts val="1500"/>
              </a:spcBef>
              <a:buSzPct val="100000"/>
              <a:buFont typeface="Arial"/>
              <a:buChar char="•"/>
              <a:defRPr sz="2400">
                <a:solidFill>
                  <a:srgbClr val="F7FBFD"/>
                </a:solidFill>
                <a:latin typeface="Aptos"/>
                <a:ea typeface="Aptos"/>
                <a:cs typeface="Aptos"/>
              </a:defRPr>
            </a:pPr>
            <a:r>
              <a:t>Run the agent in YOLO mode inside the VM—without giving it your host.</a:t>
            </a:r>
          </a:p>
        </p:txBody>
      </p:sp>
      <p:sp>
        <p:nvSpPr>
          <p:cNvPr id="104" name="top-accent-1">
            <a:extLst xmlns:a="http://schemas.openxmlformats.org/drawingml/2006/main">
              <a:ext uri="{FF2B5EF4-FFF2-40B4-BE49-F238E27FC236}">
                <a16:creationId xmlns:a16="http://schemas.microsoft.com/office/drawing/2014/main" id="{70C95606-A250-4AB9-9885-E237A1EBC219}"/>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105" name="deck-label-1">
            <a:extLst xmlns:a="http://schemas.openxmlformats.org/drawingml/2006/main">
              <a:ext uri="{FF2B5EF4-FFF2-40B4-BE49-F238E27FC236}">
                <a16:creationId xmlns:a16="http://schemas.microsoft.com/office/drawing/2014/main" id="{AB747BB9-0B40-4C96-B3C9-C0BF69FD7220}"/>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117" name="docker-mark-1"/>
          <p:cNvPicPr>
            <a:picLocks xmlns:a="http://schemas.openxmlformats.org/drawingml/2006/main" noChangeAspect="1"/>
          </p:cNvPicPr>
          <p:nvPr/>
        </p:nvPicPr>
        <p:blipFill>
          <a:blip xmlns:r="http://schemas.openxmlformats.org/officeDocument/2006/relationships" xmlns:a="http://schemas.openxmlformats.org/drawingml/2006/main" r:embed="Rb1cee79e8c3f4f50"/>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955025558"/>
      </p:ext>
    </p:extLst>
  </p:cSld>
</p:sld>
</file>

<file path=ppt/slides/slide8.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110" name="template-title">
            <a:extLst xmlns:a="http://schemas.openxmlformats.org/drawingml/2006/main">
              <a:ext uri="{FF2B5EF4-FFF2-40B4-BE49-F238E27FC236}">
                <a16:creationId xmlns:a16="http://schemas.microsoft.com/office/drawing/2014/main" id="{28DAC4E9-8592-4FCC-AEDE-29DA904CD643}"/>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300" b="1">
                <a:solidFill>
                  <a:srgbClr val="F7FBFD"/>
                </a:solidFill>
                <a:latin typeface="Aptos Display"/>
                <a:ea typeface="Aptos Display"/>
                <a:cs typeface="Aptos Display"/>
              </a:defRPr>
            </a:lvl1pPr>
          </a:lstStyle>
          <a:p xmlns:a="http://schemas.openxmlformats.org/drawingml/2006/main">
            <a:pPr>
              <a:buNone/>
            </a:pPr>
            <a:r>
              <a:t>Docker Sandbox features</a:t>
            </a:r>
          </a:p>
        </p:txBody>
      </p:sp>
      <p:sp>
        <p:nvSpPr>
          <p:cNvPr id="111" name="features-left-label">
            <a:extLst xmlns:a="http://schemas.openxmlformats.org/drawingml/2006/main">
              <a:ext uri="{FF2B5EF4-FFF2-40B4-BE49-F238E27FC236}">
                <a16:creationId xmlns:a16="http://schemas.microsoft.com/office/drawing/2014/main" id="{3972037A-4692-4465-A04F-79EDA1BD7A7A}"/>
              </a:ext>
            </a:extLst>
          </p:cNvPr>
          <p:cNvSpPr>
            <a:spLocks xmlns:a="http://schemas.openxmlformats.org/drawingml/2006/main" noGrp="1"/>
          </p:cNvSpPr>
          <p:nvPr/>
        </p:nvSpPr>
        <p:spPr>
          <a:xfrm xmlns:a="http://schemas.openxmlformats.org/drawingml/2006/main">
            <a:off x="598168" y="1733550"/>
            <a:ext cx="4766314" cy="2438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1000" b="1">
                <a:solidFill>
                  <a:srgbClr val="2496ED"/>
                </a:solidFill>
                <a:latin typeface="Aptos"/>
                <a:ea typeface="Aptos"/>
                <a:cs typeface="Aptos"/>
              </a:defRPr>
            </a:lvl1pPr>
          </a:lstStyle>
          <a:p xmlns:a="http://schemas.openxmlformats.org/drawingml/2006/main">
            <a:pPr>
              <a:buNone/>
            </a:pPr>
            <a:r>
              <a:t>ENVIRONMENTS + STATE</a:t>
            </a:r>
          </a:p>
        </p:txBody>
      </p:sp>
      <p:sp>
        <p:nvSpPr>
          <p:cNvPr id="112" name="Straight Connector 7">
            <a:extLst xmlns:a="http://schemas.openxmlformats.org/drawingml/2006/main">
              <a:ext uri="{FF2B5EF4-FFF2-40B4-BE49-F238E27FC236}">
                <a16:creationId xmlns:a16="http://schemas.microsoft.com/office/drawing/2014/main" id="{81C5D4EC-2B65-4EFA-97ED-BD16303BF72B}"/>
              </a:ext>
            </a:extLst>
          </p:cNvPr>
          <p:cNvSpPr>
            <a:spLocks xmlns:a="http://schemas.openxmlformats.org/drawingml/2006/main" noGrp="1"/>
          </p:cNvSpPr>
          <p:nvPr/>
        </p:nvSpPr>
        <p:spPr>
          <a:xfrm xmlns:a="http://schemas.openxmlformats.org/drawingml/2006/main">
            <a:off x="552449" y="2095500"/>
            <a:ext cx="4953003" cy="0"/>
          </a:xfrm>
          <a:prstGeom xmlns:a="http://schemas.openxmlformats.org/drawingml/2006/main" prst="line">
            <a:avLst/>
          </a:prstGeom>
          <a:ln xmlns:a="http://schemas.openxmlformats.org/drawingml/2006/main" w="19050">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pPr>
          </a:p>
        </p:txBody>
      </p:sp>
      <p:sp>
        <p:nvSpPr>
          <p:cNvPr id="113" name="features-left">
            <a:extLst xmlns:a="http://schemas.openxmlformats.org/drawingml/2006/main">
              <a:ext uri="{FF2B5EF4-FFF2-40B4-BE49-F238E27FC236}">
                <a16:creationId xmlns:a16="http://schemas.microsoft.com/office/drawing/2014/main" id="{C1905356-3E24-475B-A973-F1BDD8D29099}"/>
              </a:ext>
            </a:extLst>
          </p:cNvPr>
          <p:cNvSpPr>
            <a:spLocks xmlns:a="http://schemas.openxmlformats.org/drawingml/2006/main" noGrp="1"/>
          </p:cNvSpPr>
          <p:nvPr/>
        </p:nvSpPr>
        <p:spPr>
          <a:xfrm xmlns:a="http://schemas.openxmlformats.org/drawingml/2006/main">
            <a:off x="598168" y="2324100"/>
            <a:ext cx="4909189" cy="3406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Prebuilt images for Claude Code, Codex, and others—plus a bare shell image.</a:t>
            </a:r>
            <a:endParaRPr sz="1600"/>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Mount one or multiple workspaces for different isolation models.</a:t>
            </a:r>
            <a:endParaRPr sz="1600"/>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Define custom templates with a Dockerfile.</a:t>
            </a:r>
            <a:endParaRPr sz="1600"/>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Snapshot a configured sandbox into a reusable template on the fly.</a:t>
            </a:r>
          </a:p>
        </p:txBody>
      </p:sp>
      <p:sp>
        <p:nvSpPr>
          <p:cNvPr id="114" name="features-right-label">
            <a:extLst xmlns:a="http://schemas.openxmlformats.org/drawingml/2006/main">
              <a:ext uri="{FF2B5EF4-FFF2-40B4-BE49-F238E27FC236}">
                <a16:creationId xmlns:a16="http://schemas.microsoft.com/office/drawing/2014/main" id="{A7D40ACE-FF46-47EB-8870-FB8C04AF62DA}"/>
              </a:ext>
            </a:extLst>
          </p:cNvPr>
          <p:cNvSpPr>
            <a:spLocks xmlns:a="http://schemas.openxmlformats.org/drawingml/2006/main" noGrp="1"/>
          </p:cNvSpPr>
          <p:nvPr/>
        </p:nvSpPr>
        <p:spPr>
          <a:xfrm xmlns:a="http://schemas.openxmlformats.org/drawingml/2006/main">
            <a:off x="6189343" y="1733550"/>
            <a:ext cx="5404489" cy="2438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1000" b="1">
                <a:solidFill>
                  <a:srgbClr val="2496ED"/>
                </a:solidFill>
                <a:latin typeface="Aptos"/>
                <a:ea typeface="Aptos"/>
                <a:cs typeface="Aptos"/>
              </a:defRPr>
            </a:lvl1pPr>
          </a:lstStyle>
          <a:p xmlns:a="http://schemas.openxmlformats.org/drawingml/2006/main">
            <a:pPr>
              <a:buNone/>
            </a:pPr>
            <a:r>
              <a:t>ACCESS + ORGANIZATIONAL CONTROL</a:t>
            </a:r>
          </a:p>
        </p:txBody>
      </p:sp>
      <p:sp>
        <p:nvSpPr>
          <p:cNvPr id="115" name="Straight Connector 10">
            <a:extLst xmlns:a="http://schemas.openxmlformats.org/drawingml/2006/main">
              <a:ext uri="{FF2B5EF4-FFF2-40B4-BE49-F238E27FC236}">
                <a16:creationId xmlns:a16="http://schemas.microsoft.com/office/drawing/2014/main" id="{67F2BF55-B8E4-4147-A560-23D31102BC16}"/>
              </a:ext>
            </a:extLst>
          </p:cNvPr>
          <p:cNvSpPr>
            <a:spLocks xmlns:a="http://schemas.openxmlformats.org/drawingml/2006/main" noGrp="1"/>
          </p:cNvSpPr>
          <p:nvPr/>
        </p:nvSpPr>
        <p:spPr>
          <a:xfrm xmlns:a="http://schemas.openxmlformats.org/drawingml/2006/main">
            <a:off x="6143625" y="2095500"/>
            <a:ext cx="5495927" cy="0"/>
          </a:xfrm>
          <a:prstGeom xmlns:a="http://schemas.openxmlformats.org/drawingml/2006/main" prst="line">
            <a:avLst/>
          </a:prstGeom>
          <a:ln xmlns:a="http://schemas.openxmlformats.org/drawingml/2006/main" w="19050">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pPr>
          </a:p>
        </p:txBody>
      </p:sp>
      <p:sp>
        <p:nvSpPr>
          <p:cNvPr id="116" name="features-right">
            <a:extLst xmlns:a="http://schemas.openxmlformats.org/drawingml/2006/main">
              <a:ext uri="{FF2B5EF4-FFF2-40B4-BE49-F238E27FC236}">
                <a16:creationId xmlns:a16="http://schemas.microsoft.com/office/drawing/2014/main" id="{FCF13859-8B17-45D7-9B7B-9611E8E0037E}"/>
              </a:ext>
            </a:extLst>
          </p:cNvPr>
          <p:cNvSpPr>
            <a:spLocks xmlns:a="http://schemas.openxmlformats.org/drawingml/2006/main" noGrp="1"/>
          </p:cNvSpPr>
          <p:nvPr/>
        </p:nvSpPr>
        <p:spPr>
          <a:xfrm xmlns:a="http://schemas.openxmlformats.org/drawingml/2006/main">
            <a:off x="6189343" y="2324100"/>
            <a:ext cx="5404489" cy="23012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Apply network policies and publish ports for local service access.</a:t>
            </a:r>
            <a:endParaRPr sz="1600"/>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Use the native SSH endpoint with desktop apps like Claude Desktop and ChatGPT</a:t>
            </a:r>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Package batteries-included organizational setups as reusable Kits.</a:t>
            </a:r>
          </a:p>
        </p:txBody>
      </p:sp>
      <p:sp>
        <p:nvSpPr>
          <p:cNvPr id="117" name="section-label-2">
            <a:extLst xmlns:a="http://schemas.openxmlformats.org/drawingml/2006/main">
              <a:ext uri="{FF2B5EF4-FFF2-40B4-BE49-F238E27FC236}">
                <a16:creationId xmlns:a16="http://schemas.microsoft.com/office/drawing/2014/main" id="{92F07433-E422-4AE2-878A-F36F8A99F9D0}"/>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DOCKER SANDBOX IN PRACTICE</a:t>
            </a:r>
          </a:p>
        </p:txBody>
      </p:sp>
      <p:sp>
        <p:nvSpPr>
          <p:cNvPr id="118" name="top-accent-1">
            <a:extLst xmlns:a="http://schemas.openxmlformats.org/drawingml/2006/main">
              <a:ext uri="{FF2B5EF4-FFF2-40B4-BE49-F238E27FC236}">
                <a16:creationId xmlns:a16="http://schemas.microsoft.com/office/drawing/2014/main" id="{4F4AB4A5-2C37-4C1E-8821-F91953F8D496}"/>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119" name="deck-label-1">
            <a:extLst xmlns:a="http://schemas.openxmlformats.org/drawingml/2006/main">
              <a:ext uri="{FF2B5EF4-FFF2-40B4-BE49-F238E27FC236}">
                <a16:creationId xmlns:a16="http://schemas.microsoft.com/office/drawing/2014/main" id="{4BAE13B0-DBB3-4956-9A75-194DF480A2BE}"/>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131" name="docker-mark-1"/>
          <p:cNvPicPr>
            <a:picLocks xmlns:a="http://schemas.openxmlformats.org/drawingml/2006/main" noChangeAspect="1"/>
          </p:cNvPicPr>
          <p:nvPr/>
        </p:nvPicPr>
        <p:blipFill>
          <a:blip xmlns:r="http://schemas.openxmlformats.org/officeDocument/2006/relationships" xmlns:a="http://schemas.openxmlformats.org/drawingml/2006/main" r:embed="R51951c47867644ba"/>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31444835"/>
      </p:ext>
    </p:extLst>
  </p:cSld>
</p:sld>
</file>

<file path=ppt/slides/slide9.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110" name="template-title">
            <a:extLst xmlns:a="http://schemas.openxmlformats.org/drawingml/2006/main">
              <a:ext uri="{FF2B5EF4-FFF2-40B4-BE49-F238E27FC236}">
                <a16:creationId xmlns:a16="http://schemas.microsoft.com/office/drawing/2014/main" id="{03EEF7FD-3769-4049-B8F5-CBB18DDB1AEC}"/>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300" b="1">
                <a:solidFill>
                  <a:srgbClr val="F7FBFD"/>
                </a:solidFill>
                <a:latin typeface="Aptos Display"/>
                <a:ea typeface="Aptos Display"/>
                <a:cs typeface="Aptos Display"/>
              </a:defRPr>
            </a:lvl1pPr>
          </a:lstStyle>
          <a:p xmlns:a="http://schemas.openxmlformats.org/drawingml/2006/main">
            <a:pPr>
              <a:buNone/>
            </a:pPr>
            <a:r>
              <a:t>Alternatives to Docker Sandbox</a:t>
            </a:r>
          </a:p>
        </p:txBody>
      </p:sp>
      <p:sp>
        <p:nvSpPr>
          <p:cNvPr id="117" name="section-label-2">
            <a:extLst xmlns:a="http://schemas.openxmlformats.org/drawingml/2006/main">
              <a:ext uri="{FF2B5EF4-FFF2-40B4-BE49-F238E27FC236}">
                <a16:creationId xmlns:a16="http://schemas.microsoft.com/office/drawing/2014/main" id="{0F067639-69AB-46E7-95BB-090CA3AC79D9}"/>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LOCAL AND DESKTOP SANDBOX ALTERNATIVES</a:t>
            </a:r>
          </a:p>
        </p:txBody>
      </p:sp>
      <p:sp>
        <p:nvSpPr>
          <p:cNvPr id="118" name="top-accent-1">
            <a:extLst xmlns:a="http://schemas.openxmlformats.org/drawingml/2006/main">
              <a:ext uri="{FF2B5EF4-FFF2-40B4-BE49-F238E27FC236}">
                <a16:creationId xmlns:a16="http://schemas.microsoft.com/office/drawing/2014/main" id="{656522E5-B884-4CC0-8D25-60D3A640472D}"/>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119" name="deck-label-1">
            <a:extLst xmlns:a="http://schemas.openxmlformats.org/drawingml/2006/main">
              <a:ext uri="{FF2B5EF4-FFF2-40B4-BE49-F238E27FC236}">
                <a16:creationId xmlns:a16="http://schemas.microsoft.com/office/drawing/2014/main" id="{631972AF-74BE-457D-A2AA-3D64DAD90B2F}"/>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5019" name="docker-mark-1"/>
          <p:cNvPicPr>
            <a:picLocks xmlns:a="http://schemas.openxmlformats.org/drawingml/2006/main" noChangeAspect="1"/>
          </p:cNvPicPr>
          <p:nvPr/>
        </p:nvPicPr>
        <p:blipFill>
          <a:blip xmlns:r="http://schemas.openxmlformats.org/officeDocument/2006/relationships" xmlns:a="http://schemas.openxmlformats.org/drawingml/2006/main" r:embed="R3e5064d830b849fc"/>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
        <p:nvSpPr>
          <p:cNvPr id="3002" name="">
            <a:extLst xmlns:a="http://schemas.openxmlformats.org/drawingml/2006/main">
              <a:ext uri="{FF2B5EF4-FFF2-40B4-BE49-F238E27FC236}">
                <a16:creationId xmlns:a16="http://schemas.microsoft.com/office/drawing/2014/main" id="{2BDBC247-D9A6-4124-A9D5-28ECC813BEE2}"/>
              </a:ext>
            </a:extLst>
          </p:cNvPr>
          <p:cNvSpPr>
            <a:spLocks xmlns:a="http://schemas.openxmlformats.org/drawingml/2006/main" noGrp="1"/>
          </p:cNvSpPr>
          <p:nvPr/>
        </p:nvSpPr>
        <p:spPr>
          <a:xfrm xmlns:a="http://schemas.openxmlformats.org/drawingml/2006/main">
            <a:off x="609600" y="171450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650" b="1">
                <a:solidFill>
                  <a:srgbClr val="2496ED"/>
                </a:solidFill>
                <a:latin typeface="Aptos"/>
                <a:ea typeface="Aptos"/>
                <a:cs typeface="Aptos"/>
              </a:defRPr>
            </a:pPr>
            <a:r>
              <a:rPr sz="1650" b="1">
                <a:solidFill>
                  <a:srgbClr val="2496ED"/>
                </a:solidFill>
                <a:latin typeface="Aptos"/>
                <a:ea typeface="Aptos"/>
                <a:cs typeface="Aptos"/>
              </a:rPr>
              <a:t>Microsandbox</a:t>
            </a:r>
          </a:p>
        </p:txBody>
      </p:sp>
      <p:sp>
        <p:nvSpPr>
          <p:cNvPr id="3003" name="">
            <a:extLst xmlns:a="http://schemas.openxmlformats.org/drawingml/2006/main">
              <a:ext uri="{FF2B5EF4-FFF2-40B4-BE49-F238E27FC236}">
                <a16:creationId xmlns:a16="http://schemas.microsoft.com/office/drawing/2014/main" id="{AB3D1FD7-38D9-4E7C-9B96-3E1D81ADFB4F}"/>
              </a:ext>
            </a:extLst>
          </p:cNvPr>
          <p:cNvSpPr>
            <a:spLocks xmlns:a="http://schemas.openxmlformats.org/drawingml/2006/main" noGrp="1"/>
          </p:cNvSpPr>
          <p:nvPr/>
        </p:nvSpPr>
        <p:spPr>
          <a:xfrm xmlns:a="http://schemas.openxmlformats.org/drawingml/2006/main">
            <a:off x="609600" y="234315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95AEB8"/>
                </a:solidFill>
                <a:latin typeface="Aptos"/>
                <a:ea typeface="Aptos"/>
                <a:cs typeface="Aptos"/>
              </a:defRPr>
            </a:pPr>
            <a:r>
              <a:rPr sz="1350" b="0">
                <a:solidFill>
                  <a:srgbClr val="95AEB8"/>
                </a:solidFill>
                <a:latin typeface="Aptos"/>
                <a:ea typeface="Aptos"/>
                <a:cs typeface="Aptos"/>
              </a:rPr>
              <a:t/>
            </a:r>
          </a:p>
        </p:txBody>
      </p:sp>
      <p:sp>
        <p:nvSpPr>
          <p:cNvPr id="3004" name="">
            <a:extLst xmlns:a="http://schemas.openxmlformats.org/drawingml/2006/main">
              <a:ext uri="{FF2B5EF4-FFF2-40B4-BE49-F238E27FC236}">
                <a16:creationId xmlns:a16="http://schemas.microsoft.com/office/drawing/2014/main" id="{3D8FEB27-595D-449B-AC9B-7E7D8476E690}"/>
              </a:ext>
            </a:extLst>
          </p:cNvPr>
          <p:cNvSpPr>
            <a:spLocks xmlns:a="http://schemas.openxmlformats.org/drawingml/2006/main" noGrp="1"/>
          </p:cNvSpPr>
          <p:nvPr/>
        </p:nvSpPr>
        <p:spPr>
          <a:xfrm xmlns:a="http://schemas.openxmlformats.org/drawingml/2006/main">
            <a:off x="3333750" y="1714500"/>
            <a:ext cx="8229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350" b="0">
                <a:solidFill>
                  <a:srgbClr val="F7FBFD"/>
                </a:solidFill>
                <a:latin typeface="Aptos"/>
                <a:ea typeface="Aptos"/>
                <a:cs typeface="Aptos"/>
              </a:defRPr>
            </a:pPr>
            <a:r>
              <a:rPr sz="1350" b="0">
                <a:solidFill>
                  <a:srgbClr val="F7FBFD"/>
                </a:solidFill>
                <a:latin typeface="Aptos"/>
                <a:ea typeface="Aptos"/>
                <a:cs typeface="Aptos"/>
              </a:rPr>
              <a:t>Local microVMs with branching, snapshots and broad SDK support. Closest general alternative, but still beta.</a:t>
            </a:r>
          </a:p>
        </p:txBody>
      </p:sp>
      <p:sp>
        <p:nvSpPr>
          <p:cNvPr id="3005" name="">
            <a:extLst xmlns:a="http://schemas.openxmlformats.org/drawingml/2006/main">
              <a:ext uri="{FF2B5EF4-FFF2-40B4-BE49-F238E27FC236}">
                <a16:creationId xmlns:a16="http://schemas.microsoft.com/office/drawing/2014/main" id="{7721B19C-EEFB-4292-B157-F46F684A001F}"/>
              </a:ext>
            </a:extLst>
          </p:cNvPr>
          <p:cNvSpPr>
            <a:spLocks xmlns:a="http://schemas.openxmlformats.org/drawingml/2006/main" noGrp="1"/>
          </p:cNvSpPr>
          <p:nvPr/>
        </p:nvSpPr>
        <p:spPr>
          <a:xfrm xmlns:a="http://schemas.openxmlformats.org/drawingml/2006/main">
            <a:off x="552450" y="2362200"/>
            <a:ext cx="11087100" cy="14288"/>
          </a:xfrm>
          <a:prstGeom xmlns:a="http://schemas.openxmlformats.org/drawingml/2006/main" prst="rect">
            <a:avLst/>
          </a:prstGeom>
          <a:solidFill xmlns:a="http://schemas.openxmlformats.org/drawingml/2006/main">
            <a:srgbClr val="29434E"/>
          </a:solidFill>
          <a:ln xmlns:a="http://schemas.openxmlformats.org/drawingml/2006/main" w="0">
            <a:noFill/>
          </a:ln>
        </p:spPr>
      </p:sp>
      <p:sp>
        <p:nvSpPr>
          <p:cNvPr id="3006" name="">
            <a:extLst xmlns:a="http://schemas.openxmlformats.org/drawingml/2006/main">
              <a:ext uri="{FF2B5EF4-FFF2-40B4-BE49-F238E27FC236}">
                <a16:creationId xmlns:a16="http://schemas.microsoft.com/office/drawing/2014/main" id="{ACD3A552-AC6E-40AB-984E-C6BCAB7E944E}"/>
              </a:ext>
            </a:extLst>
          </p:cNvPr>
          <p:cNvSpPr>
            <a:spLocks xmlns:a="http://schemas.openxmlformats.org/drawingml/2006/main" noGrp="1"/>
          </p:cNvSpPr>
          <p:nvPr/>
        </p:nvSpPr>
        <p:spPr>
          <a:xfrm xmlns:a="http://schemas.openxmlformats.org/drawingml/2006/main">
            <a:off x="609600" y="241935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650" b="1">
                <a:solidFill>
                  <a:srgbClr val="2496ED"/>
                </a:solidFill>
                <a:latin typeface="Aptos"/>
                <a:ea typeface="Aptos"/>
                <a:cs typeface="Aptos"/>
              </a:defRPr>
            </a:pPr>
            <a:r>
              <a:rPr sz="1650" b="1">
                <a:solidFill>
                  <a:srgbClr val="2496ED"/>
                </a:solidFill>
                <a:latin typeface="Aptos"/>
                <a:ea typeface="Aptos"/>
                <a:cs typeface="Aptos"/>
              </a:rPr>
              <a:t>BoxLite</a:t>
            </a:r>
          </a:p>
        </p:txBody>
      </p:sp>
      <p:sp>
        <p:nvSpPr>
          <p:cNvPr id="3007" name="">
            <a:extLst xmlns:a="http://schemas.openxmlformats.org/drawingml/2006/main">
              <a:ext uri="{FF2B5EF4-FFF2-40B4-BE49-F238E27FC236}">
                <a16:creationId xmlns:a16="http://schemas.microsoft.com/office/drawing/2014/main" id="{97F0E330-3278-4ABD-AE2F-5D521E185D50}"/>
              </a:ext>
            </a:extLst>
          </p:cNvPr>
          <p:cNvSpPr>
            <a:spLocks xmlns:a="http://schemas.openxmlformats.org/drawingml/2006/main" noGrp="1"/>
          </p:cNvSpPr>
          <p:nvPr/>
        </p:nvSpPr>
        <p:spPr>
          <a:xfrm xmlns:a="http://schemas.openxmlformats.org/drawingml/2006/main">
            <a:off x="609600" y="375285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95AEB8"/>
                </a:solidFill>
                <a:latin typeface="Aptos"/>
                <a:ea typeface="Aptos"/>
                <a:cs typeface="Aptos"/>
              </a:defRPr>
            </a:pPr>
            <a:r>
              <a:rPr sz="1350" b="0">
                <a:solidFill>
                  <a:srgbClr val="95AEB8"/>
                </a:solidFill>
                <a:latin typeface="Aptos"/>
                <a:ea typeface="Aptos"/>
                <a:cs typeface="Aptos"/>
              </a:rPr>
              <a:t/>
            </a:r>
          </a:p>
        </p:txBody>
      </p:sp>
      <p:sp>
        <p:nvSpPr>
          <p:cNvPr id="3008" name="">
            <a:extLst xmlns:a="http://schemas.openxmlformats.org/drawingml/2006/main">
              <a:ext uri="{FF2B5EF4-FFF2-40B4-BE49-F238E27FC236}">
                <a16:creationId xmlns:a16="http://schemas.microsoft.com/office/drawing/2014/main" id="{808028BD-0FE0-481A-AE7F-2FE42D86E3FC}"/>
              </a:ext>
            </a:extLst>
          </p:cNvPr>
          <p:cNvSpPr>
            <a:spLocks xmlns:a="http://schemas.openxmlformats.org/drawingml/2006/main" noGrp="1"/>
          </p:cNvSpPr>
          <p:nvPr/>
        </p:nvSpPr>
        <p:spPr>
          <a:xfrm xmlns:a="http://schemas.openxmlformats.org/drawingml/2006/main">
            <a:off x="3333750" y="2419350"/>
            <a:ext cx="8229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350" b="0">
                <a:solidFill>
                  <a:srgbClr val="F7FBFD"/>
                </a:solidFill>
                <a:latin typeface="Aptos"/>
                <a:ea typeface="Aptos"/>
                <a:cs typeface="Aptos"/>
              </a:defRPr>
            </a:pPr>
            <a:r>
              <a:rPr sz="1350" b="0">
                <a:solidFill>
                  <a:srgbClr val="F7FBFD"/>
                </a:solidFill>
                <a:latin typeface="Aptos"/>
                <a:ea typeface="Aptos"/>
                <a:cs typeface="Aptos"/>
              </a:rPr>
              <a:t>Daemonless microVMs with a Linux desktop and computer-use APIs. Best fit for custom agent frameworks.</a:t>
            </a:r>
          </a:p>
        </p:txBody>
      </p:sp>
      <p:sp>
        <p:nvSpPr>
          <p:cNvPr id="3009" name="">
            <a:extLst xmlns:a="http://schemas.openxmlformats.org/drawingml/2006/main">
              <a:ext uri="{FF2B5EF4-FFF2-40B4-BE49-F238E27FC236}">
                <a16:creationId xmlns:a16="http://schemas.microsoft.com/office/drawing/2014/main" id="{07A7A5E0-B927-48F0-9528-206D6C54BCFA}"/>
              </a:ext>
            </a:extLst>
          </p:cNvPr>
          <p:cNvSpPr>
            <a:spLocks xmlns:a="http://schemas.openxmlformats.org/drawingml/2006/main" noGrp="1"/>
          </p:cNvSpPr>
          <p:nvPr/>
        </p:nvSpPr>
        <p:spPr>
          <a:xfrm xmlns:a="http://schemas.openxmlformats.org/drawingml/2006/main">
            <a:off x="552450" y="3067050"/>
            <a:ext cx="11087100" cy="14288"/>
          </a:xfrm>
          <a:prstGeom xmlns:a="http://schemas.openxmlformats.org/drawingml/2006/main" prst="rect">
            <a:avLst/>
          </a:prstGeom>
          <a:solidFill xmlns:a="http://schemas.openxmlformats.org/drawingml/2006/main">
            <a:srgbClr val="29434E"/>
          </a:solidFill>
          <a:ln xmlns:a="http://schemas.openxmlformats.org/drawingml/2006/main" w="0">
            <a:noFill/>
          </a:ln>
        </p:spPr>
      </p:sp>
      <p:sp>
        <p:nvSpPr>
          <p:cNvPr id="3010" name="">
            <a:extLst xmlns:a="http://schemas.openxmlformats.org/drawingml/2006/main">
              <a:ext uri="{FF2B5EF4-FFF2-40B4-BE49-F238E27FC236}">
                <a16:creationId xmlns:a16="http://schemas.microsoft.com/office/drawing/2014/main" id="{BEF03C13-F389-4CDA-9E9B-2FB732534CFC}"/>
              </a:ext>
            </a:extLst>
          </p:cNvPr>
          <p:cNvSpPr>
            <a:spLocks xmlns:a="http://schemas.openxmlformats.org/drawingml/2006/main" noGrp="1"/>
          </p:cNvSpPr>
          <p:nvPr/>
        </p:nvSpPr>
        <p:spPr>
          <a:xfrm xmlns:a="http://schemas.openxmlformats.org/drawingml/2006/main">
            <a:off x="609600" y="312420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650" b="1">
                <a:solidFill>
                  <a:srgbClr val="2496ED"/>
                </a:solidFill>
                <a:latin typeface="Aptos"/>
                <a:ea typeface="Aptos"/>
                <a:cs typeface="Aptos"/>
              </a:defRPr>
            </a:pPr>
            <a:r>
              <a:rPr sz="1650" b="1">
                <a:solidFill>
                  <a:srgbClr val="2496ED"/>
                </a:solidFill>
                <a:latin typeface="Aptos"/>
                <a:ea typeface="Aptos"/>
                <a:cs typeface="Aptos"/>
              </a:rPr>
              <a:t>Shuru</a:t>
            </a:r>
          </a:p>
        </p:txBody>
      </p:sp>
      <p:sp>
        <p:nvSpPr>
          <p:cNvPr id="3011" name="">
            <a:extLst xmlns:a="http://schemas.openxmlformats.org/drawingml/2006/main">
              <a:ext uri="{FF2B5EF4-FFF2-40B4-BE49-F238E27FC236}">
                <a16:creationId xmlns:a16="http://schemas.microsoft.com/office/drawing/2014/main" id="{581251EA-DB70-4D65-8255-91F177ED7429}"/>
              </a:ext>
            </a:extLst>
          </p:cNvPr>
          <p:cNvSpPr>
            <a:spLocks xmlns:a="http://schemas.openxmlformats.org/drawingml/2006/main" noGrp="1"/>
          </p:cNvSpPr>
          <p:nvPr/>
        </p:nvSpPr>
        <p:spPr>
          <a:xfrm xmlns:a="http://schemas.openxmlformats.org/drawingml/2006/main">
            <a:off x="609600" y="516255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95AEB8"/>
                </a:solidFill>
                <a:latin typeface="Aptos"/>
                <a:ea typeface="Aptos"/>
                <a:cs typeface="Aptos"/>
              </a:defRPr>
            </a:pPr>
            <a:r>
              <a:rPr sz="1350" b="0">
                <a:solidFill>
                  <a:srgbClr val="95AEB8"/>
                </a:solidFill>
                <a:latin typeface="Aptos"/>
                <a:ea typeface="Aptos"/>
                <a:cs typeface="Aptos"/>
              </a:rPr>
              <a:t/>
            </a:r>
          </a:p>
        </p:txBody>
      </p:sp>
      <p:sp>
        <p:nvSpPr>
          <p:cNvPr id="3012" name="">
            <a:extLst xmlns:a="http://schemas.openxmlformats.org/drawingml/2006/main">
              <a:ext uri="{FF2B5EF4-FFF2-40B4-BE49-F238E27FC236}">
                <a16:creationId xmlns:a16="http://schemas.microsoft.com/office/drawing/2014/main" id="{7EEC2F82-8BB8-4498-A721-14AE1D95D11A}"/>
              </a:ext>
            </a:extLst>
          </p:cNvPr>
          <p:cNvSpPr>
            <a:spLocks xmlns:a="http://schemas.openxmlformats.org/drawingml/2006/main" noGrp="1"/>
          </p:cNvSpPr>
          <p:nvPr/>
        </p:nvSpPr>
        <p:spPr>
          <a:xfrm xmlns:a="http://schemas.openxmlformats.org/drawingml/2006/main">
            <a:off x="3333750" y="3124200"/>
            <a:ext cx="8229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350" b="0">
                <a:solidFill>
                  <a:srgbClr val="F7FBFD"/>
                </a:solidFill>
                <a:latin typeface="Aptos"/>
                <a:ea typeface="Aptos"/>
                <a:cs typeface="Aptos"/>
              </a:defRPr>
            </a:pPr>
            <a:r>
              <a:rPr sz="1350" b="0">
                <a:solidFill>
                  <a:srgbClr val="F7FBFD"/>
                </a:solidFill>
                <a:latin typeface="Aptos"/>
                <a:ea typeface="Aptos"/>
                <a:cs typeface="Aptos"/>
              </a:rPr>
              <a:t>Ephemeral Linux microVMs with read-only mounts and networking off by default. Mac-first and security focused.</a:t>
            </a:r>
          </a:p>
        </p:txBody>
      </p:sp>
      <p:sp>
        <p:nvSpPr>
          <p:cNvPr id="5002" name="desktop-divider">
            <a:extLst xmlns:a="http://schemas.openxmlformats.org/drawingml/2006/main">
              <a:ext uri="{FF2B5EF4-FFF2-40B4-BE49-F238E27FC236}">
                <a16:creationId xmlns:a16="http://schemas.microsoft.com/office/drawing/2014/main" id="{55C32D08-A36B-4D60-BDF7-F6CCDBA106B2}"/>
              </a:ext>
            </a:extLst>
          </p:cNvPr>
          <p:cNvSpPr>
            <a:spLocks xmlns:a="http://schemas.openxmlformats.org/drawingml/2006/main" noGrp="1"/>
          </p:cNvSpPr>
          <p:nvPr/>
        </p:nvSpPr>
        <p:spPr>
          <a:xfrm xmlns:a="http://schemas.openxmlformats.org/drawingml/2006/main">
            <a:off x="552450" y="3771900"/>
            <a:ext cx="11087100" cy="14288"/>
          </a:xfrm>
          <a:prstGeom xmlns:a="http://schemas.openxmlformats.org/drawingml/2006/main" prst="rect">
            <a:avLst/>
          </a:prstGeom>
          <a:solidFill xmlns:a="http://schemas.openxmlformats.org/drawingml/2006/main">
            <a:srgbClr val="29434E"/>
          </a:solidFill>
          <a:ln xmlns:a="http://schemas.openxmlformats.org/drawingml/2006/main" w="0">
            <a:noFill/>
          </a:ln>
        </p:spPr>
      </p:sp>
      <p:sp>
        <p:nvSpPr>
          <p:cNvPr id="5003" name="desktop-label">
            <a:extLst xmlns:a="http://schemas.openxmlformats.org/drawingml/2006/main">
              <a:ext uri="{FF2B5EF4-FFF2-40B4-BE49-F238E27FC236}">
                <a16:creationId xmlns:a16="http://schemas.microsoft.com/office/drawing/2014/main" id="{99773928-30DA-4FE8-8BD6-C9626C970F84}"/>
              </a:ext>
            </a:extLst>
          </p:cNvPr>
          <p:cNvSpPr>
            <a:spLocks xmlns:a="http://schemas.openxmlformats.org/drawingml/2006/main" noGrp="1"/>
          </p:cNvSpPr>
          <p:nvPr/>
        </p:nvSpPr>
        <p:spPr>
          <a:xfrm xmlns:a="http://schemas.openxmlformats.org/drawingml/2006/main">
            <a:off x="609600" y="382905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650" b="1">
                <a:solidFill>
                  <a:srgbClr val="2496ED"/>
                </a:solidFill>
                <a:latin typeface="Aptos"/>
                <a:ea typeface="Aptos"/>
                <a:cs typeface="Aptos"/>
              </a:defRPr>
            </a:pPr>
            <a:r>
              <a:rPr sz="1650" b="1">
                <a:solidFill>
                  <a:srgbClr val="2496ED"/>
                </a:solidFill>
                <a:latin typeface="Aptos"/>
                <a:ea typeface="Aptos"/>
                <a:cs typeface="Aptos"/>
              </a:rPr>
              <a:t>Parallels Desktop</a:t>
            </a:r>
          </a:p>
        </p:txBody>
      </p:sp>
      <p:sp>
        <p:nvSpPr>
          <p:cNvPr id="5004" name="desktop-description">
            <a:extLst xmlns:a="http://schemas.openxmlformats.org/drawingml/2006/main">
              <a:ext uri="{FF2B5EF4-FFF2-40B4-BE49-F238E27FC236}">
                <a16:creationId xmlns:a16="http://schemas.microsoft.com/office/drawing/2014/main" id="{FD69FAE9-BFE3-4118-B0A2-8EFB052F1B12}"/>
              </a:ext>
            </a:extLst>
          </p:cNvPr>
          <p:cNvSpPr>
            <a:spLocks xmlns:a="http://schemas.openxmlformats.org/drawingml/2006/main" noGrp="1"/>
          </p:cNvSpPr>
          <p:nvPr/>
        </p:nvSpPr>
        <p:spPr>
          <a:xfrm xmlns:a="http://schemas.openxmlformats.org/drawingml/2006/main">
            <a:off x="3333750" y="3829050"/>
            <a:ext cx="8229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350" b="0">
                <a:solidFill>
                  <a:srgbClr val="F7FBFD"/>
                </a:solidFill>
                <a:latin typeface="Aptos"/>
                <a:ea typeface="Aptos"/>
                <a:cs typeface="Aptos"/>
              </a:defRPr>
            </a:pPr>
            <a:r>
              <a:rPr sz="1350" b="0">
                <a:solidFill>
                  <a:srgbClr val="F7FBFD"/>
                </a:solidFill>
                <a:latin typeface="Aptos"/>
                <a:ea typeface="Aptos"/>
                <a:cs typeface="Aptos"/>
              </a:rPr>
              <a:t>Cloned macOS, Windows and Linux desktops. Disable host folders, clipboard and app sharing for agent isolation.</a:t>
            </a:r>
          </a:p>
        </p:txBody>
      </p:sp>
      <p:sp>
        <p:nvSpPr>
          <p:cNvPr id="5006" name="desktop-option-name-5">
            <a:extLst xmlns:a="http://schemas.openxmlformats.org/drawingml/2006/main">
              <a:ext uri="{FF2B5EF4-FFF2-40B4-BE49-F238E27FC236}">
                <a16:creationId xmlns:a16="http://schemas.microsoft.com/office/drawing/2014/main" id="{59075CC6-BF12-4444-804D-F2D3A0F46E8A}"/>
              </a:ext>
            </a:extLst>
          </p:cNvPr>
          <p:cNvSpPr>
            <a:spLocks xmlns:a="http://schemas.openxmlformats.org/drawingml/2006/main" noGrp="1"/>
          </p:cNvSpPr>
          <p:nvPr/>
        </p:nvSpPr>
        <p:spPr>
          <a:xfrm xmlns:a="http://schemas.openxmlformats.org/drawingml/2006/main">
            <a:off x="609600" y="453390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650" b="1">
                <a:solidFill>
                  <a:srgbClr val="2496ED"/>
                </a:solidFill>
                <a:latin typeface="Aptos"/>
                <a:ea typeface="Aptos"/>
                <a:cs typeface="Aptos"/>
              </a:defRPr>
            </a:pPr>
            <a:r>
              <a:rPr sz="1650" b="1">
                <a:solidFill>
                  <a:srgbClr val="2496ED"/>
                </a:solidFill>
                <a:latin typeface="Aptos"/>
                <a:ea typeface="Aptos"/>
                <a:cs typeface="Aptos"/>
              </a:rPr>
              <a:t>Cua + Lume</a:t>
            </a:r>
          </a:p>
        </p:txBody>
      </p:sp>
      <p:sp>
        <p:nvSpPr>
          <p:cNvPr id="5007" name="desktop-option-description-5">
            <a:extLst xmlns:a="http://schemas.openxmlformats.org/drawingml/2006/main">
              <a:ext uri="{FF2B5EF4-FFF2-40B4-BE49-F238E27FC236}">
                <a16:creationId xmlns:a16="http://schemas.microsoft.com/office/drawing/2014/main" id="{C0113F28-DAC7-49F2-AA48-08BE771660A1}"/>
              </a:ext>
            </a:extLst>
          </p:cNvPr>
          <p:cNvSpPr>
            <a:spLocks xmlns:a="http://schemas.openxmlformats.org/drawingml/2006/main" noGrp="1"/>
          </p:cNvSpPr>
          <p:nvPr/>
        </p:nvSpPr>
        <p:spPr>
          <a:xfrm xmlns:a="http://schemas.openxmlformats.org/drawingml/2006/main">
            <a:off x="3333750" y="4533900"/>
            <a:ext cx="8229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350">
                <a:solidFill>
                  <a:srgbClr val="F7FBFD"/>
                </a:solidFill>
                <a:latin typeface="Aptos"/>
                <a:ea typeface="Aptos"/>
                <a:cs typeface="Aptos"/>
              </a:defRPr>
            </a:pPr>
            <a:r>
              <a:rPr sz="1350">
                <a:solidFill>
                  <a:srgbClr val="F7FBFD"/>
                </a:solidFill>
                <a:latin typeface="Aptos"/>
                <a:ea typeface="Aptos"/>
                <a:cs typeface="Aptos"/>
              </a:rPr>
              <a:t>Local macOS and Linux VMs with screenshot, mouse and keyboard APIs for computer-use agents.</a:t>
            </a:r>
          </a:p>
        </p:txBody>
      </p:sp>
      <p:sp>
        <p:nvSpPr>
          <p:cNvPr id="5008" name="desktop-option-name-6">
            <a:extLst xmlns:a="http://schemas.openxmlformats.org/drawingml/2006/main">
              <a:ext uri="{FF2B5EF4-FFF2-40B4-BE49-F238E27FC236}">
                <a16:creationId xmlns:a16="http://schemas.microsoft.com/office/drawing/2014/main" id="{14292F5F-11D2-4453-A6D9-FF60FA67C2C6}"/>
              </a:ext>
            </a:extLst>
          </p:cNvPr>
          <p:cNvSpPr>
            <a:spLocks xmlns:a="http://schemas.openxmlformats.org/drawingml/2006/main" noGrp="1"/>
          </p:cNvSpPr>
          <p:nvPr/>
        </p:nvSpPr>
        <p:spPr>
          <a:xfrm xmlns:a="http://schemas.openxmlformats.org/drawingml/2006/main">
            <a:off x="609600" y="523875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650" b="1">
                <a:solidFill>
                  <a:srgbClr val="2496ED"/>
                </a:solidFill>
                <a:latin typeface="Aptos"/>
                <a:ea typeface="Aptos"/>
                <a:cs typeface="Aptos"/>
              </a:defRPr>
            </a:pPr>
            <a:r>
              <a:rPr sz="1650" b="1">
                <a:solidFill>
                  <a:srgbClr val="2496ED"/>
                </a:solidFill>
                <a:latin typeface="Aptos"/>
                <a:ea typeface="Aptos"/>
                <a:cs typeface="Aptos"/>
              </a:rPr>
              <a:t>Tart</a:t>
            </a:r>
          </a:p>
        </p:txBody>
      </p:sp>
      <p:sp>
        <p:nvSpPr>
          <p:cNvPr id="5009" name="desktop-option-description-6">
            <a:extLst xmlns:a="http://schemas.openxmlformats.org/drawingml/2006/main">
              <a:ext uri="{FF2B5EF4-FFF2-40B4-BE49-F238E27FC236}">
                <a16:creationId xmlns:a16="http://schemas.microsoft.com/office/drawing/2014/main" id="{7C245629-0C68-4BC4-9319-38B604A8346F}"/>
              </a:ext>
            </a:extLst>
          </p:cNvPr>
          <p:cNvSpPr>
            <a:spLocks xmlns:a="http://schemas.openxmlformats.org/drawingml/2006/main" noGrp="1"/>
          </p:cNvSpPr>
          <p:nvPr/>
        </p:nvSpPr>
        <p:spPr>
          <a:xfrm xmlns:a="http://schemas.openxmlformats.org/drawingml/2006/main">
            <a:off x="3333750" y="5238750"/>
            <a:ext cx="8229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350">
                <a:solidFill>
                  <a:srgbClr val="F7FBFD"/>
                </a:solidFill>
                <a:latin typeface="Aptos"/>
                <a:ea typeface="Aptos"/>
                <a:cs typeface="Aptos"/>
              </a:defRPr>
            </a:pPr>
            <a:r>
              <a:rPr sz="1350">
                <a:solidFill>
                  <a:srgbClr val="F7FBFD"/>
                </a:solidFill>
                <a:latin typeface="Aptos"/>
                <a:ea typeface="Aptos"/>
                <a:cs typeface="Aptos"/>
              </a:rPr>
              <a:t>Automatable macOS and Linux VMs on Apple silicon. Strong for cloning and CI. Desktop control needs extra tooling.</a:t>
            </a:r>
          </a:p>
        </p:txBody>
      </p:sp>
      <p:sp>
        <p:nvSpPr>
          <p:cNvPr id="5010" name="desktop-option-name-7">
            <a:extLst xmlns:a="http://schemas.openxmlformats.org/drawingml/2006/main">
              <a:ext uri="{FF2B5EF4-FFF2-40B4-BE49-F238E27FC236}">
                <a16:creationId xmlns:a16="http://schemas.microsoft.com/office/drawing/2014/main" id="{599A4985-63DF-4D70-879B-448BC70BA4DD}"/>
              </a:ext>
            </a:extLst>
          </p:cNvPr>
          <p:cNvSpPr>
            <a:spLocks xmlns:a="http://schemas.openxmlformats.org/drawingml/2006/main" noGrp="1"/>
          </p:cNvSpPr>
          <p:nvPr/>
        </p:nvSpPr>
        <p:spPr>
          <a:xfrm xmlns:a="http://schemas.openxmlformats.org/drawingml/2006/main">
            <a:off x="609600" y="594360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650" b="1">
                <a:solidFill>
                  <a:srgbClr val="2496ED"/>
                </a:solidFill>
                <a:latin typeface="Aptos"/>
                <a:ea typeface="Aptos"/>
                <a:cs typeface="Aptos"/>
              </a:defRPr>
            </a:pPr>
            <a:r>
              <a:rPr sz="1650" b="1">
                <a:solidFill>
                  <a:srgbClr val="2496ED"/>
                </a:solidFill>
                <a:latin typeface="Aptos"/>
                <a:ea typeface="Aptos"/>
                <a:cs typeface="Aptos"/>
              </a:rPr>
              <a:t>Windows Sandbox</a:t>
            </a:r>
          </a:p>
        </p:txBody>
      </p:sp>
      <p:sp>
        <p:nvSpPr>
          <p:cNvPr id="5011" name="desktop-option-description-7">
            <a:extLst xmlns:a="http://schemas.openxmlformats.org/drawingml/2006/main">
              <a:ext uri="{FF2B5EF4-FFF2-40B4-BE49-F238E27FC236}">
                <a16:creationId xmlns:a16="http://schemas.microsoft.com/office/drawing/2014/main" id="{B672FC34-3BC6-4C6C-8389-CC145E0F977C}"/>
              </a:ext>
            </a:extLst>
          </p:cNvPr>
          <p:cNvSpPr>
            <a:spLocks xmlns:a="http://schemas.openxmlformats.org/drawingml/2006/main" noGrp="1"/>
          </p:cNvSpPr>
          <p:nvPr/>
        </p:nvSpPr>
        <p:spPr>
          <a:xfrm xmlns:a="http://schemas.openxmlformats.org/drawingml/2006/main">
            <a:off x="3333750" y="5943600"/>
            <a:ext cx="8229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350">
                <a:solidFill>
                  <a:srgbClr val="F7FBFD"/>
                </a:solidFill>
                <a:latin typeface="Aptos"/>
                <a:ea typeface="Aptos"/>
                <a:cs typeface="Aptos"/>
              </a:defRPr>
            </a:pPr>
            <a:r>
              <a:rPr sz="1350">
                <a:solidFill>
                  <a:srgbClr val="F7FBFD"/>
                </a:solidFill>
                <a:latin typeface="Aptos"/>
                <a:ea typeface="Aptos"/>
                <a:cs typeface="Aptos"/>
              </a:rPr>
              <a:t>Disposable Windows desktop that resets when closed. Restrict networking, clipboard and mapped folders.</a:t>
            </a:r>
          </a:p>
        </p:txBody>
      </p:sp>
      <p:sp>
        <p:nvSpPr>
          <p:cNvPr id="5012" name="desktop-option-divider-4">
            <a:extLst xmlns:a="http://schemas.openxmlformats.org/drawingml/2006/main">
              <a:ext uri="{FF2B5EF4-FFF2-40B4-BE49-F238E27FC236}">
                <a16:creationId xmlns:a16="http://schemas.microsoft.com/office/drawing/2014/main" id="{EEC37533-8968-4B37-AAF7-67556C63BC99}"/>
              </a:ext>
            </a:extLst>
          </p:cNvPr>
          <p:cNvSpPr>
            <a:spLocks xmlns:a="http://schemas.openxmlformats.org/drawingml/2006/main" noGrp="1"/>
          </p:cNvSpPr>
          <p:nvPr/>
        </p:nvSpPr>
        <p:spPr>
          <a:xfrm xmlns:a="http://schemas.openxmlformats.org/drawingml/2006/main">
            <a:off x="552450" y="4476750"/>
            <a:ext cx="11087100" cy="14288"/>
          </a:xfrm>
          <a:prstGeom xmlns:a="http://schemas.openxmlformats.org/drawingml/2006/main" prst="rect">
            <a:avLst/>
          </a:prstGeom>
          <a:solidFill xmlns:a="http://schemas.openxmlformats.org/drawingml/2006/main">
            <a:srgbClr val="29434E"/>
          </a:solidFill>
          <a:ln xmlns:a="http://schemas.openxmlformats.org/drawingml/2006/main" w="0">
            <a:noFill/>
          </a:ln>
        </p:spPr>
      </p:sp>
      <p:sp>
        <p:nvSpPr>
          <p:cNvPr id="5013" name="desktop-option-divider-5">
            <a:extLst xmlns:a="http://schemas.openxmlformats.org/drawingml/2006/main">
              <a:ext uri="{FF2B5EF4-FFF2-40B4-BE49-F238E27FC236}">
                <a16:creationId xmlns:a16="http://schemas.microsoft.com/office/drawing/2014/main" id="{B6C6F385-3107-473E-BE22-2D1FA6866B8F}"/>
              </a:ext>
            </a:extLst>
          </p:cNvPr>
          <p:cNvSpPr>
            <a:spLocks xmlns:a="http://schemas.openxmlformats.org/drawingml/2006/main" noGrp="1"/>
          </p:cNvSpPr>
          <p:nvPr/>
        </p:nvSpPr>
        <p:spPr>
          <a:xfrm xmlns:a="http://schemas.openxmlformats.org/drawingml/2006/main">
            <a:off x="552450" y="5181600"/>
            <a:ext cx="11087100" cy="14288"/>
          </a:xfrm>
          <a:prstGeom xmlns:a="http://schemas.openxmlformats.org/drawingml/2006/main" prst="rect">
            <a:avLst/>
          </a:prstGeom>
          <a:solidFill xmlns:a="http://schemas.openxmlformats.org/drawingml/2006/main">
            <a:srgbClr val="29434E"/>
          </a:solidFill>
          <a:ln xmlns:a="http://schemas.openxmlformats.org/drawingml/2006/main" w="0">
            <a:noFill/>
          </a:ln>
        </p:spPr>
      </p:sp>
      <p:sp>
        <p:nvSpPr>
          <p:cNvPr id="5014" name="desktop-option-divider-6">
            <a:extLst xmlns:a="http://schemas.openxmlformats.org/drawingml/2006/main">
              <a:ext uri="{FF2B5EF4-FFF2-40B4-BE49-F238E27FC236}">
                <a16:creationId xmlns:a16="http://schemas.microsoft.com/office/drawing/2014/main" id="{9FE1BA3A-C4EB-453C-AABA-2506C3977344}"/>
              </a:ext>
            </a:extLst>
          </p:cNvPr>
          <p:cNvSpPr>
            <a:spLocks xmlns:a="http://schemas.openxmlformats.org/drawingml/2006/main" noGrp="1"/>
          </p:cNvSpPr>
          <p:nvPr/>
        </p:nvSpPr>
        <p:spPr>
          <a:xfrm xmlns:a="http://schemas.openxmlformats.org/drawingml/2006/main">
            <a:off x="552450" y="5886450"/>
            <a:ext cx="11087100" cy="14288"/>
          </a:xfrm>
          <a:prstGeom xmlns:a="http://schemas.openxmlformats.org/drawingml/2006/main" prst="rect">
            <a:avLst/>
          </a:prstGeom>
          <a:solidFill xmlns:a="http://schemas.openxmlformats.org/drawingml/2006/main">
            <a:srgbClr val="29434E"/>
          </a:solidFill>
          <a:ln xmlns:a="http://schemas.openxmlformats.org/drawingml/2006/main" w="0">
            <a:noFill/>
          </a:ln>
        </p:spPr>
      </p:sp>
    </p:spTree>
    <p:extLst>
      <p:ext uri="{BB962C8B-B14F-4D97-AF65-F5344CB8AC3E}">
        <p14:creationId xmlns:p14="http://schemas.microsoft.com/office/powerpoint/2010/main" val="668890941"/>
      </p:ext>
    </p:extLst>
  </p:cSld>
</p:sld>
</file>

<file path=ppt/slides/slide10.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110" name="template-title">
            <a:extLst xmlns:a="http://schemas.openxmlformats.org/drawingml/2006/main">
              <a:ext uri="{FF2B5EF4-FFF2-40B4-BE49-F238E27FC236}">
                <a16:creationId xmlns:a16="http://schemas.microsoft.com/office/drawing/2014/main" id="{AD2303A5-9531-4026-8AA3-09628C1ED46C}"/>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300" b="1">
                <a:solidFill>
                  <a:srgbClr val="F7FBFD"/>
                </a:solidFill>
                <a:latin typeface="Aptos Display"/>
                <a:ea typeface="Aptos Display"/>
                <a:cs typeface="Aptos Display"/>
              </a:defRPr>
            </a:lvl1pPr>
          </a:lstStyle>
          <a:p xmlns:a="http://schemas.openxmlformats.org/drawingml/2006/main">
            <a:pPr>
              <a:buNone/>
            </a:pPr>
            <a:r>
              <a:t>Local vs. cloud agent sandboxes</a:t>
            </a:r>
          </a:p>
        </p:txBody>
      </p:sp>
      <p:sp>
        <p:nvSpPr>
          <p:cNvPr id="117" name="section-label-2">
            <a:extLst xmlns:a="http://schemas.openxmlformats.org/drawingml/2006/main">
              <a:ext uri="{FF2B5EF4-FFF2-40B4-BE49-F238E27FC236}">
                <a16:creationId xmlns:a16="http://schemas.microsoft.com/office/drawing/2014/main" id="{DD1118EE-C729-4D39-8BEA-DDECC8AF4AC3}"/>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DEPLOYMENT + PROTECTION</a:t>
            </a:r>
          </a:p>
        </p:txBody>
      </p:sp>
      <p:sp>
        <p:nvSpPr>
          <p:cNvPr id="118" name="top-accent-1">
            <a:extLst xmlns:a="http://schemas.openxmlformats.org/drawingml/2006/main">
              <a:ext uri="{FF2B5EF4-FFF2-40B4-BE49-F238E27FC236}">
                <a16:creationId xmlns:a16="http://schemas.microsoft.com/office/drawing/2014/main" id="{198AFB17-C10E-4F77-B1A3-D89E2A321450}"/>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119" name="deck-label-1">
            <a:extLst xmlns:a="http://schemas.openxmlformats.org/drawingml/2006/main">
              <a:ext uri="{FF2B5EF4-FFF2-40B4-BE49-F238E27FC236}">
                <a16:creationId xmlns:a16="http://schemas.microsoft.com/office/drawing/2014/main" id="{45F15A95-5C7D-4934-B10B-E5100D2D83F8}"/>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4030" name="docker-mark-1"/>
          <p:cNvPicPr>
            <a:picLocks xmlns:a="http://schemas.openxmlformats.org/drawingml/2006/main" noChangeAspect="1"/>
          </p:cNvPicPr>
          <p:nvPr/>
        </p:nvPicPr>
        <p:blipFill>
          <a:blip xmlns:r="http://schemas.openxmlformats.org/officeDocument/2006/relationships" xmlns:a="http://schemas.openxmlformats.org/drawingml/2006/main" r:embed="Rda392f5403ea4b2c"/>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
        <p:nvSpPr>
          <p:cNvPr id="4002" name="Local agent sandboxes">
            <a:extLst xmlns:a="http://schemas.openxmlformats.org/drawingml/2006/main">
              <a:ext uri="{FF2B5EF4-FFF2-40B4-BE49-F238E27FC236}">
                <a16:creationId xmlns:a16="http://schemas.microsoft.com/office/drawing/2014/main" id="{B025ABF8-248E-41E0-BA0E-A07F4CA0C6F9}"/>
              </a:ext>
            </a:extLst>
          </p:cNvPr>
          <p:cNvSpPr>
            <a:spLocks xmlns:a="http://schemas.openxmlformats.org/drawingml/2006/main" noGrp="1"/>
          </p:cNvSpPr>
          <p:nvPr/>
        </p:nvSpPr>
        <p:spPr>
          <a:xfrm xmlns:a="http://schemas.openxmlformats.org/drawingml/2006/main">
            <a:off x="609600" y="17430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2250" b="1">
                <a:solidFill>
                  <a:srgbClr val="2496ED"/>
                </a:solidFill>
                <a:latin typeface="Aptos"/>
                <a:ea typeface="Aptos"/>
                <a:cs typeface="Aptos"/>
              </a:defRPr>
            </a:pPr>
            <a:r>
              <a:rPr sz="2250" b="1">
                <a:solidFill>
                  <a:srgbClr val="2496ED"/>
                </a:solidFill>
                <a:latin typeface="Aptos"/>
                <a:ea typeface="Aptos"/>
                <a:cs typeface="Aptos"/>
              </a:rPr>
              <a:t>Local agent sandboxes</a:t>
            </a:r>
          </a:p>
        </p:txBody>
      </p:sp>
      <p:sp>
        <p:nvSpPr>
          <p:cNvPr id="4003" name="">
            <a:extLst xmlns:a="http://schemas.openxmlformats.org/drawingml/2006/main">
              <a:ext uri="{FF2B5EF4-FFF2-40B4-BE49-F238E27FC236}">
                <a16:creationId xmlns:a16="http://schemas.microsoft.com/office/drawing/2014/main" id="{E38B4ADF-998F-4D07-BF94-30CED3B56C34}"/>
              </a:ext>
            </a:extLst>
          </p:cNvPr>
          <p:cNvSpPr>
            <a:spLocks xmlns:a="http://schemas.openxmlformats.org/drawingml/2006/main" noGrp="1"/>
          </p:cNvSpPr>
          <p:nvPr/>
        </p:nvSpPr>
        <p:spPr>
          <a:xfrm xmlns:a="http://schemas.openxmlformats.org/drawingml/2006/main">
            <a:off x="609600" y="2200275"/>
            <a:ext cx="5181600" cy="19050"/>
          </a:xfrm>
          <a:prstGeom xmlns:a="http://schemas.openxmlformats.org/drawingml/2006/main" prst="rect">
            <a:avLst/>
          </a:prstGeom>
          <a:solidFill xmlns:a="http://schemas.openxmlformats.org/drawingml/2006/main">
            <a:srgbClr val="2496ED"/>
          </a:solidFill>
          <a:ln xmlns:a="http://schemas.openxmlformats.org/drawingml/2006/main" w="0">
            <a:noFill/>
          </a:ln>
        </p:spPr>
      </p:sp>
      <p:sp>
        <p:nvSpPr>
          <p:cNvPr id="4004" name="Local agent sandboxes products label">
            <a:extLst xmlns:a="http://schemas.openxmlformats.org/drawingml/2006/main">
              <a:ext uri="{FF2B5EF4-FFF2-40B4-BE49-F238E27FC236}">
                <a16:creationId xmlns:a16="http://schemas.microsoft.com/office/drawing/2014/main" id="{C045A25D-F980-44E0-8705-AB0943ED9CA9}"/>
              </a:ext>
            </a:extLst>
          </p:cNvPr>
          <p:cNvSpPr>
            <a:spLocks xmlns:a="http://schemas.openxmlformats.org/drawingml/2006/main" noGrp="1"/>
          </p:cNvSpPr>
          <p:nvPr/>
        </p:nvSpPr>
        <p:spPr>
          <a:xfrm xmlns:a="http://schemas.openxmlformats.org/drawingml/2006/main">
            <a:off x="609600" y="2381250"/>
            <a:ext cx="5181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050" b="1">
                <a:solidFill>
                  <a:srgbClr val="91A7B1"/>
                </a:solidFill>
                <a:latin typeface="Aptos"/>
                <a:ea typeface="Aptos"/>
                <a:cs typeface="Aptos"/>
              </a:defRPr>
            </a:pPr>
            <a:r>
              <a:rPr sz="1050" b="1">
                <a:solidFill>
                  <a:srgbClr val="91A7B1"/>
                </a:solidFill>
                <a:latin typeface="Aptos"/>
                <a:ea typeface="Aptos"/>
                <a:cs typeface="Aptos"/>
              </a:rPr>
              <a:t>EXAMPLES</a:t>
            </a:r>
          </a:p>
        </p:txBody>
      </p:sp>
      <p:sp>
        <p:nvSpPr>
          <p:cNvPr id="4005" name="Local agent sandboxes products">
            <a:extLst xmlns:a="http://schemas.openxmlformats.org/drawingml/2006/main">
              <a:ext uri="{FF2B5EF4-FFF2-40B4-BE49-F238E27FC236}">
                <a16:creationId xmlns:a16="http://schemas.microsoft.com/office/drawing/2014/main" id="{36AF9E12-1230-487B-B402-3A0E68C47E77}"/>
              </a:ext>
            </a:extLst>
          </p:cNvPr>
          <p:cNvSpPr>
            <a:spLocks xmlns:a="http://schemas.openxmlformats.org/drawingml/2006/main" noGrp="1"/>
          </p:cNvSpPr>
          <p:nvPr/>
        </p:nvSpPr>
        <p:spPr>
          <a:xfrm xmlns:a="http://schemas.openxmlformats.org/drawingml/2006/main">
            <a:off x="609600" y="2676525"/>
            <a:ext cx="5181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Docker Sandboxes, Microsandbox,</a:t>
            </a:r>
          </a:p>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BoxLite</a:t>
            </a:r>
          </a:p>
        </p:txBody>
      </p:sp>
      <p:sp>
        <p:nvSpPr>
          <p:cNvPr id="4006" name="Local agent sandboxes use label">
            <a:extLst xmlns:a="http://schemas.openxmlformats.org/drawingml/2006/main">
              <a:ext uri="{FF2B5EF4-FFF2-40B4-BE49-F238E27FC236}">
                <a16:creationId xmlns:a16="http://schemas.microsoft.com/office/drawing/2014/main" id="{60DE5D0C-DF90-4CF6-A386-9FCA51ED3FC1}"/>
              </a:ext>
            </a:extLst>
          </p:cNvPr>
          <p:cNvSpPr>
            <a:spLocks xmlns:a="http://schemas.openxmlformats.org/drawingml/2006/main" noGrp="1"/>
          </p:cNvSpPr>
          <p:nvPr/>
        </p:nvSpPr>
        <p:spPr>
          <a:xfrm xmlns:a="http://schemas.openxmlformats.org/drawingml/2006/main">
            <a:off x="609600" y="3448050"/>
            <a:ext cx="5181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050" b="1">
                <a:solidFill>
                  <a:srgbClr val="91A7B1"/>
                </a:solidFill>
                <a:latin typeface="Aptos"/>
                <a:ea typeface="Aptos"/>
                <a:cs typeface="Aptos"/>
              </a:defRPr>
            </a:pPr>
            <a:r>
              <a:rPr sz="1050" b="1">
                <a:solidFill>
                  <a:srgbClr val="91A7B1"/>
                </a:solidFill>
                <a:latin typeface="Aptos"/>
                <a:ea typeface="Aptos"/>
                <a:cs typeface="Aptos"/>
              </a:rPr>
              <a:t>USE CASE</a:t>
            </a:r>
          </a:p>
        </p:txBody>
      </p:sp>
      <p:sp>
        <p:nvSpPr>
          <p:cNvPr id="4007" name="Local agent sandboxes use">
            <a:extLst xmlns:a="http://schemas.openxmlformats.org/drawingml/2006/main">
              <a:ext uri="{FF2B5EF4-FFF2-40B4-BE49-F238E27FC236}">
                <a16:creationId xmlns:a16="http://schemas.microsoft.com/office/drawing/2014/main" id="{425F8BDC-CFD0-4468-A54D-2F1327847018}"/>
              </a:ext>
            </a:extLst>
          </p:cNvPr>
          <p:cNvSpPr>
            <a:spLocks xmlns:a="http://schemas.openxmlformats.org/drawingml/2006/main" noGrp="1"/>
          </p:cNvSpPr>
          <p:nvPr/>
        </p:nvSpPr>
        <p:spPr>
          <a:xfrm xmlns:a="http://schemas.openxmlformats.org/drawingml/2006/main">
            <a:off x="609600" y="3724275"/>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75" b="0">
                <a:solidFill>
                  <a:srgbClr val="F7FBFD"/>
                </a:solidFill>
                <a:latin typeface="Aptos"/>
                <a:ea typeface="Aptos"/>
                <a:cs typeface="Aptos"/>
              </a:defRPr>
            </a:pPr>
            <a:r>
              <a:rPr sz="1875" b="0">
                <a:solidFill>
                  <a:srgbClr val="F7FBFD"/>
                </a:solidFill>
                <a:latin typeface="Aptos"/>
                <a:ea typeface="Aptos"/>
                <a:cs typeface="Aptos"/>
              </a:rPr>
              <a:t>Run locally on your own machine</a:t>
            </a:r>
          </a:p>
        </p:txBody>
      </p:sp>
      <p:sp>
        <p:nvSpPr>
          <p:cNvPr id="4008" name="Local agent sandboxes protection label">
            <a:extLst xmlns:a="http://schemas.openxmlformats.org/drawingml/2006/main">
              <a:ext uri="{FF2B5EF4-FFF2-40B4-BE49-F238E27FC236}">
                <a16:creationId xmlns:a16="http://schemas.microsoft.com/office/drawing/2014/main" id="{3FC1BD85-BA1B-4972-B3AE-F2CACA5D8602}"/>
              </a:ext>
            </a:extLst>
          </p:cNvPr>
          <p:cNvSpPr>
            <a:spLocks xmlns:a="http://schemas.openxmlformats.org/drawingml/2006/main" noGrp="1"/>
          </p:cNvSpPr>
          <p:nvPr/>
        </p:nvSpPr>
        <p:spPr>
          <a:xfrm xmlns:a="http://schemas.openxmlformats.org/drawingml/2006/main">
            <a:off x="609600" y="4343400"/>
            <a:ext cx="5181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050" b="1">
                <a:solidFill>
                  <a:srgbClr val="91A7B1"/>
                </a:solidFill>
                <a:latin typeface="Aptos"/>
                <a:ea typeface="Aptos"/>
                <a:cs typeface="Aptos"/>
              </a:defRPr>
            </a:pPr>
            <a:r>
              <a:rPr sz="1050" b="1">
                <a:solidFill>
                  <a:srgbClr val="91A7B1"/>
                </a:solidFill>
                <a:latin typeface="Aptos"/>
                <a:ea typeface="Aptos"/>
                <a:cs typeface="Aptos"/>
              </a:rPr>
              <a:t>PROTECTION GOALS</a:t>
            </a:r>
          </a:p>
        </p:txBody>
      </p:sp>
      <p:sp>
        <p:nvSpPr>
          <p:cNvPr id="4009" name="Local agent sandboxes risk 0">
            <a:extLst xmlns:a="http://schemas.openxmlformats.org/drawingml/2006/main">
              <a:ext uri="{FF2B5EF4-FFF2-40B4-BE49-F238E27FC236}">
                <a16:creationId xmlns:a16="http://schemas.microsoft.com/office/drawing/2014/main" id="{5FE75FB2-2425-4A3B-8DFB-0238B1D6C960}"/>
              </a:ext>
            </a:extLst>
          </p:cNvPr>
          <p:cNvSpPr>
            <a:spLocks xmlns:a="http://schemas.openxmlformats.org/drawingml/2006/main" noGrp="1"/>
          </p:cNvSpPr>
          <p:nvPr/>
        </p:nvSpPr>
        <p:spPr>
          <a:xfrm xmlns:a="http://schemas.openxmlformats.org/drawingml/2006/main">
            <a:off x="609600" y="4676775"/>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Destructive system actions</a:t>
            </a:r>
          </a:p>
        </p:txBody>
      </p:sp>
      <p:sp>
        <p:nvSpPr>
          <p:cNvPr id="4010" name="Local agent sandboxes risk 1">
            <a:extLst xmlns:a="http://schemas.openxmlformats.org/drawingml/2006/main">
              <a:ext uri="{FF2B5EF4-FFF2-40B4-BE49-F238E27FC236}">
                <a16:creationId xmlns:a16="http://schemas.microsoft.com/office/drawing/2014/main" id="{E08C0A98-F02B-423A-BD6E-25FFA83C751C}"/>
              </a:ext>
            </a:extLst>
          </p:cNvPr>
          <p:cNvSpPr>
            <a:spLocks xmlns:a="http://schemas.openxmlformats.org/drawingml/2006/main" noGrp="1"/>
          </p:cNvSpPr>
          <p:nvPr/>
        </p:nvSpPr>
        <p:spPr>
          <a:xfrm xmlns:a="http://schemas.openxmlformats.org/drawingml/2006/main">
            <a:off x="609600" y="5048250"/>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Secret or browser login leaks</a:t>
            </a:r>
          </a:p>
        </p:txBody>
      </p:sp>
      <p:sp>
        <p:nvSpPr>
          <p:cNvPr id="4011" name="Local agent sandboxes risk 2">
            <a:extLst xmlns:a="http://schemas.openxmlformats.org/drawingml/2006/main">
              <a:ext uri="{FF2B5EF4-FFF2-40B4-BE49-F238E27FC236}">
                <a16:creationId xmlns:a16="http://schemas.microsoft.com/office/drawing/2014/main" id="{0DF9F88C-7F3B-48AA-BD3B-5648E2743038}"/>
              </a:ext>
            </a:extLst>
          </p:cNvPr>
          <p:cNvSpPr>
            <a:spLocks xmlns:a="http://schemas.openxmlformats.org/drawingml/2006/main" noGrp="1"/>
          </p:cNvSpPr>
          <p:nvPr/>
        </p:nvSpPr>
        <p:spPr>
          <a:xfrm xmlns:a="http://schemas.openxmlformats.org/drawingml/2006/main">
            <a:off x="609600" y="5419725"/>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Reads of sensitive host data</a:t>
            </a:r>
          </a:p>
        </p:txBody>
      </p:sp>
      <p:sp>
        <p:nvSpPr>
          <p:cNvPr id="4012" name="Local agent sandboxes risk 3">
            <a:extLst xmlns:a="http://schemas.openxmlformats.org/drawingml/2006/main">
              <a:ext uri="{FF2B5EF4-FFF2-40B4-BE49-F238E27FC236}">
                <a16:creationId xmlns:a16="http://schemas.microsoft.com/office/drawing/2014/main" id="{B01EADD0-147D-40C2-9E24-0D769FDC157C}"/>
              </a:ext>
            </a:extLst>
          </p:cNvPr>
          <p:cNvSpPr>
            <a:spLocks xmlns:a="http://schemas.openxmlformats.org/drawingml/2006/main" noGrp="1"/>
          </p:cNvSpPr>
          <p:nvPr/>
        </p:nvSpPr>
        <p:spPr>
          <a:xfrm xmlns:a="http://schemas.openxmlformats.org/drawingml/2006/main">
            <a:off x="609600" y="5791200"/>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Control of host applications</a:t>
            </a:r>
          </a:p>
        </p:txBody>
      </p:sp>
      <p:sp>
        <p:nvSpPr>
          <p:cNvPr id="4013" name="Cloud agent sandboxes">
            <a:extLst xmlns:a="http://schemas.openxmlformats.org/drawingml/2006/main">
              <a:ext uri="{FF2B5EF4-FFF2-40B4-BE49-F238E27FC236}">
                <a16:creationId xmlns:a16="http://schemas.microsoft.com/office/drawing/2014/main" id="{463B2291-8A92-4215-B1EB-6BEC33CFA407}"/>
              </a:ext>
            </a:extLst>
          </p:cNvPr>
          <p:cNvSpPr>
            <a:spLocks xmlns:a="http://schemas.openxmlformats.org/drawingml/2006/main" noGrp="1"/>
          </p:cNvSpPr>
          <p:nvPr/>
        </p:nvSpPr>
        <p:spPr>
          <a:xfrm xmlns:a="http://schemas.openxmlformats.org/drawingml/2006/main">
            <a:off x="6400800" y="17430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2250" b="1">
                <a:solidFill>
                  <a:srgbClr val="2496ED"/>
                </a:solidFill>
                <a:latin typeface="Aptos"/>
                <a:ea typeface="Aptos"/>
                <a:cs typeface="Aptos"/>
              </a:defRPr>
            </a:pPr>
            <a:r>
              <a:rPr sz="2250" b="1">
                <a:solidFill>
                  <a:srgbClr val="2496ED"/>
                </a:solidFill>
                <a:latin typeface="Aptos"/>
                <a:ea typeface="Aptos"/>
                <a:cs typeface="Aptos"/>
              </a:rPr>
              <a:t>Cloud agent sandboxes</a:t>
            </a:r>
          </a:p>
        </p:txBody>
      </p:sp>
      <p:sp>
        <p:nvSpPr>
          <p:cNvPr id="4014" name="">
            <a:extLst xmlns:a="http://schemas.openxmlformats.org/drawingml/2006/main">
              <a:ext uri="{FF2B5EF4-FFF2-40B4-BE49-F238E27FC236}">
                <a16:creationId xmlns:a16="http://schemas.microsoft.com/office/drawing/2014/main" id="{314091D8-6555-4F61-ADB4-C090BC3443CD}"/>
              </a:ext>
            </a:extLst>
          </p:cNvPr>
          <p:cNvSpPr>
            <a:spLocks xmlns:a="http://schemas.openxmlformats.org/drawingml/2006/main" noGrp="1"/>
          </p:cNvSpPr>
          <p:nvPr/>
        </p:nvSpPr>
        <p:spPr>
          <a:xfrm xmlns:a="http://schemas.openxmlformats.org/drawingml/2006/main">
            <a:off x="6400800" y="2200275"/>
            <a:ext cx="5181600" cy="19050"/>
          </a:xfrm>
          <a:prstGeom xmlns:a="http://schemas.openxmlformats.org/drawingml/2006/main" prst="rect">
            <a:avLst/>
          </a:prstGeom>
          <a:solidFill xmlns:a="http://schemas.openxmlformats.org/drawingml/2006/main">
            <a:srgbClr val="2496ED"/>
          </a:solidFill>
          <a:ln xmlns:a="http://schemas.openxmlformats.org/drawingml/2006/main" w="0">
            <a:noFill/>
          </a:ln>
        </p:spPr>
      </p:sp>
      <p:sp>
        <p:nvSpPr>
          <p:cNvPr id="4015" name="Cloud agent sandboxes products label">
            <a:extLst xmlns:a="http://schemas.openxmlformats.org/drawingml/2006/main">
              <a:ext uri="{FF2B5EF4-FFF2-40B4-BE49-F238E27FC236}">
                <a16:creationId xmlns:a16="http://schemas.microsoft.com/office/drawing/2014/main" id="{290142FA-13DC-4A2A-9811-C69F923A16BE}"/>
              </a:ext>
            </a:extLst>
          </p:cNvPr>
          <p:cNvSpPr>
            <a:spLocks xmlns:a="http://schemas.openxmlformats.org/drawingml/2006/main" noGrp="1"/>
          </p:cNvSpPr>
          <p:nvPr/>
        </p:nvSpPr>
        <p:spPr>
          <a:xfrm xmlns:a="http://schemas.openxmlformats.org/drawingml/2006/main">
            <a:off x="6400800" y="2381250"/>
            <a:ext cx="5181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050" b="1">
                <a:solidFill>
                  <a:srgbClr val="91A7B1"/>
                </a:solidFill>
                <a:latin typeface="Aptos"/>
                <a:ea typeface="Aptos"/>
                <a:cs typeface="Aptos"/>
              </a:defRPr>
            </a:pPr>
            <a:r>
              <a:rPr sz="1050" b="1">
                <a:solidFill>
                  <a:srgbClr val="91A7B1"/>
                </a:solidFill>
                <a:latin typeface="Aptos"/>
                <a:ea typeface="Aptos"/>
                <a:cs typeface="Aptos"/>
              </a:rPr>
              <a:t>EXAMPLES</a:t>
            </a:r>
          </a:p>
        </p:txBody>
      </p:sp>
      <p:sp>
        <p:nvSpPr>
          <p:cNvPr id="4016" name="Cloud agent sandboxes products">
            <a:extLst xmlns:a="http://schemas.openxmlformats.org/drawingml/2006/main">
              <a:ext uri="{FF2B5EF4-FFF2-40B4-BE49-F238E27FC236}">
                <a16:creationId xmlns:a16="http://schemas.microsoft.com/office/drawing/2014/main" id="{121506EF-370E-4C0D-A774-A5A72D552EC8}"/>
              </a:ext>
            </a:extLst>
          </p:cNvPr>
          <p:cNvSpPr>
            <a:spLocks xmlns:a="http://schemas.openxmlformats.org/drawingml/2006/main" noGrp="1"/>
          </p:cNvSpPr>
          <p:nvPr/>
        </p:nvSpPr>
        <p:spPr>
          <a:xfrm xmlns:a="http://schemas.openxmlformats.org/drawingml/2006/main">
            <a:off x="6400800" y="2676525"/>
            <a:ext cx="5181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AWS AgentCore Code Interpreter,</a:t>
            </a:r>
          </a:p>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E2B, Daytona</a:t>
            </a:r>
          </a:p>
        </p:txBody>
      </p:sp>
      <p:sp>
        <p:nvSpPr>
          <p:cNvPr id="4017" name="Cloud agent sandboxes use label">
            <a:extLst xmlns:a="http://schemas.openxmlformats.org/drawingml/2006/main">
              <a:ext uri="{FF2B5EF4-FFF2-40B4-BE49-F238E27FC236}">
                <a16:creationId xmlns:a16="http://schemas.microsoft.com/office/drawing/2014/main" id="{2B7FDEF2-D60B-40F5-B587-7549D5928CFA}"/>
              </a:ext>
            </a:extLst>
          </p:cNvPr>
          <p:cNvSpPr>
            <a:spLocks xmlns:a="http://schemas.openxmlformats.org/drawingml/2006/main" noGrp="1"/>
          </p:cNvSpPr>
          <p:nvPr/>
        </p:nvSpPr>
        <p:spPr>
          <a:xfrm xmlns:a="http://schemas.openxmlformats.org/drawingml/2006/main">
            <a:off x="6400800" y="3448050"/>
            <a:ext cx="5181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050" b="1">
                <a:solidFill>
                  <a:srgbClr val="91A7B1"/>
                </a:solidFill>
                <a:latin typeface="Aptos"/>
                <a:ea typeface="Aptos"/>
                <a:cs typeface="Aptos"/>
              </a:defRPr>
            </a:pPr>
            <a:r>
              <a:rPr sz="1050" b="1">
                <a:solidFill>
                  <a:srgbClr val="91A7B1"/>
                </a:solidFill>
                <a:latin typeface="Aptos"/>
                <a:ea typeface="Aptos"/>
                <a:cs typeface="Aptos"/>
              </a:rPr>
              <a:t>USE CASE</a:t>
            </a:r>
          </a:p>
        </p:txBody>
      </p:sp>
      <p:sp>
        <p:nvSpPr>
          <p:cNvPr id="4018" name="Cloud agent sandboxes use">
            <a:extLst xmlns:a="http://schemas.openxmlformats.org/drawingml/2006/main">
              <a:ext uri="{FF2B5EF4-FFF2-40B4-BE49-F238E27FC236}">
                <a16:creationId xmlns:a16="http://schemas.microsoft.com/office/drawing/2014/main" id="{555BAF0E-FC39-404D-9B39-818FDA2D1DFC}"/>
              </a:ext>
            </a:extLst>
          </p:cNvPr>
          <p:cNvSpPr>
            <a:spLocks xmlns:a="http://schemas.openxmlformats.org/drawingml/2006/main" noGrp="1"/>
          </p:cNvSpPr>
          <p:nvPr/>
        </p:nvSpPr>
        <p:spPr>
          <a:xfrm xmlns:a="http://schemas.openxmlformats.org/drawingml/2006/main">
            <a:off x="6400800" y="3724275"/>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75" b="0">
                <a:solidFill>
                  <a:srgbClr val="F7FBFD"/>
                </a:solidFill>
                <a:latin typeface="Aptos"/>
                <a:ea typeface="Aptos"/>
                <a:cs typeface="Aptos"/>
              </a:defRPr>
            </a:pPr>
            <a:r>
              <a:rPr sz="1875" b="0">
                <a:solidFill>
                  <a:srgbClr val="F7FBFD"/>
                </a:solidFill>
                <a:latin typeface="Aptos"/>
                <a:ea typeface="Aptos"/>
                <a:cs typeface="Aptos"/>
              </a:rPr>
              <a:t>Run inside a cloud machine</a:t>
            </a:r>
          </a:p>
        </p:txBody>
      </p:sp>
      <p:sp>
        <p:nvSpPr>
          <p:cNvPr id="4019" name="Cloud agent sandboxes protection label">
            <a:extLst xmlns:a="http://schemas.openxmlformats.org/drawingml/2006/main">
              <a:ext uri="{FF2B5EF4-FFF2-40B4-BE49-F238E27FC236}">
                <a16:creationId xmlns:a16="http://schemas.microsoft.com/office/drawing/2014/main" id="{BFC0F3B9-9BDA-4F17-8ED6-F854E04ACC97}"/>
              </a:ext>
            </a:extLst>
          </p:cNvPr>
          <p:cNvSpPr>
            <a:spLocks xmlns:a="http://schemas.openxmlformats.org/drawingml/2006/main" noGrp="1"/>
          </p:cNvSpPr>
          <p:nvPr/>
        </p:nvSpPr>
        <p:spPr>
          <a:xfrm xmlns:a="http://schemas.openxmlformats.org/drawingml/2006/main">
            <a:off x="6400800" y="4343400"/>
            <a:ext cx="5181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050" b="1">
                <a:solidFill>
                  <a:srgbClr val="91A7B1"/>
                </a:solidFill>
                <a:latin typeface="Aptos"/>
                <a:ea typeface="Aptos"/>
                <a:cs typeface="Aptos"/>
              </a:defRPr>
            </a:pPr>
            <a:r>
              <a:rPr sz="1050" b="1">
                <a:solidFill>
                  <a:srgbClr val="91A7B1"/>
                </a:solidFill>
                <a:latin typeface="Aptos"/>
                <a:ea typeface="Aptos"/>
                <a:cs typeface="Aptos"/>
              </a:rPr>
              <a:t>PROTECTION GOALS</a:t>
            </a:r>
          </a:p>
        </p:txBody>
      </p:sp>
      <p:sp>
        <p:nvSpPr>
          <p:cNvPr id="4020" name="Cloud agent sandboxes risk 0">
            <a:extLst xmlns:a="http://schemas.openxmlformats.org/drawingml/2006/main">
              <a:ext uri="{FF2B5EF4-FFF2-40B4-BE49-F238E27FC236}">
                <a16:creationId xmlns:a16="http://schemas.microsoft.com/office/drawing/2014/main" id="{78B21AD6-4BD8-4312-8C2E-B2B81F5D6980}"/>
              </a:ext>
            </a:extLst>
          </p:cNvPr>
          <p:cNvSpPr>
            <a:spLocks xmlns:a="http://schemas.openxmlformats.org/drawingml/2006/main" noGrp="1"/>
          </p:cNvSpPr>
          <p:nvPr/>
        </p:nvSpPr>
        <p:spPr>
          <a:xfrm xmlns:a="http://schemas.openxmlformats.org/drawingml/2006/main">
            <a:off x="6400800" y="4676775"/>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Remote code execution escaping the sandbox</a:t>
            </a:r>
          </a:p>
        </p:txBody>
      </p:sp>
      <p:sp>
        <p:nvSpPr>
          <p:cNvPr id="4021" name="Cloud agent sandboxes risk 1">
            <a:extLst xmlns:a="http://schemas.openxmlformats.org/drawingml/2006/main">
              <a:ext uri="{FF2B5EF4-FFF2-40B4-BE49-F238E27FC236}">
                <a16:creationId xmlns:a16="http://schemas.microsoft.com/office/drawing/2014/main" id="{FD1D6771-A1B4-4A17-AC04-F58D9E09170D}"/>
              </a:ext>
            </a:extLst>
          </p:cNvPr>
          <p:cNvSpPr>
            <a:spLocks xmlns:a="http://schemas.openxmlformats.org/drawingml/2006/main" noGrp="1"/>
          </p:cNvSpPr>
          <p:nvPr/>
        </p:nvSpPr>
        <p:spPr>
          <a:xfrm xmlns:a="http://schemas.openxmlformats.org/drawingml/2006/main">
            <a:off x="6400800" y="5048250"/>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Access to the service’s cluster</a:t>
            </a:r>
          </a:p>
        </p:txBody>
      </p:sp>
      <p:sp>
        <p:nvSpPr>
          <p:cNvPr id="4022" name="Cloud agent sandboxes risk 2">
            <a:extLst xmlns:a="http://schemas.openxmlformats.org/drawingml/2006/main">
              <a:ext uri="{FF2B5EF4-FFF2-40B4-BE49-F238E27FC236}">
                <a16:creationId xmlns:a16="http://schemas.microsoft.com/office/drawing/2014/main" id="{DF756C73-387C-42E4-8BF1-4F5E8052FABF}"/>
              </a:ext>
            </a:extLst>
          </p:cNvPr>
          <p:cNvSpPr>
            <a:spLocks xmlns:a="http://schemas.openxmlformats.org/drawingml/2006/main" noGrp="1"/>
          </p:cNvSpPr>
          <p:nvPr/>
        </p:nvSpPr>
        <p:spPr>
          <a:xfrm xmlns:a="http://schemas.openxmlformats.org/drawingml/2006/main">
            <a:off x="6400800" y="5419725"/>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Access to internal logs or databases</a:t>
            </a:r>
          </a:p>
        </p:txBody>
      </p:sp>
      <p:sp>
        <p:nvSpPr>
          <p:cNvPr id="4023" name="Cloud agent sandboxes risk 3">
            <a:extLst xmlns:a="http://schemas.openxmlformats.org/drawingml/2006/main">
              <a:ext uri="{FF2B5EF4-FFF2-40B4-BE49-F238E27FC236}">
                <a16:creationId xmlns:a16="http://schemas.microsoft.com/office/drawing/2014/main" id="{29965464-4F6C-4CD0-9D98-3FF78384930C}"/>
              </a:ext>
            </a:extLst>
          </p:cNvPr>
          <p:cNvSpPr>
            <a:spLocks xmlns:a="http://schemas.openxmlformats.org/drawingml/2006/main" noGrp="1"/>
          </p:cNvSpPr>
          <p:nvPr/>
        </p:nvSpPr>
        <p:spPr>
          <a:xfrm xmlns:a="http://schemas.openxmlformats.org/drawingml/2006/main">
            <a:off x="6400800" y="5791200"/>
            <a:ext cx="5181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800" b="0">
                <a:solidFill>
                  <a:srgbClr val="F7FBFD"/>
                </a:solidFill>
                <a:latin typeface="Aptos"/>
                <a:ea typeface="Aptos"/>
                <a:cs typeface="Aptos"/>
              </a:defRPr>
            </a:pPr>
            <a:r>
              <a:rPr sz="1800" b="0">
                <a:solidFill>
                  <a:srgbClr val="F7FBFD"/>
                </a:solidFill>
                <a:latin typeface="Aptos"/>
                <a:ea typeface="Aptos"/>
                <a:cs typeface="Aptos"/>
              </a:rPr>
              <a:t>Forbidden actions via access policies</a:t>
            </a:r>
          </a:p>
        </p:txBody>
      </p:sp>
      <p:sp>
        <p:nvSpPr>
          <p:cNvPr id="4024" name="scope-note">
            <a:extLst xmlns:a="http://schemas.openxmlformats.org/drawingml/2006/main">
              <a:ext uri="{FF2B5EF4-FFF2-40B4-BE49-F238E27FC236}">
                <a16:creationId xmlns:a16="http://schemas.microsoft.com/office/drawing/2014/main" id="{57333C2E-DF57-4213-848C-58BF21912951}"/>
              </a:ext>
            </a:extLst>
          </p:cNvPr>
          <p:cNvSpPr>
            <a:spLocks xmlns:a="http://schemas.openxmlformats.org/drawingml/2006/main" noGrp="1"/>
          </p:cNvSpPr>
          <p:nvPr/>
        </p:nvSpPr>
        <p:spPr>
          <a:xfrm xmlns:a="http://schemas.openxmlformats.org/drawingml/2006/main">
            <a:off x="609600" y="6410325"/>
            <a:ext cx="10953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275" b="0">
                <a:solidFill>
                  <a:srgbClr val="95AEB8"/>
                </a:solidFill>
                <a:latin typeface="Aptos"/>
                <a:ea typeface="Aptos"/>
                <a:cs typeface="Aptos"/>
              </a:defRPr>
            </a:pPr>
            <a:r>
              <a:rPr sz="1275" b="0">
                <a:solidFill>
                  <a:srgbClr val="95AEB8"/>
                </a:solidFill>
                <a:latin typeface="Aptos"/>
                <a:ea typeface="Aptos"/>
                <a:cs typeface="Aptos"/>
              </a:rPr>
              <a:t>Protection depends on mounts, network access, credentials and tool permissions.</a:t>
            </a:r>
          </a:p>
        </p:txBody>
      </p:sp>
    </p:spTree>
    <p:extLst>
      <p:ext uri="{BB962C8B-B14F-4D97-AF65-F5344CB8AC3E}">
        <p14:creationId xmlns:p14="http://schemas.microsoft.com/office/powerpoint/2010/main" val="1882397355"/>
      </p:ext>
    </p:extLst>
  </p:cSld>
</p:sld>
</file>

<file path=ppt/slides/slide11.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124" name="template-title">
            <a:extLst xmlns:a="http://schemas.openxmlformats.org/drawingml/2006/main">
              <a:ext uri="{FF2B5EF4-FFF2-40B4-BE49-F238E27FC236}">
                <a16:creationId xmlns:a16="http://schemas.microsoft.com/office/drawing/2014/main" id="{6AC43548-1AFB-4C50-95B6-BB1651D629EC}"/>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000" b="1">
                <a:solidFill>
                  <a:srgbClr val="F7FBFD"/>
                </a:solidFill>
                <a:latin typeface="Aptos Display"/>
                <a:ea typeface="Aptos Display"/>
                <a:cs typeface="Aptos Display"/>
              </a:defRPr>
            </a:lvl1pPr>
          </a:lstStyle>
          <a:p xmlns:a="http://schemas.openxmlformats.org/drawingml/2006/main">
            <a:pPr>
              <a:buNone/>
            </a:pPr>
            <a:r>
              <a:t>Dockerfiles + dotfiles make the environment reproducible</a:t>
            </a:r>
          </a:p>
        </p:txBody>
      </p:sp>
      <p:sp>
        <p:nvSpPr>
          <p:cNvPr id="125" name="section-label-2">
            <a:extLst xmlns:a="http://schemas.openxmlformats.org/drawingml/2006/main">
              <a:ext uri="{FF2B5EF4-FFF2-40B4-BE49-F238E27FC236}">
                <a16:creationId xmlns:a16="http://schemas.microsoft.com/office/drawing/2014/main" id="{A606D767-B90F-4306-BF32-308051E779E3}"/>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DOCKER SANDBOX IN PRACTICE</a:t>
            </a:r>
          </a:p>
        </p:txBody>
      </p:sp>
      <p:sp>
        <p:nvSpPr>
          <p:cNvPr id="126" name="dotfiles-screenshot-outline">
            <a:extLst xmlns:a="http://schemas.openxmlformats.org/drawingml/2006/main">
              <a:ext uri="{FF2B5EF4-FFF2-40B4-BE49-F238E27FC236}">
                <a16:creationId xmlns:a16="http://schemas.microsoft.com/office/drawing/2014/main" id="{5E7330AE-28E7-459B-B304-FE1D0D10077D}"/>
              </a:ext>
            </a:extLst>
          </p:cNvPr>
          <p:cNvSpPr>
            <a:spLocks xmlns:a="http://schemas.openxmlformats.org/drawingml/2006/main" noGrp="1"/>
          </p:cNvSpPr>
          <p:nvPr/>
        </p:nvSpPr>
        <p:spPr>
          <a:xfrm xmlns:a="http://schemas.openxmlformats.org/drawingml/2006/main">
            <a:off x="552450" y="1638300"/>
            <a:ext cx="2895600" cy="4581525"/>
          </a:xfrm>
          <a:prstGeom xmlns:a="http://schemas.openxmlformats.org/drawingml/2006/main" prst="roundRect">
            <a:avLst>
              <a:gd name="adj" fmla="val 2632"/>
            </a:avLst>
          </a:prstGeom>
          <a:ln xmlns:a="http://schemas.openxmlformats.org/drawingml/2006/main">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pic>
        <p:nvPicPr>
          <p:cNvPr id="136" name="dotfiles-screenshot"/>
          <p:cNvPicPr>
            <a:picLocks xmlns:a="http://schemas.openxmlformats.org/drawingml/2006/main" noChangeAspect="1"/>
          </p:cNvPicPr>
          <p:nvPr/>
        </p:nvPicPr>
        <p:blipFill>
          <a:blip xmlns:r="http://schemas.openxmlformats.org/officeDocument/2006/relationships" xmlns:a="http://schemas.openxmlformats.org/drawingml/2006/main" r:embed="Rb83731bb1c8e43ee"/>
          <a:stretch xmlns:a="http://schemas.openxmlformats.org/drawingml/2006/main">
            <a:fillRect l="0" t="0" r="0" b="0"/>
          </a:stretch>
        </p:blipFill>
        <p:spPr>
          <a:xfrm xmlns:a="http://schemas.openxmlformats.org/drawingml/2006/main">
            <a:off x="1236677" y="1714500"/>
            <a:ext cx="1527148" cy="4429125"/>
          </a:xfrm>
          <a:ln xmlns:a="http://schemas.openxmlformats.org/drawingml/2006/main" w="12700">
            <a:miter/>
          </a:ln>
        </p:spPr>
      </p:pic>
      <p:sp>
        <p:nvSpPr>
          <p:cNvPr id="128" name="dotfiles-bullets">
            <a:extLst xmlns:a="http://schemas.openxmlformats.org/drawingml/2006/main">
              <a:ext uri="{FF2B5EF4-FFF2-40B4-BE49-F238E27FC236}">
                <a16:creationId xmlns:a16="http://schemas.microsoft.com/office/drawing/2014/main" id="{DC1EF600-E946-4F99-8A86-511829B18B1C}"/>
              </a:ext>
            </a:extLst>
          </p:cNvPr>
          <p:cNvSpPr>
            <a:spLocks xmlns:a="http://schemas.openxmlformats.org/drawingml/2006/main" noGrp="1"/>
          </p:cNvSpPr>
          <p:nvPr/>
        </p:nvSpPr>
        <p:spPr>
          <a:xfrm xmlns:a="http://schemas.openxmlformats.org/drawingml/2006/main">
            <a:off x="3903345" y="1809750"/>
            <a:ext cx="7783898" cy="3901438"/>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Combine a Dockerfile with tracked dotfiles for a fully reproducible, portable, and safe development environment.</a:t>
            </a:r>
            <a:endParaRPr sz="1700"/>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Track agent configuration—including ~/.claude or ~/.codex - as ordinary versioned files and folders.</a:t>
            </a:r>
            <a:endParaRPr sz="1700"/>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Let the agent act freely as root inside the sandbox while you control every boundary.</a:t>
            </a:r>
            <a:endParaRPr sz="1700"/>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Keep host files, sensitive information, and credentials outside the sandbox – use sym-linking for env mockups</a:t>
            </a:r>
            <a:endParaRPr sz="1700"/>
          </a:p>
          <a:p xmlns:a="http://schemas.openxmlformats.org/drawingml/2006/main">
            <a:pPr marL="342910" indent="-342900">
              <a:spcBef>
                <a:spcPts val="1500"/>
              </a:spcBef>
              <a:buSzPct val="100000"/>
              <a:buFont typeface="Arial"/>
              <a:buChar char="•"/>
              <a:defRPr sz="2000">
                <a:solidFill>
                  <a:srgbClr val="F7FBFD"/>
                </a:solidFill>
                <a:latin typeface="Aptos"/>
                <a:ea typeface="Aptos"/>
                <a:cs typeface="Aptos"/>
              </a:defRPr>
            </a:pPr>
            <a:r>
              <a:t>An agent skill can automatically log system changes done from anywhere, as backlog for updating the Dockerfile</a:t>
            </a:r>
          </a:p>
        </p:txBody>
      </p:sp>
      <p:sp>
        <p:nvSpPr>
          <p:cNvPr id="129" name="top-accent-1">
            <a:extLst xmlns:a="http://schemas.openxmlformats.org/drawingml/2006/main">
              <a:ext uri="{FF2B5EF4-FFF2-40B4-BE49-F238E27FC236}">
                <a16:creationId xmlns:a16="http://schemas.microsoft.com/office/drawing/2014/main" id="{31A8AD08-F405-4A94-A08F-8570D478832D}"/>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130" name="deck-label-1">
            <a:extLst xmlns:a="http://schemas.openxmlformats.org/drawingml/2006/main">
              <a:ext uri="{FF2B5EF4-FFF2-40B4-BE49-F238E27FC236}">
                <a16:creationId xmlns:a16="http://schemas.microsoft.com/office/drawing/2014/main" id="{71D87080-DB46-4BE6-87F7-E411156D9CFE}"/>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140" name="docker-mark-1"/>
          <p:cNvPicPr>
            <a:picLocks xmlns:a="http://schemas.openxmlformats.org/drawingml/2006/main" noChangeAspect="1"/>
          </p:cNvPicPr>
          <p:nvPr/>
        </p:nvPicPr>
        <p:blipFill>
          <a:blip xmlns:r="http://schemas.openxmlformats.org/officeDocument/2006/relationships" xmlns:a="http://schemas.openxmlformats.org/drawingml/2006/main" r:embed="Rcf4c00df0eba45a3"/>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2004305472"/>
      </p:ext>
    </p:extLst>
  </p:cSld>
</p:sld>
</file>

<file path=ppt/slides/slide12.xml><?xml version="1.0" encoding="utf-8"?>
<p:sld xmlns:p="http://schemas.openxmlformats.org/presentationml/2006/main" showMasterSp="1">
  <p:cSld>
    <p:bg>
      <p:bgPr>
        <a:solidFill xmlns:a="http://schemas.openxmlformats.org/drawingml/2006/main">
          <a:srgbClr val="06131B"/>
        </a:solidFill>
      </p:bgPr>
    </p:bg>
    <p:spTree>
      <p:nvGrpSpPr>
        <p:cNvPr id="1" name=""/>
        <p:cNvGrpSpPr/>
        <p:nvPr/>
      </p:nvGrpSpPr>
      <p:grpSpPr>
        <a:xfrm xmlns:a="http://schemas.openxmlformats.org/drawingml/2006/main"/>
      </p:grpSpPr>
      <p:sp>
        <p:nvSpPr>
          <p:cNvPr id="135" name="template-title">
            <a:extLst xmlns:a="http://schemas.openxmlformats.org/drawingml/2006/main">
              <a:ext uri="{FF2B5EF4-FFF2-40B4-BE49-F238E27FC236}">
                <a16:creationId xmlns:a16="http://schemas.microsoft.com/office/drawing/2014/main" id="{E07D29C3-0640-4643-8D9B-770D7A9104D6}"/>
              </a:ext>
            </a:extLst>
          </p:cNvPr>
          <p:cNvSpPr>
            <a:spLocks xmlns:a="http://schemas.openxmlformats.org/drawingml/2006/main" noGrp="1"/>
          </p:cNvSpPr>
          <p:nvPr/>
        </p:nvSpPr>
        <p:spPr>
          <a:xfrm xmlns:a="http://schemas.openxmlformats.org/drawingml/2006/main">
            <a:off x="552450" y="819150"/>
            <a:ext cx="11087100" cy="7239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lnSpc>
                <a:spcPct val="95000"/>
              </a:lnSpc>
              <a:buNone/>
              <a:defRPr sz="3400" b="1">
                <a:solidFill>
                  <a:srgbClr val="F7FBFD"/>
                </a:solidFill>
                <a:latin typeface="Aptos Display"/>
                <a:ea typeface="Aptos Display"/>
                <a:cs typeface="Aptos Display"/>
              </a:defRPr>
            </a:lvl1pPr>
          </a:lstStyle>
          <a:p xmlns:a="http://schemas.openxmlformats.org/drawingml/2006/main">
            <a:pPr>
              <a:buNone/>
            </a:pPr>
            <a:r>
              <a:t>System-level tasks can run end to end</a:t>
            </a:r>
          </a:p>
        </p:txBody>
      </p:sp>
      <p:sp>
        <p:nvSpPr>
          <p:cNvPr id="136" name="section-label-2">
            <a:extLst xmlns:a="http://schemas.openxmlformats.org/drawingml/2006/main">
              <a:ext uri="{FF2B5EF4-FFF2-40B4-BE49-F238E27FC236}">
                <a16:creationId xmlns:a16="http://schemas.microsoft.com/office/drawing/2014/main" id="{E8B42B9D-DC80-425F-BDA2-D005AA5999E8}"/>
              </a:ext>
            </a:extLst>
          </p:cNvPr>
          <p:cNvSpPr>
            <a:spLocks xmlns:a="http://schemas.openxmlformats.org/drawingml/2006/main" noGrp="1"/>
          </p:cNvSpPr>
          <p:nvPr/>
        </p:nvSpPr>
        <p:spPr>
          <a:xfrm xmlns:a="http://schemas.openxmlformats.org/drawingml/2006/main">
            <a:off x="3284218" y="295275"/>
            <a:ext cx="5242564" cy="2311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900" b="1">
                <a:solidFill>
                  <a:srgbClr val="91A7B1"/>
                </a:solidFill>
                <a:latin typeface="Aptos"/>
                <a:ea typeface="Aptos"/>
                <a:cs typeface="Aptos"/>
              </a:defRPr>
            </a:lvl1pPr>
          </a:lstStyle>
          <a:p xmlns:a="http://schemas.openxmlformats.org/drawingml/2006/main">
            <a:pPr>
              <a:buNone/>
            </a:pPr>
            <a:r>
              <a:t>DOCKER SANDBOX IN PRACTICE</a:t>
            </a:r>
          </a:p>
        </p:txBody>
      </p:sp>
      <p:sp>
        <p:nvSpPr>
          <p:cNvPr id="137" name="omp-task-screenshot-outline">
            <a:extLst xmlns:a="http://schemas.openxmlformats.org/drawingml/2006/main">
              <a:ext uri="{FF2B5EF4-FFF2-40B4-BE49-F238E27FC236}">
                <a16:creationId xmlns:a16="http://schemas.microsoft.com/office/drawing/2014/main" id="{59F6E77A-8B57-454E-9A50-D55E4A958286}"/>
              </a:ext>
            </a:extLst>
          </p:cNvPr>
          <p:cNvSpPr>
            <a:spLocks xmlns:a="http://schemas.openxmlformats.org/drawingml/2006/main" noGrp="1"/>
          </p:cNvSpPr>
          <p:nvPr/>
        </p:nvSpPr>
        <p:spPr>
          <a:xfrm xmlns:a="http://schemas.openxmlformats.org/drawingml/2006/main">
            <a:off x="150983" y="1624912"/>
            <a:ext cx="7764319" cy="3202967"/>
          </a:xfrm>
          <a:prstGeom xmlns:a="http://schemas.openxmlformats.org/drawingml/2006/main" prst="roundRect">
            <a:avLst>
              <a:gd name="adj" fmla="val 2538"/>
            </a:avLst>
          </a:prstGeom>
          <a:ln xmlns:a="http://schemas.openxmlformats.org/drawingml/2006/main">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pic>
        <p:nvPicPr>
          <p:cNvPr id="151" name="omp-task-screenshot"/>
          <p:cNvPicPr>
            <a:picLocks xmlns:a="http://schemas.openxmlformats.org/drawingml/2006/main" noChangeAspect="1"/>
          </p:cNvPicPr>
          <p:nvPr/>
        </p:nvPicPr>
        <p:blipFill>
          <a:blip xmlns:r="http://schemas.openxmlformats.org/officeDocument/2006/relationships" xmlns:a="http://schemas.openxmlformats.org/drawingml/2006/main" r:embed="R677c20a62ee847ac"/>
          <a:srcRect xmlns:a="http://schemas.openxmlformats.org/drawingml/2006/main" l="0" t="0" r="1" b="3"/>
          <a:stretch xmlns:a="http://schemas.openxmlformats.org/drawingml/2006/main">
            <a:fillRect l="0" t="0" r="0" b="0"/>
          </a:stretch>
        </p:blipFill>
        <p:spPr>
          <a:xfrm xmlns:a="http://schemas.openxmlformats.org/drawingml/2006/main">
            <a:off x="268188" y="1987748"/>
            <a:ext cx="7529910" cy="2477295"/>
          </a:xfrm>
          <a:ln xmlns:a="http://schemas.openxmlformats.org/drawingml/2006/main" w="12700">
            <a:miter/>
          </a:ln>
        </p:spPr>
      </p:pic>
      <p:sp>
        <p:nvSpPr>
          <p:cNvPr id="139" name="omp-result-screenshot-outline">
            <a:extLst xmlns:a="http://schemas.openxmlformats.org/drawingml/2006/main">
              <a:ext uri="{FF2B5EF4-FFF2-40B4-BE49-F238E27FC236}">
                <a16:creationId xmlns:a16="http://schemas.microsoft.com/office/drawing/2014/main" id="{2624D3F9-93F2-4333-8A84-D991F2B59A2E}"/>
              </a:ext>
            </a:extLst>
          </p:cNvPr>
          <p:cNvSpPr>
            <a:spLocks xmlns:a="http://schemas.openxmlformats.org/drawingml/2006/main" noGrp="1"/>
          </p:cNvSpPr>
          <p:nvPr/>
        </p:nvSpPr>
        <p:spPr>
          <a:xfrm xmlns:a="http://schemas.openxmlformats.org/drawingml/2006/main">
            <a:off x="8020050" y="1617358"/>
            <a:ext cx="3992960" cy="3218074"/>
          </a:xfrm>
          <a:prstGeom xmlns:a="http://schemas.openxmlformats.org/drawingml/2006/main" prst="roundRect">
            <a:avLst>
              <a:gd name="adj" fmla="val 2612"/>
            </a:avLst>
          </a:prstGeom>
          <a:ln xmlns:a="http://schemas.openxmlformats.org/drawingml/2006/main">
            <a:solidFill>
              <a:srgbClr val="2496ED"/>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pic>
        <p:nvPicPr>
          <p:cNvPr id="153" name="omp-result-screenshot"/>
          <p:cNvPicPr>
            <a:picLocks xmlns:a="http://schemas.openxmlformats.org/drawingml/2006/main" noChangeAspect="1"/>
          </p:cNvPicPr>
          <p:nvPr/>
        </p:nvPicPr>
        <p:blipFill>
          <a:blip xmlns:r="http://schemas.openxmlformats.org/officeDocument/2006/relationships" xmlns:a="http://schemas.openxmlformats.org/drawingml/2006/main" r:embed="R092459cfb4404fb0"/>
          <a:srcRect xmlns:a="http://schemas.openxmlformats.org/drawingml/2006/main" l="0" t="0" r="0" b="8"/>
          <a:stretch xmlns:a="http://schemas.openxmlformats.org/drawingml/2006/main">
            <a:fillRect l="0" t="0" r="0" b="0"/>
          </a:stretch>
        </p:blipFill>
        <p:spPr>
          <a:xfrm xmlns:a="http://schemas.openxmlformats.org/drawingml/2006/main">
            <a:off x="8058725" y="1695450"/>
            <a:ext cx="3915417" cy="3061891"/>
          </a:xfrm>
          <a:ln xmlns:a="http://schemas.openxmlformats.org/drawingml/2006/main" w="12700">
            <a:miter/>
          </a:ln>
        </p:spPr>
      </p:pic>
      <p:sp>
        <p:nvSpPr>
          <p:cNvPr id="141" name="autonomy-accent">
            <a:extLst xmlns:a="http://schemas.openxmlformats.org/drawingml/2006/main">
              <a:ext uri="{FF2B5EF4-FFF2-40B4-BE49-F238E27FC236}">
                <a16:creationId xmlns:a16="http://schemas.microsoft.com/office/drawing/2014/main" id="{1C36DD01-6621-4262-A144-F90A4777841B}"/>
              </a:ext>
            </a:extLst>
          </p:cNvPr>
          <p:cNvSpPr>
            <a:spLocks xmlns:a="http://schemas.openxmlformats.org/drawingml/2006/main" noGrp="1"/>
          </p:cNvSpPr>
          <p:nvPr/>
        </p:nvSpPr>
        <p:spPr>
          <a:xfrm xmlns:a="http://schemas.openxmlformats.org/drawingml/2006/main">
            <a:off x="457856" y="5574940"/>
            <a:ext cx="66676" cy="990601"/>
          </a:xfrm>
          <a:prstGeom xmlns:a="http://schemas.openxmlformats.org/drawingml/2006/main" prst="rect">
            <a:avLst/>
          </a:prstGeom>
          <a:solidFill xmlns:a="http://schemas.openxmlformats.org/drawingml/2006/main">
            <a:srgbClr val="FF6C2F"/>
          </a:solidFill>
          <a:ln xmlns:a="http://schemas.openxmlformats.org/drawingml/2006/main" w="3175">
            <a:solidFill>
              <a:srgbClr val="FF6C2F"/>
            </a:solidFill>
          </a:ln>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142" name="autonomy-takeaway">
            <a:extLst xmlns:a="http://schemas.openxmlformats.org/drawingml/2006/main">
              <a:ext uri="{FF2B5EF4-FFF2-40B4-BE49-F238E27FC236}">
                <a16:creationId xmlns:a16="http://schemas.microsoft.com/office/drawing/2014/main" id="{6CF9D325-A380-4A67-AE6A-94FFA3D48524}"/>
              </a:ext>
            </a:extLst>
          </p:cNvPr>
          <p:cNvSpPr>
            <a:spLocks xmlns:a="http://schemas.openxmlformats.org/drawingml/2006/main" noGrp="1"/>
          </p:cNvSpPr>
          <p:nvPr/>
        </p:nvSpPr>
        <p:spPr>
          <a:xfrm xmlns:a="http://schemas.openxmlformats.org/drawingml/2006/main">
            <a:off x="770275" y="5527316"/>
            <a:ext cx="10728963" cy="802639"/>
          </a:xfrm>
          <a:prstGeom xmlns:a="http://schemas.openxmlformats.org/drawingml/2006/main" prst="rect">
            <a:avLst/>
          </a:prstGeom>
          <a:ln xmlns:a="http://schemas.openxmlformats.org/drawingml/2006/main" w="12700"/>
        </p:spPr>
        <p:txBody>
          <a:bodyPr xmlns:a="http://schemas.openxmlformats.org/drawingml/2006/main" lIns="45718" tIns="45718" rIns="45718" bIns="45718">
            <a:spAutoFit/>
          </a:bodyPr>
          <a:lstStyle xmlns:a="http://schemas.openxmlformats.org/drawingml/2006/main">
            <a:lvl1pPr>
              <a:buNone/>
              <a:defRPr sz="2300" b="1">
                <a:solidFill>
                  <a:srgbClr val="F7FBFD"/>
                </a:solidFill>
                <a:latin typeface="Aptos"/>
                <a:ea typeface="Aptos"/>
                <a:cs typeface="Aptos"/>
              </a:defRPr>
            </a:lvl1pPr>
          </a:lstStyle>
          <a:p xmlns:a="http://schemas.openxmlformats.org/drawingml/2006/main">
            <a:pPr>
              <a:buNone/>
            </a:pPr>
            <a:r>
              <a:t>You can give your agent ambitious system-level tasks for end-to-end, fully autonomous execution.</a:t>
            </a:r>
          </a:p>
        </p:txBody>
      </p:sp>
      <p:sp>
        <p:nvSpPr>
          <p:cNvPr id="143" name="top-accent-1">
            <a:extLst xmlns:a="http://schemas.openxmlformats.org/drawingml/2006/main">
              <a:ext uri="{FF2B5EF4-FFF2-40B4-BE49-F238E27FC236}">
                <a16:creationId xmlns:a16="http://schemas.microsoft.com/office/drawing/2014/main" id="{5BA0F986-5D93-43CC-B445-34D154118B23}"/>
              </a:ext>
            </a:extLst>
          </p:cNvPr>
          <p:cNvSpPr>
            <a:spLocks xmlns:a="http://schemas.openxmlformats.org/drawingml/2006/main" noGrp="1"/>
          </p:cNvSpPr>
          <p:nvPr/>
        </p:nvSpPr>
        <p:spPr>
          <a:xfrm xmlns:a="http://schemas.openxmlformats.org/drawingml/2006/main">
            <a:off x="552450" y="209550"/>
            <a:ext cx="2514600" cy="457200"/>
          </a:xfrm>
          <a:prstGeom xmlns:a="http://schemas.openxmlformats.org/drawingml/2006/main" prst="roundRect">
            <a:avLst>
              <a:gd name="adj" fmla="val 16667"/>
            </a:avLst>
          </a:prstGeom>
          <a:gradFill xmlns:a="http://schemas.openxmlformats.org/drawingml/2006/main">
            <a:gsLst>
              <a:gs pos="0">
                <a:srgbClr val="FFFFFF"/>
              </a:gs>
              <a:gs pos="42000">
                <a:srgbClr val="FFFFFF">
                  <a:alpha val="94000"/>
                </a:srgbClr>
              </a:gs>
              <a:gs pos="100000">
                <a:srgbClr val="FFFFFF">
                  <a:alpha val="0"/>
                </a:srgbClr>
              </a:gs>
            </a:gsLst>
            <a:lin/>
          </a:gradFill>
          <a:ln xmlns:a="http://schemas.openxmlformats.org/drawingml/2006/main" w="12700"/>
        </p:spPr>
        <p:txBody>
          <a:bodyPr xmlns:a="http://schemas.openxmlformats.org/drawingml/2006/main" lIns="45718" tIns="45718" rIns="45718" bIns="45718"/>
          <a:lstStyle xmlns:a="http://schemas.openxmlformats.org/drawingml/2006/main"/>
          <a:p xmlns:a="http://schemas.openxmlformats.org/drawingml/2006/main">
            <a:pPr>
              <a:buNone/>
              <a:defRPr>
                <a:latin typeface="Calibri"/>
                <a:ea typeface="Calibri"/>
                <a:cs typeface="Calibri"/>
              </a:defRPr>
            </a:pPr>
          </a:p>
        </p:txBody>
      </p:sp>
      <p:sp>
        <p:nvSpPr>
          <p:cNvPr id="144" name="deck-label-1">
            <a:extLst xmlns:a="http://schemas.openxmlformats.org/drawingml/2006/main">
              <a:ext uri="{FF2B5EF4-FFF2-40B4-BE49-F238E27FC236}">
                <a16:creationId xmlns:a16="http://schemas.microsoft.com/office/drawing/2014/main" id="{0590853E-1EC7-49FF-AE1C-AF5D461D05B6}"/>
              </a:ext>
            </a:extLst>
          </p:cNvPr>
          <p:cNvSpPr>
            <a:spLocks xmlns:a="http://schemas.openxmlformats.org/drawingml/2006/main" noGrp="1"/>
          </p:cNvSpPr>
          <p:nvPr/>
        </p:nvSpPr>
        <p:spPr>
          <a:xfrm xmlns:a="http://schemas.openxmlformats.org/drawingml/2006/main">
            <a:off x="1123950" y="304800"/>
            <a:ext cx="1714500" cy="228600"/>
          </a:xfrm>
          <a:prstGeom xmlns:a="http://schemas.openxmlformats.org/drawingml/2006/main" prst="rect">
            <a:avLst/>
          </a:prstGeom>
          <a:ln xmlns:a="http://schemas.openxmlformats.org/drawingml/2006/main" w="12700"/>
        </p:spPr>
        <p:txBody>
          <a:bodyPr xmlns:a="http://schemas.openxmlformats.org/drawingml/2006/main" lIns="0" tIns="0" rIns="0" bIns="0" anchor="ctr">
            <a:normAutofit fontScale="100000" lnSpcReduction="0"/>
          </a:bodyPr>
          <a:lstStyle xmlns:a="http://schemas.openxmlformats.org/drawingml/2006/main">
            <a:lvl1pPr>
              <a:buNone/>
              <a:defRPr sz="1000" b="1">
                <a:solidFill>
                  <a:srgbClr val="2496ED"/>
                </a:solidFill>
                <a:latin typeface="Aptos Display"/>
                <a:ea typeface="Aptos Display"/>
                <a:cs typeface="Aptos Display"/>
              </a:defRPr>
            </a:lvl1pPr>
          </a:lstStyle>
          <a:p xmlns:a="http://schemas.openxmlformats.org/drawingml/2006/main">
            <a:pPr>
              <a:buNone/>
            </a:pPr>
            <a:r>
              <a:t>DOCKER SANDBOX</a:t>
            </a:r>
          </a:p>
        </p:txBody>
      </p:sp>
      <p:pic>
        <p:nvPicPr>
          <p:cNvPr id="158" name="docker-mark-1"/>
          <p:cNvPicPr>
            <a:picLocks xmlns:a="http://schemas.openxmlformats.org/drawingml/2006/main" noChangeAspect="1"/>
          </p:cNvPicPr>
          <p:nvPr/>
        </p:nvPicPr>
        <p:blipFill>
          <a:blip xmlns:r="http://schemas.openxmlformats.org/officeDocument/2006/relationships" xmlns:a="http://schemas.openxmlformats.org/drawingml/2006/main" r:embed="Ra5185b96c9a04d9b"/>
          <a:stretch xmlns:a="http://schemas.openxmlformats.org/drawingml/2006/main">
            <a:fillRect l="0" t="0" r="0" b="0"/>
          </a:stretch>
        </p:blipFill>
        <p:spPr>
          <a:xfrm xmlns:a="http://schemas.openxmlformats.org/drawingml/2006/main">
            <a:off x="654684" y="257175"/>
            <a:ext cx="386082" cy="30480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2126648050"/>
      </p:ext>
    </p:extLst>
  </p:cSld>
</p:sld>
</file>

<file path=ppt/theme/theme1.xml><?xml version="1.0" encoding="utf-8"?>
<a:theme xmlns:a="http://schemas.openxmlformats.org/drawingml/2006/main"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Helvetica"/>
        <a:ea typeface="Helvetica"/>
        <a:cs typeface="Helvetica"/>
      </a:majorFont>
      <a:minorFont>
        <a:latin typeface="Helvetica Neue"/>
        <a:ea typeface="Helvetica Neue"/>
        <a:cs typeface="Helvetica Neue"/>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2026-09-30T09:24:42.6690000Z</dcterms:created>
  <dcterms:modified xsi:type="dcterms:W3CDTF">2026-09-30T09:24:42.6690000Z</dcterms:modified>
</coreProperties>
</file>