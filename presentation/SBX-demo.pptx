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media/image1.jpeg" ContentType="image/jpeg"/>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Neue"/>
      </a:defRPr>
    </a:lvl1pPr>
    <a:lvl2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Neue"/>
      </a:defRPr>
    </a:lvl2pPr>
    <a:lvl3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Neue"/>
      </a:defRPr>
    </a:lvl3pPr>
    <a:lvl4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Neue"/>
      </a:defRPr>
    </a:lvl4pPr>
    <a:lvl5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Neue"/>
      </a:defRPr>
    </a:lvl5pPr>
    <a:lvl6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Neue"/>
      </a:defRPr>
    </a:lvl6pPr>
    <a:lvl7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Neue"/>
      </a:defRPr>
    </a:lvl7pPr>
    <a:lvl8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Neue"/>
      </a:defRPr>
    </a:lvl8pPr>
    <a:lvl9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Neue"/>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D1D8"/>
          </a:solidFill>
        </a:fill>
      </a:tcStyle>
    </a:wholeTbl>
    <a:band2H>
      <a:tcTxStyle b="def" i="def"/>
      <a:tcStyle>
        <a:tcBdr/>
        <a:fill>
          <a:solidFill>
            <a:srgbClr val="E7E9EC"/>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BD3CB"/>
          </a:solidFill>
        </a:fill>
      </a:tcStyle>
    </a:wholeTbl>
    <a:band2H>
      <a:tcTxStyle b="def" i="def"/>
      <a:tcStyle>
        <a:tcBdr/>
        <a:fill>
          <a:solidFill>
            <a:srgbClr val="E7EAE7"/>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FE1CC"/>
          </a:solidFill>
        </a:fill>
      </a:tcStyle>
    </a:wholeTbl>
    <a:band2H>
      <a:tcTxStyle b="def" i="def"/>
      <a:tcStyle>
        <a:tcBdr/>
        <a:fill>
          <a:solidFill>
            <a:srgbClr val="E8F0E7"/>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b="def" i="def"/>
      <a:tcStyle>
        <a:tcBdr/>
        <a:fill>
          <a:solidFill>
            <a:srgbClr val="FFFFFF"/>
          </a:solidFill>
        </a:fill>
      </a:tcStyle>
    </a:band2H>
    <a:firstCol>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7" name="Shape 17"/>
          <p:cNvSpPr/>
          <p:nvPr>
            <p:ph type="sldImg"/>
          </p:nvPr>
        </p:nvSpPr>
        <p:spPr>
          <a:xfrm>
            <a:off x="1143000" y="685800"/>
            <a:ext cx="4572000" cy="3429000"/>
          </a:xfrm>
          <a:prstGeom prst="rect">
            <a:avLst/>
          </a:prstGeom>
        </p:spPr>
        <p:txBody>
          <a:bodyPr/>
          <a:lstStyle/>
          <a:p>
            <a:pPr/>
          </a:p>
        </p:txBody>
      </p:sp>
      <p:sp>
        <p:nvSpPr>
          <p:cNvPr id="18" name="Shape 18"/>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Helvetica Neue"/>
      </a:defRPr>
    </a:lvl1pPr>
    <a:lvl2pPr indent="228600" latinLnBrk="0">
      <a:defRPr sz="1200">
        <a:latin typeface="+mn-lt"/>
        <a:ea typeface="+mn-ea"/>
        <a:cs typeface="+mn-cs"/>
        <a:sym typeface="Helvetica Neue"/>
      </a:defRPr>
    </a:lvl2pPr>
    <a:lvl3pPr indent="457200" latinLnBrk="0">
      <a:defRPr sz="1200">
        <a:latin typeface="+mn-lt"/>
        <a:ea typeface="+mn-ea"/>
        <a:cs typeface="+mn-cs"/>
        <a:sym typeface="Helvetica Neue"/>
      </a:defRPr>
    </a:lvl3pPr>
    <a:lvl4pPr indent="685800" latinLnBrk="0">
      <a:defRPr sz="1200">
        <a:latin typeface="+mn-lt"/>
        <a:ea typeface="+mn-ea"/>
        <a:cs typeface="+mn-cs"/>
        <a:sym typeface="Helvetica Neue"/>
      </a:defRPr>
    </a:lvl4pPr>
    <a:lvl5pPr indent="914400" latinLnBrk="0">
      <a:defRPr sz="1200">
        <a:latin typeface="+mn-lt"/>
        <a:ea typeface="+mn-ea"/>
        <a:cs typeface="+mn-cs"/>
        <a:sym typeface="Helvetica Neue"/>
      </a:defRPr>
    </a:lvl5pPr>
    <a:lvl6pPr indent="1143000" latinLnBrk="0">
      <a:defRPr sz="1200">
        <a:latin typeface="+mn-lt"/>
        <a:ea typeface="+mn-ea"/>
        <a:cs typeface="+mn-cs"/>
        <a:sym typeface="Helvetica Neue"/>
      </a:defRPr>
    </a:lvl6pPr>
    <a:lvl7pPr indent="1371600" latinLnBrk="0">
      <a:defRPr sz="1200">
        <a:latin typeface="+mn-lt"/>
        <a:ea typeface="+mn-ea"/>
        <a:cs typeface="+mn-cs"/>
        <a:sym typeface="Helvetica Neue"/>
      </a:defRPr>
    </a:lvl7pPr>
    <a:lvl8pPr indent="1600200" latinLnBrk="0">
      <a:defRPr sz="1200">
        <a:latin typeface="+mn-lt"/>
        <a:ea typeface="+mn-ea"/>
        <a:cs typeface="+mn-cs"/>
        <a:sym typeface="Helvetica Neue"/>
      </a:defRPr>
    </a:lvl8pPr>
    <a:lvl9pPr indent="1828800" latinLnBrk="0">
      <a:defRPr sz="1200">
        <a:latin typeface="+mn-lt"/>
        <a:ea typeface="+mn-ea"/>
        <a:cs typeface="+mn-cs"/>
        <a:sym typeface="Helvetica Neue"/>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 name="Shape 43"/>
          <p:cNvSpPr/>
          <p:nvPr>
            <p:ph type="sldImg"/>
          </p:nvPr>
        </p:nvSpPr>
        <p:spPr>
          <a:prstGeom prst="rect">
            <a:avLst/>
          </a:prstGeom>
        </p:spPr>
        <p:txBody>
          <a:bodyPr/>
          <a:lstStyle/>
          <a:p>
            <a:pPr/>
          </a:p>
        </p:txBody>
      </p:sp>
      <p:sp>
        <p:nvSpPr>
          <p:cNvPr id="44" name="Shape 44"/>
          <p:cNvSpPr/>
          <p:nvPr>
            <p:ph type="body" sz="quarter" idx="1"/>
          </p:nvPr>
        </p:nvSpPr>
        <p:spPr>
          <a:prstGeom prst="rect">
            <a:avLst/>
          </a:prstGeom>
        </p:spPr>
        <p:txBody>
          <a:bodyPr/>
          <a:lstStyle/>
          <a:p>
            <a:pPr/>
            <a:r>
              <a:t>[Sources]</a:t>
            </a:r>
          </a:p>
          <a:p>
            <a:pPr/>
            <a:r>
              <a:t>- User-provided screenshot: /Users/omergilad/Documents/Screenshots/sbx demo/Screenshot 2026-07-26 at 15.38.35.png</a:t>
            </a:r>
          </a:p>
          <a:p>
            <a:pPr/>
            <a:r>
              <a:t>- User-provided screenshot: /Users/omergilad/Documents/Screenshots/sbx demo/Screenshot 2026-07-26 at 15.39.54.png</a:t>
            </a:r>
          </a:p>
          <a:p>
            <a:pPr/>
            <a:r>
              <a:t>- User-provided screenshot: /Users/omergilad/Documents/Screenshots/sbx demo/Screenshot 2026-07-26 at 15.40.11.png</a:t>
            </a:r>
          </a:p>
          <a:p>
            <a:pPr/>
            <a:r>
              <a:t>- User-provided screenshot: /Users/omergilad/Documents/Screenshots/sbx demo/Screenshot 2026-07-26 at 15.40.19.png</a:t>
            </a:r>
          </a:p>
          <a:p>
            <a:pPr/>
            <a:r>
              <a:t>- User-provided screenshot: /Users/omergilad/Documents/Screenshots/sbx demo/Screenshot 2026-07-26 at 15.48.20.png</a:t>
            </a:r>
          </a:p>
          <a:p>
            <a:pPr/>
            <a:r>
              <a:t>- Docker whale mark: https://www.docker.com/app/uploads/2026/02/Docker_Mark_660x400.png (official Docker brand resource)</a:t>
            </a:r>
          </a:p>
          <a:p>
            <a:pPr/>
            <a:r>
              <a:t>[/Sources]</a:t>
            </a:r>
          </a:p>
          <a:p>
            <a:pPr/>
            <a:r>
              <a:t>Added photo supplied by user: Yuval Avidani LinkedIn post. Actual news headline: BBC News, Laura Cress, 22 July 2026. https://www.bbc.com/news/articles/c3ek3gvdnj3o . The clipping typesets the published headline and byline. It is not an explainer slide or a webpage screenshot. Animation: seven Fade entrance effects, each on a separate click, 0.5 seconds, with no motion or scaling. Existing positions and layering are preserved.</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6" name="Shape 56"/>
          <p:cNvSpPr/>
          <p:nvPr>
            <p:ph type="sldImg"/>
          </p:nvPr>
        </p:nvSpPr>
        <p:spPr>
          <a:prstGeom prst="rect">
            <a:avLst/>
          </a:prstGeom>
        </p:spPr>
        <p:txBody>
          <a:bodyPr/>
          <a:lstStyle/>
          <a:p>
            <a:pPr/>
          </a:p>
        </p:txBody>
      </p:sp>
      <p:sp>
        <p:nvSpPr>
          <p:cNvPr id="57" name="Shape 57"/>
          <p:cNvSpPr/>
          <p:nvPr>
            <p:ph type="body" sz="quarter" idx="1"/>
          </p:nvPr>
        </p:nvSpPr>
        <p:spPr>
          <a:prstGeom prst="rect">
            <a:avLst/>
          </a:prstGeom>
        </p:spPr>
        <p:txBody>
          <a:bodyPr/>
          <a:lstStyle/>
          <a:p>
            <a:pPr/>
            <a:r>
              <a:t>[Sources]</a:t>
            </a:r>
          </a:p>
          <a:p>
            <a:pPr/>
            <a:r>
              <a:t>- User-provided screenshot: /Users/omergilad/Documents/Screenshots/full permissions.png</a:t>
            </a:r>
          </a:p>
          <a:p>
            <a:pPr/>
            <a:r>
              <a:t>[/Sources]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7" name="Shape 67"/>
          <p:cNvSpPr/>
          <p:nvPr>
            <p:ph type="sldImg"/>
          </p:nvPr>
        </p:nvSpPr>
        <p:spPr>
          <a:prstGeom prst="rect">
            <a:avLst/>
          </a:prstGeom>
        </p:spPr>
        <p:txBody>
          <a:bodyPr/>
          <a:lstStyle/>
          <a:p>
            <a:pPr/>
          </a:p>
        </p:txBody>
      </p:sp>
      <p:sp>
        <p:nvSpPr>
          <p:cNvPr id="68" name="Shape 68"/>
          <p:cNvSpPr/>
          <p:nvPr>
            <p:ph type="body" sz="quarter" idx="1"/>
          </p:nvPr>
        </p:nvSpPr>
        <p:spPr>
          <a:prstGeom prst="rect">
            <a:avLst/>
          </a:prstGeom>
        </p:spPr>
        <p:txBody>
          <a:bodyPr/>
          <a:lstStyle/>
          <a:p>
            <a:pPr/>
            <a:r>
              <a:t>[Sources]</a:t>
            </a:r>
          </a:p>
          <a:p>
            <a:pPr/>
            <a:r>
              <a:t>- User-provided screenshot: /Users/omergilad/Documents/Screenshots/manual permissions.png</a:t>
            </a:r>
          </a:p>
          <a:p>
            <a:pPr/>
            <a:r>
              <a:t>- Anthropic containment discussion: https://www.anthropic.com/engineering/how-we-contain-claude</a:t>
            </a:r>
          </a:p>
          <a:p>
            <a:pPr/>
            <a:r>
              <a:t>[/Sources]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8" name="Shape 78"/>
          <p:cNvSpPr/>
          <p:nvPr>
            <p:ph type="sldImg"/>
          </p:nvPr>
        </p:nvSpPr>
        <p:spPr>
          <a:prstGeom prst="rect">
            <a:avLst/>
          </a:prstGeom>
        </p:spPr>
        <p:txBody>
          <a:bodyPr/>
          <a:lstStyle/>
          <a:p>
            <a:pPr/>
          </a:p>
        </p:txBody>
      </p:sp>
      <p:sp>
        <p:nvSpPr>
          <p:cNvPr id="79" name="Shape 79"/>
          <p:cNvSpPr/>
          <p:nvPr>
            <p:ph type="body" sz="quarter" idx="1"/>
          </p:nvPr>
        </p:nvSpPr>
        <p:spPr>
          <a:prstGeom prst="rect">
            <a:avLst/>
          </a:prstGeom>
        </p:spPr>
        <p:txBody>
          <a:bodyPr/>
          <a:lstStyle/>
          <a:p>
            <a:pPr/>
            <a:r>
              <a:t>[Sources]</a:t>
            </a:r>
          </a:p>
          <a:p>
            <a:pPr/>
            <a:r>
              <a:t>- User-provided screenshot: /Users/omergilad/Documents/Screenshots/auto mode.png</a:t>
            </a:r>
          </a:p>
          <a:p>
            <a:pPr/>
            <a:r>
              <a:t>- Anthropic Claude Code auto mode: https://www.anthropic.com/engineering/claude-code-auto-mode</a:t>
            </a:r>
          </a:p>
          <a:p>
            <a:pPr/>
            <a:r>
              <a:t>[/Sources]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8" name="Shape 88"/>
          <p:cNvSpPr/>
          <p:nvPr>
            <p:ph type="sldImg"/>
          </p:nvPr>
        </p:nvSpPr>
        <p:spPr>
          <a:prstGeom prst="rect">
            <a:avLst/>
          </a:prstGeom>
        </p:spPr>
        <p:txBody>
          <a:bodyPr/>
          <a:lstStyle/>
          <a:p>
            <a:pPr/>
          </a:p>
        </p:txBody>
      </p:sp>
      <p:sp>
        <p:nvSpPr>
          <p:cNvPr id="89" name="Shape 89"/>
          <p:cNvSpPr/>
          <p:nvPr>
            <p:ph type="body" sz="quarter" idx="1"/>
          </p:nvPr>
        </p:nvSpPr>
        <p:spPr>
          <a:prstGeom prst="rect">
            <a:avLst/>
          </a:prstGeom>
        </p:spPr>
        <p:txBody>
          <a:bodyPr/>
          <a:lstStyle/>
          <a:p>
            <a:pPr/>
            <a:r>
              <a:t>[Sources]</a:t>
            </a:r>
          </a:p>
          <a:p>
            <a:pPr/>
            <a:r>
              <a:t>- Anthropic Claude Code sandboxing: https://www.anthropic.com/engineering/claude-code-sandboxing</a:t>
            </a:r>
          </a:p>
          <a:p>
            <a:pPr/>
            <a:r>
              <a:t>[/Sources]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1" name="Shape 101"/>
          <p:cNvSpPr/>
          <p:nvPr>
            <p:ph type="sldImg"/>
          </p:nvPr>
        </p:nvSpPr>
        <p:spPr>
          <a:prstGeom prst="rect">
            <a:avLst/>
          </a:prstGeom>
        </p:spPr>
        <p:txBody>
          <a:bodyPr/>
          <a:lstStyle/>
          <a:p>
            <a:pPr/>
          </a:p>
        </p:txBody>
      </p:sp>
      <p:sp>
        <p:nvSpPr>
          <p:cNvPr id="102" name="Shape 102"/>
          <p:cNvSpPr/>
          <p:nvPr>
            <p:ph type="body" sz="quarter" idx="1"/>
          </p:nvPr>
        </p:nvSpPr>
        <p:spPr>
          <a:prstGeom prst="rect">
            <a:avLst/>
          </a:prstGeom>
        </p:spPr>
        <p:txBody>
          <a:bodyPr/>
          <a:lstStyle/>
          <a:p>
            <a:pPr/>
            <a:r>
              <a:t>[Sources]</a:t>
            </a:r>
          </a:p>
          <a:p>
            <a:pPr/>
            <a:r>
              <a:t>- Docker Sandboxes architecture comparison: https://docs.docker.com/ai/sandboxes/architecture/</a:t>
            </a:r>
          </a:p>
          <a:p>
            <a:pPr/>
            <a:r>
              <a:t>- Development Containers specification: https://github.com/devcontainers/spec</a:t>
            </a:r>
          </a:p>
          <a:p>
            <a:pPr/>
            <a:r>
              <a:t>- Dev Containers logo: https://avatars.githubusercontent.com/u/102692984?v=4</a:t>
            </a:r>
          </a:p>
          <a:p>
            <a:pPr/>
            <a:r>
              <a:t>- Docker logo: https://www.docker.com/company/newsroom/media-resources/</a:t>
            </a:r>
          </a:p>
          <a:p>
            <a:pPr/>
            <a:r>
              <a:t>[/Sources]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4" name="Shape 114"/>
          <p:cNvSpPr/>
          <p:nvPr>
            <p:ph type="sldImg"/>
          </p:nvPr>
        </p:nvSpPr>
        <p:spPr>
          <a:prstGeom prst="rect">
            <a:avLst/>
          </a:prstGeom>
        </p:spPr>
        <p:txBody>
          <a:bodyPr/>
          <a:lstStyle/>
          <a:p>
            <a:pPr/>
          </a:p>
        </p:txBody>
      </p:sp>
      <p:sp>
        <p:nvSpPr>
          <p:cNvPr id="115" name="Shape 115"/>
          <p:cNvSpPr/>
          <p:nvPr>
            <p:ph type="body" sz="quarter" idx="1"/>
          </p:nvPr>
        </p:nvSpPr>
        <p:spPr>
          <a:prstGeom prst="rect">
            <a:avLst/>
          </a:prstGeom>
        </p:spPr>
        <p:txBody>
          <a:bodyPr/>
          <a:lstStyle/>
          <a:p>
            <a:pPr/>
            <a:r>
              <a:t>[Sources]</a:t>
            </a:r>
          </a:p>
          <a:p>
            <a:pPr/>
            <a:r>
              <a:t>- Docker Sandboxes overview: https://docs.docker.com/ai/sandboxes/</a:t>
            </a:r>
          </a:p>
          <a:p>
            <a:pPr/>
            <a:r>
              <a:t>- Docker Sandboxes architecture: https://docs.docker.com/ai/sandboxes/architecture/</a:t>
            </a:r>
          </a:p>
          <a:p>
            <a:pPr/>
            <a:r>
              <a:t>- Docker Sandboxes security and isolation: https://docs.docker.com/ai/sandboxes/security/isolation/</a:t>
            </a:r>
          </a:p>
          <a:p>
            <a:pPr/>
            <a:r>
              <a:t>- Docker Sandboxes security defaults: https://docs.docker.com/ai/sandboxes/security/defaults/</a:t>
            </a:r>
          </a:p>
          <a:p>
            <a:pPr/>
            <a:r>
              <a:t>- Docker Agent in Docker Sandboxes: https://docs.docker.com/ai/sandboxes/agents/docker-agent/</a:t>
            </a:r>
          </a:p>
          <a:p>
            <a:pPr/>
            <a:r>
              <a:t>- Docker logo: https://www.docker.com/company/newsroom/media-resources/</a:t>
            </a:r>
          </a:p>
          <a:p>
            <a:pPr/>
            <a:r>
              <a:t>[/Sources]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8" name="Shape 128"/>
          <p:cNvSpPr/>
          <p:nvPr>
            <p:ph type="sldImg"/>
          </p:nvPr>
        </p:nvSpPr>
        <p:spPr>
          <a:prstGeom prst="rect">
            <a:avLst/>
          </a:prstGeom>
        </p:spPr>
        <p:txBody>
          <a:bodyPr/>
          <a:lstStyle/>
          <a:p>
            <a:pPr/>
          </a:p>
        </p:txBody>
      </p:sp>
      <p:sp>
        <p:nvSpPr>
          <p:cNvPr id="129" name="Shape 129"/>
          <p:cNvSpPr/>
          <p:nvPr>
            <p:ph type="body" sz="quarter" idx="1"/>
          </p:nvPr>
        </p:nvSpPr>
        <p:spPr>
          <a:prstGeom prst="rect">
            <a:avLst/>
          </a:prstGeom>
        </p:spPr>
        <p:txBody>
          <a:bodyPr/>
          <a:lstStyle/>
          <a:p>
            <a:pPr/>
            <a:r>
              <a:t>[Sources]</a:t>
            </a:r>
          </a:p>
          <a:p>
            <a:pPr/>
            <a:r>
              <a:t>- Docker Sandbox templates and built-in agent images: https://docs.docker.com/ai/sandboxes/customize/templates/</a:t>
            </a:r>
          </a:p>
          <a:p>
            <a:pPr/>
            <a:r>
              <a:t>- Multiple workspaces and usage: https://docs.docker.com/ai/sandboxes/usage/</a:t>
            </a:r>
          </a:p>
          <a:p>
            <a:pPr/>
            <a:r>
              <a:t>- Snapshot a sandbox as a template: https://docs.docker.com/reference/cli/sbx/template/save/</a:t>
            </a:r>
          </a:p>
          <a:p>
            <a:pPr/>
            <a:r>
              <a:t>- Port publishing: https://docs.docker.com/reference/cli/sbx/ports/</a:t>
            </a:r>
          </a:p>
          <a:p>
            <a:pPr/>
            <a:r>
              <a:t>- Experimental native SSH endpoint: https://docs.docker.com/ai/sandboxes/release-notes/</a:t>
            </a:r>
          </a:p>
          <a:p>
            <a:pPr/>
            <a:r>
              <a:t>- Docker Sandbox Kits: https://docs.docker.com/ai/sandboxes/customize/kits/</a:t>
            </a:r>
          </a:p>
          <a:p>
            <a:pPr/>
            <a:r>
              <a:t>[/Sources]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6" name="Shape 156"/>
          <p:cNvSpPr/>
          <p:nvPr>
            <p:ph type="sldImg"/>
          </p:nvPr>
        </p:nvSpPr>
        <p:spPr>
          <a:prstGeom prst="rect">
            <a:avLst/>
          </a:prstGeom>
        </p:spPr>
        <p:txBody>
          <a:bodyPr/>
          <a:lstStyle/>
          <a:p>
            <a:pPr/>
          </a:p>
        </p:txBody>
      </p:sp>
      <p:sp>
        <p:nvSpPr>
          <p:cNvPr id="157" name="Shape 157"/>
          <p:cNvSpPr/>
          <p:nvPr>
            <p:ph type="body" sz="quarter" idx="1"/>
          </p:nvPr>
        </p:nvSpPr>
        <p:spPr>
          <a:prstGeom prst="rect">
            <a:avLst/>
          </a:prstGeom>
        </p:spPr>
        <p:txBody>
          <a:bodyPr/>
          <a:lstStyle/>
          <a:p>
            <a:pPr/>
            <a:r>
              <a:t>Based on project chat: Find Docker sandbox alternatives.</a:t>
            </a:r>
          </a:p>
          <a:p>
            <a:pPr/>
            <a:r>
              <a:t>Sources checked 30 September 2026:</a:t>
            </a:r>
          </a:p>
          <a:p>
            <a:pPr/>
            <a:r>
              <a:t>https://github.com/superradcompany/microsandbox</a:t>
            </a:r>
          </a:p>
          <a:p>
            <a:pPr/>
            <a:r>
              <a:t>https://github.com/boxlite-ai/boxlite</a:t>
            </a:r>
          </a:p>
          <a:p>
            <a:pPr/>
            <a:r>
              <a:t>https://github.com/superhq-ai/shuru</a:t>
            </a:r>
          </a:p>
          <a:p>
            <a:pPr/>
            <a:r>
              <a:t>https://kb.parallels.com/en/128867</a:t>
            </a:r>
          </a:p>
          <a:p>
            <a:pPr/>
            <a:r>
              <a:t>https://kb.parallels.com/en/128842</a:t>
            </a:r>
          </a:p>
          <a:p>
            <a:pPr/>
            <a:r>
              <a:t>https://cua.ai/docs</a:t>
            </a:r>
          </a:p>
          <a:p>
            <a:pPr/>
            <a:r>
              <a:t>https://github.com/openai/tart</a:t>
            </a:r>
          </a:p>
          <a:p>
            <a:pPr/>
            <a:r>
              <a:t>https://learn.microsoft.com/en-us/windows/security/application-security/application-isolation/windows-sandbox/</a:t>
            </a:r>
          </a:p>
          <a:p>
            <a:pPr/>
            <a:r>
              <a:t>Desktop VM safety depends on disabling unnecessary host sharing, limiting networking and using task-specific credentials.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6" name="Shape 186"/>
          <p:cNvSpPr/>
          <p:nvPr>
            <p:ph type="sldImg"/>
          </p:nvPr>
        </p:nvSpPr>
        <p:spPr>
          <a:prstGeom prst="rect">
            <a:avLst/>
          </a:prstGeom>
        </p:spPr>
        <p:txBody>
          <a:bodyPr/>
          <a:lstStyle/>
          <a:p>
            <a:pPr/>
          </a:p>
        </p:txBody>
      </p:sp>
      <p:sp>
        <p:nvSpPr>
          <p:cNvPr id="187" name="Shape 187"/>
          <p:cNvSpPr/>
          <p:nvPr>
            <p:ph type="body" sz="quarter" idx="1"/>
          </p:nvPr>
        </p:nvSpPr>
        <p:spPr>
          <a:prstGeom prst="rect">
            <a:avLst/>
          </a:prstGeom>
        </p:spPr>
        <p:txBody>
          <a:bodyPr/>
          <a:lstStyle/>
          <a:p>
            <a:pPr/>
            <a:r>
              <a:t>Comparison of deployment modes and protection goals. Products may support multiple deployment modes. Sandbox isolation contains untrusted code execution, including RCE, rather than preventing all execution inside the sandbox. Forbidden API or business actions require least-privilege credentials, authorization and tool policies. Host data and browser sessions remain protected only when not exposed through mounts, credentials, bridges or tools.</a:t>
            </a:r>
          </a:p>
          <a:p>
            <a:pPr/>
            <a:r>
              <a:t>Sources (checked 2026-09-30):</a:t>
            </a:r>
          </a:p>
          <a:p>
            <a:pPr/>
            <a:r>
              <a:t>https://www.docker.com/products/docker-sandboxes/</a:t>
            </a:r>
          </a:p>
          <a:p>
            <a:pPr/>
            <a:r>
              <a:t>https://microsandbox.dev/platform/local</a:t>
            </a:r>
          </a:p>
          <a:p>
            <a:pPr/>
            <a:r>
              <a:t>https://github.com/boxlite-ai/boxlite</a:t>
            </a:r>
          </a:p>
          <a:p>
            <a:pPr/>
            <a:r>
              <a:t>https://aws.amazon.com/bedrock/agentcore/faqs/</a:t>
            </a:r>
          </a:p>
          <a:p>
            <a:pPr/>
            <a:r>
              <a:t>https://docs.aws.amazon.com/bedrock-agentcore/latest/devguide/code-interpreter-create.html</a:t>
            </a:r>
          </a:p>
          <a:p>
            <a:pPr/>
            <a:r>
              <a:t>https://e2b.dev/docs/sdk-reference/js-sdk/v2.6.2/sandbox</a:t>
            </a:r>
          </a:p>
          <a:p>
            <a:pPr/>
            <a:r>
              <a:t>https://www.daytona.io/docs/en/sandboxes/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7" name="Shape 197"/>
          <p:cNvSpPr/>
          <p:nvPr>
            <p:ph type="sldImg"/>
          </p:nvPr>
        </p:nvSpPr>
        <p:spPr>
          <a:prstGeom prst="rect">
            <a:avLst/>
          </a:prstGeom>
        </p:spPr>
        <p:txBody>
          <a:bodyPr/>
          <a:lstStyle/>
          <a:p>
            <a:pPr/>
          </a:p>
        </p:txBody>
      </p:sp>
      <p:sp>
        <p:nvSpPr>
          <p:cNvPr id="198" name="Shape 198"/>
          <p:cNvSpPr/>
          <p:nvPr>
            <p:ph type="body" sz="quarter" idx="1"/>
          </p:nvPr>
        </p:nvSpPr>
        <p:spPr>
          <a:prstGeom prst="rect">
            <a:avLst/>
          </a:prstGeom>
        </p:spPr>
        <p:txBody>
          <a:bodyPr/>
          <a:lstStyle/>
          <a:p>
            <a:pPr/>
            <a:r>
              <a:t>[Sources]</a:t>
            </a:r>
          </a:p>
          <a:p>
            <a:pPr/>
            <a:r>
              <a:t>- User-provided screenshot: /Users/omergilad/Documents/Screenshots/dotfiles.png</a:t>
            </a:r>
          </a:p>
          <a:p>
            <a:pPr/>
            <a:r>
              <a:t>- Docker Sandboxes security model: https://docs.docker.com/ai/sandboxes/security/</a:t>
            </a:r>
          </a:p>
          <a:p>
            <a:pPr/>
            <a:r>
              <a:t>- Docker Sandbox templates: https://docs.docker.com/ai/sandboxes/customize/templates/</a:t>
            </a:r>
          </a:p>
          <a:p>
            <a:pPr/>
            <a:r>
              <a:t>[/Sources]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1" name="Shape 211"/>
          <p:cNvSpPr/>
          <p:nvPr>
            <p:ph type="sldImg"/>
          </p:nvPr>
        </p:nvSpPr>
        <p:spPr>
          <a:prstGeom prst="rect">
            <a:avLst/>
          </a:prstGeom>
        </p:spPr>
        <p:txBody>
          <a:bodyPr/>
          <a:lstStyle/>
          <a:p>
            <a:pPr/>
          </a:p>
        </p:txBody>
      </p:sp>
      <p:sp>
        <p:nvSpPr>
          <p:cNvPr id="212" name="Shape 212"/>
          <p:cNvSpPr/>
          <p:nvPr>
            <p:ph type="body" sz="quarter" idx="1"/>
          </p:nvPr>
        </p:nvSpPr>
        <p:spPr>
          <a:prstGeom prst="rect">
            <a:avLst/>
          </a:prstGeom>
        </p:spPr>
        <p:txBody>
          <a:bodyPr/>
          <a:lstStyle/>
          <a:p>
            <a:pPr/>
            <a:r>
              <a:t>[Sources]</a:t>
            </a:r>
          </a:p>
          <a:p>
            <a:pPr/>
            <a:r>
              <a:t>- User-provided screenshot: /Users/omergilad/Documents/Screenshots/omp.png</a:t>
            </a:r>
          </a:p>
          <a:p>
            <a:pPr/>
            <a:r>
              <a:t>- User-provided screenshot: /Users/omergilad/Documents/Screenshots/omp 2.png</a:t>
            </a:r>
          </a:p>
          <a:p>
            <a:pPr/>
            <a:r>
              <a:t>[/Sources]</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Slide">
    <p:spTree>
      <p:nvGrpSpPr>
        <p:cNvPr id="1" name=""/>
        <p:cNvGrpSpPr/>
        <p:nvPr/>
      </p:nvGrpSpPr>
      <p:grpSpPr>
        <a:xfrm>
          <a:off x="0" y="0"/>
          <a:ext cx="0" cy="0"/>
          <a:chOff x="0" y="0"/>
          <a:chExt cx="0" cy="0"/>
        </a:xfrm>
      </p:grpSpPr>
      <p:sp>
        <p:nvSpPr>
          <p:cNvPr id="1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Title Text"/>
          <p:cNvSpPr txBox="1"/>
          <p:nvPr>
            <p:ph type="title"/>
          </p:nvPr>
        </p:nvSpPr>
        <p:spPr>
          <a:xfrm>
            <a:off x="609600" y="92074"/>
            <a:ext cx="10972800" cy="150812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lstStyle>
            <a:lvl1pPr rtl="1">
              <a:defRPr/>
            </a:lvl1pPr>
          </a:lstStyle>
          <a:p>
            <a:pPr/>
            <a:r>
              <a:t>Title Text</a:t>
            </a:r>
          </a:p>
        </p:txBody>
      </p:sp>
      <p:sp>
        <p:nvSpPr>
          <p:cNvPr id="3" name="Body Level One…"/>
          <p:cNvSpPr txBox="1"/>
          <p:nvPr>
            <p:ph type="body" idx="1"/>
          </p:nvPr>
        </p:nvSpPr>
        <p:spPr>
          <a:xfrm>
            <a:off x="609600" y="1600200"/>
            <a:ext cx="10972800" cy="525780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lstStyle>
            <a:lvl1pPr rtl="1">
              <a:defRPr/>
            </a:lvl1pPr>
            <a:lvl2pPr rtl="1">
              <a:defRPr/>
            </a:lvl2pPr>
            <a:lvl3pPr rtl="1">
              <a:defRPr/>
            </a:lvl3pPr>
            <a:lvl4pPr rtl="1">
              <a:defRPr/>
            </a:lvl4pPr>
            <a:lvl5pPr rtl="1">
              <a:defRPr/>
            </a:lvl5pPr>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8478981" y="6232199"/>
            <a:ext cx="258620" cy="248302"/>
          </a:xfrm>
          <a:prstGeom prst="rect">
            <a:avLst/>
          </a:prstGeom>
          <a:ln w="12700">
            <a:miter lim="400000"/>
          </a:ln>
        </p:spPr>
        <p:txBody>
          <a:bodyPr wrap="none" lIns="45718" tIns="45718" rIns="45718" bIns="45718" anchor="ctr">
            <a:spAutoFit/>
          </a:bodyPr>
          <a:lstStyle>
            <a:lvl1pPr algn="r">
              <a:defRPr sz="1200">
                <a:latin typeface="Calibri"/>
                <a:ea typeface="Calibri"/>
                <a:cs typeface="Calibri"/>
                <a:sym typeface="Calibri"/>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Lst>
  <p:transition xmlns:p14="http://schemas.microsoft.com/office/powerpoint/2010/main" spd="med" advClick="1"/>
  <p:txStyles>
    <p:titleStyle>
      <a:lvl1pPr marL="0" marR="0" indent="0" algn="l" defTabSz="914400" rtl="0" latinLnBrk="0">
        <a:lnSpc>
          <a:spcPct val="9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1pPr>
      <a:lvl2pPr marL="0" marR="0" indent="0" algn="l" defTabSz="914400" rtl="0" latinLnBrk="0">
        <a:lnSpc>
          <a:spcPct val="9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2pPr>
      <a:lvl3pPr marL="0" marR="0" indent="0" algn="l" defTabSz="914400" rtl="0" latinLnBrk="0">
        <a:lnSpc>
          <a:spcPct val="9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3pPr>
      <a:lvl4pPr marL="0" marR="0" indent="0" algn="l" defTabSz="914400" rtl="0" latinLnBrk="0">
        <a:lnSpc>
          <a:spcPct val="9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4pPr>
      <a:lvl5pPr marL="0" marR="0" indent="0" algn="l" defTabSz="914400" rtl="0" latinLnBrk="0">
        <a:lnSpc>
          <a:spcPct val="9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5pPr>
      <a:lvl6pPr marL="0" marR="0" indent="0" algn="l" defTabSz="914400" rtl="0" latinLnBrk="0">
        <a:lnSpc>
          <a:spcPct val="9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6pPr>
      <a:lvl7pPr marL="0" marR="0" indent="0" algn="l" defTabSz="914400" rtl="0" latinLnBrk="0">
        <a:lnSpc>
          <a:spcPct val="9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7pPr>
      <a:lvl8pPr marL="0" marR="0" indent="0" algn="l" defTabSz="914400" rtl="0" latinLnBrk="0">
        <a:lnSpc>
          <a:spcPct val="9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8pPr>
      <a:lvl9pPr marL="0" marR="0" indent="0" algn="l" defTabSz="914400" rtl="0" latinLnBrk="0">
        <a:lnSpc>
          <a:spcPct val="9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9pPr>
    </p:titleStyle>
    <p:bodyStyle>
      <a:lvl1pPr marL="228600" marR="0" indent="-228600" algn="l" defTabSz="914400" rtl="0" latinLnBrk="0">
        <a:lnSpc>
          <a:spcPct val="90000"/>
        </a:lnSpc>
        <a:spcBef>
          <a:spcPts val="1000"/>
        </a:spcBef>
        <a:spcAft>
          <a:spcPts val="0"/>
        </a:spcAft>
        <a:buClrTx/>
        <a:buSzTx/>
        <a:buFontTx/>
        <a:buNone/>
        <a:tabLst/>
        <a:defRPr b="0" baseline="0" cap="none" i="0" spc="0" strike="noStrike" sz="2800" u="none">
          <a:solidFill>
            <a:srgbClr val="000000"/>
          </a:solidFill>
          <a:uFillTx/>
          <a:latin typeface="Calibri"/>
          <a:ea typeface="Calibri"/>
          <a:cs typeface="Calibri"/>
          <a:sym typeface="Calibri"/>
        </a:defRPr>
      </a:lvl1pPr>
      <a:lvl2pPr marL="228600" marR="0" indent="228600" algn="l" defTabSz="914400" rtl="0" latinLnBrk="0">
        <a:lnSpc>
          <a:spcPct val="90000"/>
        </a:lnSpc>
        <a:spcBef>
          <a:spcPts val="1000"/>
        </a:spcBef>
        <a:spcAft>
          <a:spcPts val="0"/>
        </a:spcAft>
        <a:buClrTx/>
        <a:buSzTx/>
        <a:buFontTx/>
        <a:buNone/>
        <a:tabLst/>
        <a:defRPr b="0" baseline="0" cap="none" i="0" spc="0" strike="noStrike" sz="2800" u="none">
          <a:solidFill>
            <a:srgbClr val="000000"/>
          </a:solidFill>
          <a:uFillTx/>
          <a:latin typeface="Calibri"/>
          <a:ea typeface="Calibri"/>
          <a:cs typeface="Calibri"/>
          <a:sym typeface="Calibri"/>
        </a:defRPr>
      </a:lvl2pPr>
      <a:lvl3pPr marL="228600" marR="0" indent="685800" algn="l" defTabSz="914400" rtl="0" latinLnBrk="0">
        <a:lnSpc>
          <a:spcPct val="90000"/>
        </a:lnSpc>
        <a:spcBef>
          <a:spcPts val="1000"/>
        </a:spcBef>
        <a:spcAft>
          <a:spcPts val="0"/>
        </a:spcAft>
        <a:buClrTx/>
        <a:buSzTx/>
        <a:buFontTx/>
        <a:buNone/>
        <a:tabLst/>
        <a:defRPr b="0" baseline="0" cap="none" i="0" spc="0" strike="noStrike" sz="2800" u="none">
          <a:solidFill>
            <a:srgbClr val="000000"/>
          </a:solidFill>
          <a:uFillTx/>
          <a:latin typeface="Calibri"/>
          <a:ea typeface="Calibri"/>
          <a:cs typeface="Calibri"/>
          <a:sym typeface="Calibri"/>
        </a:defRPr>
      </a:lvl3pPr>
      <a:lvl4pPr marL="228600" marR="0" indent="1143000" algn="l" defTabSz="914400" rtl="0" latinLnBrk="0">
        <a:lnSpc>
          <a:spcPct val="90000"/>
        </a:lnSpc>
        <a:spcBef>
          <a:spcPts val="1000"/>
        </a:spcBef>
        <a:spcAft>
          <a:spcPts val="0"/>
        </a:spcAft>
        <a:buClrTx/>
        <a:buSzTx/>
        <a:buFontTx/>
        <a:buNone/>
        <a:tabLst/>
        <a:defRPr b="0" baseline="0" cap="none" i="0" spc="0" strike="noStrike" sz="2800" u="none">
          <a:solidFill>
            <a:srgbClr val="000000"/>
          </a:solidFill>
          <a:uFillTx/>
          <a:latin typeface="Calibri"/>
          <a:ea typeface="Calibri"/>
          <a:cs typeface="Calibri"/>
          <a:sym typeface="Calibri"/>
        </a:defRPr>
      </a:lvl4pPr>
      <a:lvl5pPr marL="228600" marR="0" indent="1600200" algn="l" defTabSz="914400" rtl="0" latinLnBrk="0">
        <a:lnSpc>
          <a:spcPct val="90000"/>
        </a:lnSpc>
        <a:spcBef>
          <a:spcPts val="1000"/>
        </a:spcBef>
        <a:spcAft>
          <a:spcPts val="0"/>
        </a:spcAft>
        <a:buClrTx/>
        <a:buSzTx/>
        <a:buFontTx/>
        <a:buNone/>
        <a:tabLst/>
        <a:defRPr b="0" baseline="0" cap="none" i="0" spc="0" strike="noStrike" sz="2800" u="none">
          <a:solidFill>
            <a:srgbClr val="000000"/>
          </a:solidFill>
          <a:uFillTx/>
          <a:latin typeface="Calibri"/>
          <a:ea typeface="Calibri"/>
          <a:cs typeface="Calibri"/>
          <a:sym typeface="Calibri"/>
        </a:defRPr>
      </a:lvl5pPr>
      <a:lvl6pPr marL="2641600" marR="0" indent="-355600" algn="l" defTabSz="914400" rtl="0" latinLnBrk="0">
        <a:lnSpc>
          <a:spcPct val="90000"/>
        </a:lnSpc>
        <a:spcBef>
          <a:spcPts val="1000"/>
        </a:spcBef>
        <a:spcAft>
          <a:spcPts val="0"/>
        </a:spcAft>
        <a:buClrTx/>
        <a:buSzPct val="100000"/>
        <a:buFontTx/>
        <a:buChar char="•"/>
        <a:tabLst/>
        <a:defRPr b="0" baseline="0" cap="none" i="0" spc="0" strike="noStrike" sz="2800" u="none">
          <a:solidFill>
            <a:srgbClr val="000000"/>
          </a:solidFill>
          <a:uFillTx/>
          <a:latin typeface="Calibri"/>
          <a:ea typeface="Calibri"/>
          <a:cs typeface="Calibri"/>
          <a:sym typeface="Calibri"/>
        </a:defRPr>
      </a:lvl6pPr>
      <a:lvl7pPr marL="3098800" marR="0" indent="-355600" algn="l" defTabSz="914400" rtl="0" latinLnBrk="0">
        <a:lnSpc>
          <a:spcPct val="90000"/>
        </a:lnSpc>
        <a:spcBef>
          <a:spcPts val="1000"/>
        </a:spcBef>
        <a:spcAft>
          <a:spcPts val="0"/>
        </a:spcAft>
        <a:buClrTx/>
        <a:buSzPct val="100000"/>
        <a:buFontTx/>
        <a:buChar char="•"/>
        <a:tabLst/>
        <a:defRPr b="0" baseline="0" cap="none" i="0" spc="0" strike="noStrike" sz="2800" u="none">
          <a:solidFill>
            <a:srgbClr val="000000"/>
          </a:solidFill>
          <a:uFillTx/>
          <a:latin typeface="Calibri"/>
          <a:ea typeface="Calibri"/>
          <a:cs typeface="Calibri"/>
          <a:sym typeface="Calibri"/>
        </a:defRPr>
      </a:lvl7pPr>
      <a:lvl8pPr marL="3556000" marR="0" indent="-355600" algn="l" defTabSz="914400" rtl="0" latinLnBrk="0">
        <a:lnSpc>
          <a:spcPct val="90000"/>
        </a:lnSpc>
        <a:spcBef>
          <a:spcPts val="1000"/>
        </a:spcBef>
        <a:spcAft>
          <a:spcPts val="0"/>
        </a:spcAft>
        <a:buClrTx/>
        <a:buSzPct val="100000"/>
        <a:buFontTx/>
        <a:buChar char="•"/>
        <a:tabLst/>
        <a:defRPr b="0" baseline="0" cap="none" i="0" spc="0" strike="noStrike" sz="2800" u="none">
          <a:solidFill>
            <a:srgbClr val="000000"/>
          </a:solidFill>
          <a:uFillTx/>
          <a:latin typeface="Calibri"/>
          <a:ea typeface="Calibri"/>
          <a:cs typeface="Calibri"/>
          <a:sym typeface="Calibri"/>
        </a:defRPr>
      </a:lvl8pPr>
      <a:lvl9pPr marL="4013200" marR="0" indent="-355600" algn="l" defTabSz="914400" rtl="0" latinLnBrk="0">
        <a:lnSpc>
          <a:spcPct val="90000"/>
        </a:lnSpc>
        <a:spcBef>
          <a:spcPts val="1000"/>
        </a:spcBef>
        <a:spcAft>
          <a:spcPts val="0"/>
        </a:spcAft>
        <a:buClrTx/>
        <a:buSzPct val="100000"/>
        <a:buFontTx/>
        <a:buChar char="•"/>
        <a:tabLst/>
        <a:defRPr b="0" baseline="0" cap="none" i="0" spc="0" strike="noStrike" sz="2800" u="none">
          <a:solidFill>
            <a:srgbClr val="000000"/>
          </a:solidFill>
          <a:uFillTx/>
          <a:latin typeface="Calibri"/>
          <a:ea typeface="Calibri"/>
          <a:cs typeface="Calibri"/>
          <a:sym typeface="Calibri"/>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1pPr>
      <a:lvl2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2pPr>
      <a:lvl3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3pPr>
      <a:lvl4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4pPr>
      <a:lvl5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5pPr>
      <a:lvl6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6pPr>
      <a:lvl7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7pPr>
      <a:lvl8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8pPr>
      <a:lvl9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1.jpeg"/><Relationship Id="rId10" Type="http://schemas.openxmlformats.org/officeDocument/2006/relationships/image" Target="../media/image7.png"/></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8.png"/><Relationship Id="rId4" Type="http://schemas.openxmlformats.org/officeDocument/2006/relationships/image" Target="../media/image6.png"/></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9.png"/><Relationship Id="rId4" Type="http://schemas.openxmlformats.org/officeDocument/2006/relationships/image" Target="../media/image6.png"/></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6.png"/></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11.png"/></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6.png"/><Relationship Id="rId4" Type="http://schemas.openxmlformats.org/officeDocument/2006/relationships/image" Target="../media/image12.png"/></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6.png"/></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image" Target="../media/image6.png"/></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06131B"/>
        </a:solidFill>
      </p:bgPr>
    </p:bg>
    <p:spTree>
      <p:nvGrpSpPr>
        <p:cNvPr id="1" name=""/>
        <p:cNvGrpSpPr/>
        <p:nvPr/>
      </p:nvGrpSpPr>
      <p:grpSpPr>
        <a:xfrm>
          <a:off x="0" y="0"/>
          <a:ext cx="0" cy="0"/>
          <a:chOff x="0" y="0"/>
          <a:chExt cx="0" cy="0"/>
        </a:xfrm>
      </p:grpSpPr>
      <p:sp>
        <p:nvSpPr>
          <p:cNvPr id="20" name="top-accent-1"/>
          <p:cNvSpPr/>
          <p:nvPr/>
        </p:nvSpPr>
        <p:spPr>
          <a:xfrm>
            <a:off x="552450" y="209550"/>
            <a:ext cx="2514600" cy="457200"/>
          </a:xfrm>
          <a:prstGeom prst="roundRect">
            <a:avLst>
              <a:gd name="adj" fmla="val 16667"/>
            </a:avLst>
          </a:prstGeom>
          <a:gradFill>
            <a:gsLst>
              <a:gs pos="0">
                <a:srgbClr val="FFFFFF"/>
              </a:gs>
              <a:gs pos="42000">
                <a:srgbClr val="FFFFFF">
                  <a:alpha val="94000"/>
                </a:srgbClr>
              </a:gs>
              <a:gs pos="100000">
                <a:srgbClr val="FFFFFF">
                  <a:alpha val="0"/>
                </a:srgbClr>
              </a:gs>
            </a:gsLst>
          </a:gradFill>
          <a:ln w="12700">
            <a:miter lim="400000"/>
          </a:ln>
        </p:spPr>
        <p:txBody>
          <a:bodyPr lIns="0" tIns="0" rIns="0" bIns="0"/>
          <a:lstStyle/>
          <a:p>
            <a:pPr>
              <a:defRPr>
                <a:latin typeface="Calibri"/>
                <a:ea typeface="Calibri"/>
                <a:cs typeface="Calibri"/>
                <a:sym typeface="Calibri"/>
              </a:defRPr>
            </a:pPr>
          </a:p>
        </p:txBody>
      </p:sp>
      <p:sp>
        <p:nvSpPr>
          <p:cNvPr id="21" name="deck-label-1"/>
          <p:cNvSpPr txBox="1"/>
          <p:nvPr/>
        </p:nvSpPr>
        <p:spPr>
          <a:xfrm>
            <a:off x="1123950" y="304800"/>
            <a:ext cx="1714500" cy="2286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normAutofit fontScale="100000" lnSpcReduction="0"/>
          </a:bodyPr>
          <a:lstStyle>
            <a:lvl1pPr>
              <a:defRPr b="1" sz="1000">
                <a:solidFill>
                  <a:srgbClr val="2496ED"/>
                </a:solidFill>
                <a:latin typeface="Aptos Display"/>
                <a:ea typeface="Aptos Display"/>
                <a:cs typeface="Aptos Display"/>
                <a:sym typeface="Aptos Display"/>
              </a:defRPr>
            </a:lvl1pPr>
          </a:lstStyle>
          <a:p>
            <a:pPr/>
            <a:r>
              <a:t>DOCKER SANDBOX</a:t>
            </a:r>
          </a:p>
        </p:txBody>
      </p:sp>
      <p:sp>
        <p:nvSpPr>
          <p:cNvPr id="22" name="section-label-1"/>
          <p:cNvSpPr txBox="1"/>
          <p:nvPr/>
        </p:nvSpPr>
        <p:spPr>
          <a:xfrm>
            <a:off x="3105150" y="304800"/>
            <a:ext cx="4381500" cy="2286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normAutofit fontScale="100000" lnSpcReduction="0"/>
          </a:bodyPr>
          <a:lstStyle>
            <a:lvl1pPr>
              <a:defRPr b="1" sz="900">
                <a:solidFill>
                  <a:srgbClr val="8DA6B4"/>
                </a:solidFill>
                <a:latin typeface="Aptos"/>
                <a:ea typeface="Aptos"/>
                <a:cs typeface="Aptos"/>
                <a:sym typeface="Aptos"/>
              </a:defRPr>
            </a:lvl1pPr>
          </a:lstStyle>
          <a:p>
            <a:pPr/>
            <a:r>
              <a:t>WHY ISOLATION EXISTS</a:t>
            </a:r>
          </a:p>
        </p:txBody>
      </p:sp>
      <p:grpSp>
        <p:nvGrpSpPr>
          <p:cNvPr id="25" name="Photo 1"/>
          <p:cNvGrpSpPr/>
          <p:nvPr/>
        </p:nvGrpSpPr>
        <p:grpSpPr>
          <a:xfrm>
            <a:off x="430104" y="774614"/>
            <a:ext cx="5311992" cy="2127422"/>
            <a:chOff x="0" y="0"/>
            <a:chExt cx="5311991" cy="2127420"/>
          </a:xfrm>
        </p:grpSpPr>
        <p:sp>
          <p:nvSpPr>
            <p:cNvPr id="23" name="screenshot-shadow-1"/>
            <p:cNvSpPr/>
            <p:nvPr/>
          </p:nvSpPr>
          <p:spPr>
            <a:xfrm rot="21414000">
              <a:off x="46145" y="139785"/>
              <a:ext cx="5219701" cy="1847851"/>
            </a:xfrm>
            <a:prstGeom prst="rect">
              <a:avLst/>
            </a:prstGeom>
            <a:solidFill>
              <a:srgbClr val="FFFFFF"/>
            </a:solidFill>
            <a:ln w="19050" cap="flat">
              <a:solidFill>
                <a:srgbClr val="FFFFFF"/>
              </a:solidFill>
              <a:prstDash val="solid"/>
              <a:round/>
            </a:ln>
            <a:effectLst>
              <a:outerShdw sx="100000" sy="100000" kx="0" ky="0" algn="b" rotWithShape="0" blurRad="177800" dist="57150" dir="5400000">
                <a:srgbClr val="000000">
                  <a:alpha val="16000"/>
                </a:srgbClr>
              </a:outerShdw>
            </a:effectLst>
          </p:spPr>
          <p:txBody>
            <a:bodyPr wrap="square" lIns="0" tIns="0" rIns="0" bIns="0" numCol="1" anchor="t">
              <a:noAutofit/>
            </a:bodyPr>
            <a:lstStyle/>
            <a:p>
              <a:pPr>
                <a:defRPr>
                  <a:latin typeface="Calibri"/>
                  <a:ea typeface="Calibri"/>
                  <a:cs typeface="Calibri"/>
                  <a:sym typeface="Calibri"/>
                </a:defRPr>
              </a:pPr>
            </a:p>
          </p:txBody>
        </p:sp>
        <p:pic>
          <p:nvPicPr>
            <p:cNvPr id="24" name="incident-screenshot-1" descr="incident-screenshot-1"/>
            <p:cNvPicPr>
              <a:picLocks noChangeAspect="1"/>
            </p:cNvPicPr>
            <p:nvPr/>
          </p:nvPicPr>
          <p:blipFill>
            <a:blip r:embed="rId3">
              <a:extLst/>
            </a:blip>
            <a:stretch>
              <a:fillRect/>
            </a:stretch>
          </p:blipFill>
          <p:spPr>
            <a:xfrm rot="21414000">
              <a:off x="46145" y="142014"/>
              <a:ext cx="5219701" cy="1843393"/>
            </a:xfrm>
            <a:prstGeom prst="rect">
              <a:avLst/>
            </a:prstGeom>
            <a:ln w="12700" cap="flat">
              <a:noFill/>
              <a:miter lim="400000"/>
            </a:ln>
            <a:effectLst/>
          </p:spPr>
        </p:pic>
      </p:grpSp>
      <p:grpSp>
        <p:nvGrpSpPr>
          <p:cNvPr id="28" name="Photo 2"/>
          <p:cNvGrpSpPr/>
          <p:nvPr/>
        </p:nvGrpSpPr>
        <p:grpSpPr>
          <a:xfrm>
            <a:off x="3678466" y="676360"/>
            <a:ext cx="4854118" cy="1104730"/>
            <a:chOff x="0" y="0"/>
            <a:chExt cx="4854117" cy="1104728"/>
          </a:xfrm>
        </p:grpSpPr>
        <p:sp>
          <p:nvSpPr>
            <p:cNvPr id="26" name="screenshot-shadow-2"/>
            <p:cNvSpPr/>
            <p:nvPr/>
          </p:nvSpPr>
          <p:spPr>
            <a:xfrm rot="150000">
              <a:off x="17233" y="104689"/>
              <a:ext cx="4819651" cy="895351"/>
            </a:xfrm>
            <a:prstGeom prst="rect">
              <a:avLst/>
            </a:prstGeom>
            <a:solidFill>
              <a:srgbClr val="FFFFFF"/>
            </a:solidFill>
            <a:ln w="19050" cap="flat">
              <a:solidFill>
                <a:srgbClr val="FFFFFF"/>
              </a:solidFill>
              <a:prstDash val="solid"/>
              <a:round/>
            </a:ln>
            <a:effectLst>
              <a:outerShdw sx="100000" sy="100000" kx="0" ky="0" algn="b" rotWithShape="0" blurRad="177800" dist="57150" dir="5400000">
                <a:srgbClr val="000000">
                  <a:alpha val="16000"/>
                </a:srgbClr>
              </a:outerShdw>
            </a:effectLst>
          </p:spPr>
          <p:txBody>
            <a:bodyPr wrap="square" lIns="0" tIns="0" rIns="0" bIns="0" numCol="1" anchor="t">
              <a:noAutofit/>
            </a:bodyPr>
            <a:lstStyle/>
            <a:p>
              <a:pPr>
                <a:defRPr>
                  <a:latin typeface="Calibri"/>
                  <a:ea typeface="Calibri"/>
                  <a:cs typeface="Calibri"/>
                  <a:sym typeface="Calibri"/>
                </a:defRPr>
              </a:pPr>
            </a:p>
          </p:txBody>
        </p:sp>
        <p:pic>
          <p:nvPicPr>
            <p:cNvPr id="27" name="incident-screenshot-2" descr="incident-screenshot-2"/>
            <p:cNvPicPr>
              <a:picLocks noChangeAspect="1"/>
            </p:cNvPicPr>
            <p:nvPr/>
          </p:nvPicPr>
          <p:blipFill>
            <a:blip r:embed="rId4">
              <a:extLst/>
            </a:blip>
            <a:stretch>
              <a:fillRect/>
            </a:stretch>
          </p:blipFill>
          <p:spPr>
            <a:xfrm rot="150000">
              <a:off x="17233" y="104697"/>
              <a:ext cx="4819651" cy="895332"/>
            </a:xfrm>
            <a:prstGeom prst="rect">
              <a:avLst/>
            </a:prstGeom>
            <a:ln w="12700" cap="flat">
              <a:noFill/>
              <a:miter lim="400000"/>
            </a:ln>
            <a:effectLst/>
          </p:spPr>
        </p:pic>
      </p:grpSp>
      <p:grpSp>
        <p:nvGrpSpPr>
          <p:cNvPr id="31" name="Photo 3"/>
          <p:cNvGrpSpPr/>
          <p:nvPr/>
        </p:nvGrpSpPr>
        <p:grpSpPr>
          <a:xfrm>
            <a:off x="7412243" y="991727"/>
            <a:ext cx="3939765" cy="2979071"/>
            <a:chOff x="0" y="0"/>
            <a:chExt cx="3939764" cy="2979070"/>
          </a:xfrm>
        </p:grpSpPr>
        <p:sp>
          <p:nvSpPr>
            <p:cNvPr id="29" name="screenshot-shadow-3"/>
            <p:cNvSpPr/>
            <p:nvPr/>
          </p:nvSpPr>
          <p:spPr>
            <a:xfrm rot="192001">
              <a:off x="74407" y="103647"/>
              <a:ext cx="3790951" cy="2771776"/>
            </a:xfrm>
            <a:prstGeom prst="rect">
              <a:avLst/>
            </a:prstGeom>
            <a:solidFill>
              <a:srgbClr val="FFFFFF"/>
            </a:solidFill>
            <a:ln w="19050" cap="flat">
              <a:solidFill>
                <a:srgbClr val="FFFFFF"/>
              </a:solidFill>
              <a:prstDash val="solid"/>
              <a:round/>
            </a:ln>
            <a:effectLst>
              <a:outerShdw sx="100000" sy="100000" kx="0" ky="0" algn="b" rotWithShape="0" blurRad="177800" dist="57150" dir="5400000">
                <a:srgbClr val="000000">
                  <a:alpha val="16000"/>
                </a:srgbClr>
              </a:outerShdw>
            </a:effectLst>
          </p:spPr>
          <p:txBody>
            <a:bodyPr wrap="square" lIns="0" tIns="0" rIns="0" bIns="0" numCol="1" anchor="t">
              <a:noAutofit/>
            </a:bodyPr>
            <a:lstStyle/>
            <a:p>
              <a:pPr>
                <a:defRPr>
                  <a:latin typeface="Calibri"/>
                  <a:ea typeface="Calibri"/>
                  <a:cs typeface="Calibri"/>
                  <a:sym typeface="Calibri"/>
                </a:defRPr>
              </a:pPr>
            </a:p>
          </p:txBody>
        </p:sp>
        <p:pic>
          <p:nvPicPr>
            <p:cNvPr id="30" name="incident-screenshot-3" descr="incident-screenshot-3"/>
            <p:cNvPicPr>
              <a:picLocks noChangeAspect="1"/>
            </p:cNvPicPr>
            <p:nvPr/>
          </p:nvPicPr>
          <p:blipFill>
            <a:blip r:embed="rId5">
              <a:extLst/>
            </a:blip>
            <a:stretch>
              <a:fillRect/>
            </a:stretch>
          </p:blipFill>
          <p:spPr>
            <a:xfrm rot="192001">
              <a:off x="74407" y="104255"/>
              <a:ext cx="3790951" cy="2770560"/>
            </a:xfrm>
            <a:prstGeom prst="rect">
              <a:avLst/>
            </a:prstGeom>
            <a:ln w="12700" cap="flat">
              <a:noFill/>
              <a:miter lim="400000"/>
            </a:ln>
            <a:effectLst/>
          </p:spPr>
        </p:pic>
      </p:grpSp>
      <p:grpSp>
        <p:nvGrpSpPr>
          <p:cNvPr id="34" name="Photo 4"/>
          <p:cNvGrpSpPr/>
          <p:nvPr/>
        </p:nvGrpSpPr>
        <p:grpSpPr>
          <a:xfrm>
            <a:off x="1144545" y="2039392"/>
            <a:ext cx="3711660" cy="3103066"/>
            <a:chOff x="0" y="0"/>
            <a:chExt cx="3711658" cy="3103064"/>
          </a:xfrm>
        </p:grpSpPr>
        <p:sp>
          <p:nvSpPr>
            <p:cNvPr id="32" name="screenshot-shadow-4"/>
            <p:cNvSpPr/>
            <p:nvPr/>
          </p:nvSpPr>
          <p:spPr>
            <a:xfrm rot="21492001">
              <a:off x="46079" y="56107"/>
              <a:ext cx="3619501" cy="2990851"/>
            </a:xfrm>
            <a:prstGeom prst="rect">
              <a:avLst/>
            </a:prstGeom>
            <a:solidFill>
              <a:srgbClr val="FFFFFF"/>
            </a:solidFill>
            <a:ln w="19050" cap="flat">
              <a:solidFill>
                <a:srgbClr val="FFFFFF"/>
              </a:solidFill>
              <a:prstDash val="solid"/>
              <a:round/>
            </a:ln>
            <a:effectLst>
              <a:outerShdw sx="100000" sy="100000" kx="0" ky="0" algn="b" rotWithShape="0" blurRad="177800" dist="57150" dir="5400000">
                <a:srgbClr val="000000">
                  <a:alpha val="16000"/>
                </a:srgbClr>
              </a:outerShdw>
            </a:effectLst>
          </p:spPr>
          <p:txBody>
            <a:bodyPr wrap="square" lIns="0" tIns="0" rIns="0" bIns="0" numCol="1" anchor="t">
              <a:noAutofit/>
            </a:bodyPr>
            <a:lstStyle/>
            <a:p>
              <a:pPr>
                <a:defRPr>
                  <a:latin typeface="Calibri"/>
                  <a:ea typeface="Calibri"/>
                  <a:cs typeface="Calibri"/>
                  <a:sym typeface="Calibri"/>
                </a:defRPr>
              </a:pPr>
            </a:p>
          </p:txBody>
        </p:sp>
        <p:pic>
          <p:nvPicPr>
            <p:cNvPr id="33" name="incident-screenshot-4" descr="incident-screenshot-4"/>
            <p:cNvPicPr>
              <a:picLocks noChangeAspect="1"/>
            </p:cNvPicPr>
            <p:nvPr/>
          </p:nvPicPr>
          <p:blipFill>
            <a:blip r:embed="rId6">
              <a:extLst/>
            </a:blip>
            <a:stretch>
              <a:fillRect/>
            </a:stretch>
          </p:blipFill>
          <p:spPr>
            <a:xfrm rot="21492001">
              <a:off x="47694" y="56107"/>
              <a:ext cx="3616271" cy="2990851"/>
            </a:xfrm>
            <a:prstGeom prst="rect">
              <a:avLst/>
            </a:prstGeom>
            <a:ln w="12700" cap="flat">
              <a:noFill/>
              <a:miter lim="400000"/>
            </a:ln>
            <a:effectLst/>
          </p:spPr>
        </p:pic>
      </p:grpSp>
      <p:grpSp>
        <p:nvGrpSpPr>
          <p:cNvPr id="37" name="Photo 5"/>
          <p:cNvGrpSpPr/>
          <p:nvPr/>
        </p:nvGrpSpPr>
        <p:grpSpPr>
          <a:xfrm>
            <a:off x="4505551" y="3369896"/>
            <a:ext cx="4895397" cy="1718408"/>
            <a:chOff x="0" y="0"/>
            <a:chExt cx="4895396" cy="1718407"/>
          </a:xfrm>
        </p:grpSpPr>
        <p:sp>
          <p:nvSpPr>
            <p:cNvPr id="35" name="screenshot-shadow-5"/>
            <p:cNvSpPr/>
            <p:nvPr/>
          </p:nvSpPr>
          <p:spPr>
            <a:xfrm rot="84000">
              <a:off x="18823" y="59103"/>
              <a:ext cx="4857751" cy="1600201"/>
            </a:xfrm>
            <a:prstGeom prst="rect">
              <a:avLst/>
            </a:prstGeom>
            <a:solidFill>
              <a:srgbClr val="FFFFFF"/>
            </a:solidFill>
            <a:ln w="19050" cap="flat">
              <a:solidFill>
                <a:srgbClr val="FFFFFF"/>
              </a:solidFill>
              <a:prstDash val="solid"/>
              <a:round/>
            </a:ln>
            <a:effectLst>
              <a:outerShdw sx="100000" sy="100000" kx="0" ky="0" algn="b" rotWithShape="0" blurRad="177800" dist="57150" dir="5400000">
                <a:srgbClr val="000000">
                  <a:alpha val="16000"/>
                </a:srgbClr>
              </a:outerShdw>
            </a:effectLst>
          </p:spPr>
          <p:txBody>
            <a:bodyPr wrap="square" lIns="0" tIns="0" rIns="0" bIns="0" numCol="1" anchor="t">
              <a:noAutofit/>
            </a:bodyPr>
            <a:lstStyle/>
            <a:p>
              <a:pPr>
                <a:defRPr>
                  <a:latin typeface="Calibri"/>
                  <a:ea typeface="Calibri"/>
                  <a:cs typeface="Calibri"/>
                  <a:sym typeface="Calibri"/>
                </a:defRPr>
              </a:pPr>
            </a:p>
          </p:txBody>
        </p:sp>
        <p:pic>
          <p:nvPicPr>
            <p:cNvPr id="36" name="incident-screenshot-5" descr="incident-screenshot-5"/>
            <p:cNvPicPr>
              <a:picLocks noChangeAspect="1"/>
            </p:cNvPicPr>
            <p:nvPr/>
          </p:nvPicPr>
          <p:blipFill>
            <a:blip r:embed="rId7">
              <a:extLst/>
            </a:blip>
            <a:stretch>
              <a:fillRect/>
            </a:stretch>
          </p:blipFill>
          <p:spPr>
            <a:xfrm rot="84000">
              <a:off x="22904" y="59103"/>
              <a:ext cx="4849590" cy="1600201"/>
            </a:xfrm>
            <a:prstGeom prst="rect">
              <a:avLst/>
            </a:prstGeom>
            <a:ln w="12700" cap="flat">
              <a:noFill/>
              <a:miter lim="400000"/>
            </a:ln>
            <a:effectLst/>
          </p:spPr>
        </p:pic>
      </p:grpSp>
      <p:sp>
        <p:nvSpPr>
          <p:cNvPr id="38" name="statement-accent"/>
          <p:cNvSpPr/>
          <p:nvPr/>
        </p:nvSpPr>
        <p:spPr>
          <a:xfrm>
            <a:off x="552450" y="5381625"/>
            <a:ext cx="66675" cy="971550"/>
          </a:xfrm>
          <a:prstGeom prst="rect">
            <a:avLst/>
          </a:prstGeom>
          <a:solidFill>
            <a:srgbClr val="FF6B35"/>
          </a:solidFill>
          <a:ln w="12700">
            <a:miter lim="400000"/>
          </a:ln>
        </p:spPr>
        <p:txBody>
          <a:bodyPr lIns="0" tIns="0" rIns="0" bIns="0"/>
          <a:lstStyle/>
          <a:p>
            <a:pPr>
              <a:defRPr>
                <a:latin typeface="Calibri"/>
                <a:ea typeface="Calibri"/>
                <a:cs typeface="Calibri"/>
                <a:sym typeface="Calibri"/>
              </a:defRPr>
            </a:pPr>
          </a:p>
        </p:txBody>
      </p:sp>
      <p:sp>
        <p:nvSpPr>
          <p:cNvPr id="39" name="opening-statement"/>
          <p:cNvSpPr txBox="1"/>
          <p:nvPr/>
        </p:nvSpPr>
        <p:spPr>
          <a:xfrm>
            <a:off x="819150" y="5276850"/>
            <a:ext cx="10820400" cy="1181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normAutofit fontScale="100000" lnSpcReduction="0"/>
          </a:bodyPr>
          <a:lstStyle/>
          <a:p>
            <a:pPr>
              <a:defRPr b="1" sz="3600">
                <a:solidFill>
                  <a:srgbClr val="F4F8FA"/>
                </a:solidFill>
                <a:latin typeface="Aptos Display"/>
                <a:ea typeface="Aptos Display"/>
                <a:cs typeface="Aptos Display"/>
                <a:sym typeface="Aptos Display"/>
              </a:defRPr>
            </a:pPr>
            <a:r>
              <a:t>AI agents should never be left unattended</a:t>
            </a:r>
          </a:p>
          <a:p>
            <a:pPr>
              <a:defRPr b="1" sz="3600">
                <a:solidFill>
                  <a:srgbClr val="F4F8FA"/>
                </a:solidFill>
                <a:latin typeface="Aptos Display"/>
                <a:ea typeface="Aptos Display"/>
                <a:cs typeface="Aptos Display"/>
                <a:sym typeface="Aptos Display"/>
              </a:defRPr>
            </a:pPr>
            <a:r>
              <a:t>without </a:t>
            </a:r>
            <a:r>
              <a:rPr>
                <a:solidFill>
                  <a:srgbClr val="FF6B35"/>
                </a:solidFill>
              </a:rPr>
              <a:t>a sandbox</a:t>
            </a:r>
          </a:p>
        </p:txBody>
      </p:sp>
      <p:pic>
        <p:nvPicPr>
          <p:cNvPr id="40" name="docker-mark-1" descr="docker-mark-1"/>
          <p:cNvPicPr>
            <a:picLocks noChangeAspect="1"/>
          </p:cNvPicPr>
          <p:nvPr/>
        </p:nvPicPr>
        <p:blipFill>
          <a:blip r:embed="rId8">
            <a:extLst/>
          </a:blip>
          <a:stretch>
            <a:fillRect/>
          </a:stretch>
        </p:blipFill>
        <p:spPr>
          <a:xfrm>
            <a:off x="654684" y="257175"/>
            <a:ext cx="386083" cy="304800"/>
          </a:xfrm>
          <a:prstGeom prst="rect">
            <a:avLst/>
          </a:prstGeom>
          <a:ln w="12700">
            <a:miter lim="400000"/>
          </a:ln>
        </p:spPr>
      </p:pic>
      <p:pic>
        <p:nvPicPr>
          <p:cNvPr id="41" name="Yuval Avidani post supplied by user" descr="Yuval Avidani post supplied by user"/>
          <p:cNvPicPr>
            <a:picLocks noChangeAspect="1"/>
          </p:cNvPicPr>
          <p:nvPr/>
        </p:nvPicPr>
        <p:blipFill>
          <a:blip r:embed="rId9">
            <a:extLst/>
          </a:blip>
          <a:srcRect l="0" t="4375" r="0" b="51249"/>
          <a:stretch>
            <a:fillRect/>
          </a:stretch>
        </p:blipFill>
        <p:spPr>
          <a:xfrm rot="180000">
            <a:off x="6477000" y="1104900"/>
            <a:ext cx="3810001" cy="3667126"/>
          </a:xfrm>
          <a:prstGeom prst="rect">
            <a:avLst/>
          </a:prstGeom>
          <a:ln w="12700">
            <a:solidFill>
              <a:srgbClr val="FFFFFF"/>
            </a:solidFill>
          </a:ln>
        </p:spPr>
      </p:pic>
      <p:pic>
        <p:nvPicPr>
          <p:cNvPr id="42" name="BBC News headline about the Hugging Face breach" descr="BBC News headline about the Hugging Face breach"/>
          <p:cNvPicPr>
            <a:picLocks noChangeAspect="1"/>
          </p:cNvPicPr>
          <p:nvPr/>
        </p:nvPicPr>
        <p:blipFill>
          <a:blip r:embed="rId10">
            <a:extLst/>
          </a:blip>
          <a:stretch>
            <a:fillRect/>
          </a:stretch>
        </p:blipFill>
        <p:spPr>
          <a:xfrm rot="21480000">
            <a:off x="3238500" y="1524000"/>
            <a:ext cx="7048500" cy="3171825"/>
          </a:xfrm>
          <a:prstGeom prst="rect">
            <a:avLst/>
          </a:prstGeom>
          <a:ln w="12700">
            <a:solidFill>
              <a:srgbClr val="FFFFFF"/>
            </a:solidFill>
          </a:ln>
        </p:spPr>
      </p:pic>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ID="10" grpId="1" fill="hold">
                                  <p:stCondLst>
                                    <p:cond delay="0"/>
                                  </p:stCondLst>
                                  <p:iterate type="el" backwards="0">
                                    <p:tmAbs val="0"/>
                                  </p:iterate>
                                  <p:childTnLst>
                                    <p:set>
                                      <p:cBhvr>
                                        <p:cTn id="6" fill="hold"/>
                                        <p:tgtEl>
                                          <p:spTgt spid="25"/>
                                        </p:tgtEl>
                                        <p:attrNameLst>
                                          <p:attrName>style.visibility</p:attrName>
                                        </p:attrNameLst>
                                      </p:cBhvr>
                                      <p:to>
                                        <p:strVal val="visible"/>
                                      </p:to>
                                    </p:set>
                                    <p:animEffect filter="fade" transition="in">
                                      <p:cBhvr>
                                        <p:cTn id="7" dur="5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Class="entr" nodeType="clickEffect" presetID="10" grpId="2" fill="hold">
                                  <p:stCondLst>
                                    <p:cond delay="0"/>
                                  </p:stCondLst>
                                  <p:iterate type="el" backwards="0">
                                    <p:tmAbs val="0"/>
                                  </p:iterate>
                                  <p:childTnLst>
                                    <p:set>
                                      <p:cBhvr>
                                        <p:cTn id="11" fill="hold"/>
                                        <p:tgtEl>
                                          <p:spTgt spid="28"/>
                                        </p:tgtEl>
                                        <p:attrNameLst>
                                          <p:attrName>style.visibility</p:attrName>
                                        </p:attrNameLst>
                                      </p:cBhvr>
                                      <p:to>
                                        <p:strVal val="visible"/>
                                      </p:to>
                                    </p:set>
                                    <p:animEffect filter="fade" transition="in">
                                      <p:cBhvr>
                                        <p:cTn id="12" dur="5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Class="entr" nodeType="clickEffect" presetID="10" grpId="3" fill="hold">
                                  <p:stCondLst>
                                    <p:cond delay="0"/>
                                  </p:stCondLst>
                                  <p:iterate type="el" backwards="0">
                                    <p:tmAbs val="0"/>
                                  </p:iterate>
                                  <p:childTnLst>
                                    <p:set>
                                      <p:cBhvr>
                                        <p:cTn id="16" fill="hold"/>
                                        <p:tgtEl>
                                          <p:spTgt spid="31"/>
                                        </p:tgtEl>
                                        <p:attrNameLst>
                                          <p:attrName>style.visibility</p:attrName>
                                        </p:attrNameLst>
                                      </p:cBhvr>
                                      <p:to>
                                        <p:strVal val="visible"/>
                                      </p:to>
                                    </p:set>
                                    <p:animEffect filter="fade" transition="in">
                                      <p:cBhvr>
                                        <p:cTn id="17" dur="5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Class="entr" nodeType="clickEffect" presetID="10" grpId="4" fill="hold">
                                  <p:stCondLst>
                                    <p:cond delay="0"/>
                                  </p:stCondLst>
                                  <p:iterate type="el" backwards="0">
                                    <p:tmAbs val="0"/>
                                  </p:iterate>
                                  <p:childTnLst>
                                    <p:set>
                                      <p:cBhvr>
                                        <p:cTn id="21" fill="hold"/>
                                        <p:tgtEl>
                                          <p:spTgt spid="34"/>
                                        </p:tgtEl>
                                        <p:attrNameLst>
                                          <p:attrName>style.visibility</p:attrName>
                                        </p:attrNameLst>
                                      </p:cBhvr>
                                      <p:to>
                                        <p:strVal val="visible"/>
                                      </p:to>
                                    </p:set>
                                    <p:animEffect filter="fade" transition="in">
                                      <p:cBhvr>
                                        <p:cTn id="22" dur="5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Class="entr" nodeType="clickEffect" presetID="10" grpId="5" fill="hold">
                                  <p:stCondLst>
                                    <p:cond delay="0"/>
                                  </p:stCondLst>
                                  <p:iterate type="el" backwards="0">
                                    <p:tmAbs val="0"/>
                                  </p:iterate>
                                  <p:childTnLst>
                                    <p:set>
                                      <p:cBhvr>
                                        <p:cTn id="26" fill="hold"/>
                                        <p:tgtEl>
                                          <p:spTgt spid="37"/>
                                        </p:tgtEl>
                                        <p:attrNameLst>
                                          <p:attrName>style.visibility</p:attrName>
                                        </p:attrNameLst>
                                      </p:cBhvr>
                                      <p:to>
                                        <p:strVal val="visible"/>
                                      </p:to>
                                    </p:set>
                                    <p:animEffect filter="fade" transition="in">
                                      <p:cBhvr>
                                        <p:cTn id="27" dur="500"/>
                                        <p:tgtEl>
                                          <p:spTgt spid="37"/>
                                        </p:tgtEl>
                                      </p:cBhvr>
                                    </p:animEffect>
                                  </p:childTnLst>
                                </p:cTn>
                              </p:par>
                            </p:childTnLst>
                          </p:cTn>
                        </p:par>
                      </p:childTnLst>
                    </p:cTn>
                  </p:par>
                  <p:par>
                    <p:cTn id="28" fill="hold">
                      <p:stCondLst>
                        <p:cond delay="indefinite"/>
                      </p:stCondLst>
                      <p:childTnLst>
                        <p:par>
                          <p:cTn id="29" fill="hold">
                            <p:stCondLst>
                              <p:cond delay="0"/>
                            </p:stCondLst>
                            <p:childTnLst>
                              <p:par>
                                <p:cTn id="30" presetClass="entr" nodeType="clickEffect" presetID="10" grpId="6" fill="hold">
                                  <p:stCondLst>
                                    <p:cond delay="0"/>
                                  </p:stCondLst>
                                  <p:iterate type="el" backwards="0">
                                    <p:tmAbs val="0"/>
                                  </p:iterate>
                                  <p:childTnLst>
                                    <p:set>
                                      <p:cBhvr>
                                        <p:cTn id="31" fill="hold"/>
                                        <p:tgtEl>
                                          <p:spTgt spid="41"/>
                                        </p:tgtEl>
                                        <p:attrNameLst>
                                          <p:attrName>style.visibility</p:attrName>
                                        </p:attrNameLst>
                                      </p:cBhvr>
                                      <p:to>
                                        <p:strVal val="visible"/>
                                      </p:to>
                                    </p:set>
                                    <p:animEffect filter="fade" transition="in">
                                      <p:cBhvr>
                                        <p:cTn id="32" dur="500"/>
                                        <p:tgtEl>
                                          <p:spTgt spid="41"/>
                                        </p:tgtEl>
                                      </p:cBhvr>
                                    </p:animEffect>
                                  </p:childTnLst>
                                </p:cTn>
                              </p:par>
                            </p:childTnLst>
                          </p:cTn>
                        </p:par>
                      </p:childTnLst>
                    </p:cTn>
                  </p:par>
                  <p:par>
                    <p:cTn id="33" fill="hold">
                      <p:stCondLst>
                        <p:cond delay="indefinite"/>
                      </p:stCondLst>
                      <p:childTnLst>
                        <p:par>
                          <p:cTn id="34" fill="hold">
                            <p:stCondLst>
                              <p:cond delay="0"/>
                            </p:stCondLst>
                            <p:childTnLst>
                              <p:par>
                                <p:cTn id="35" presetClass="entr" nodeType="clickEffect" presetID="10" grpId="7" fill="hold">
                                  <p:stCondLst>
                                    <p:cond delay="0"/>
                                  </p:stCondLst>
                                  <p:iterate type="el" backwards="0">
                                    <p:tmAbs val="0"/>
                                  </p:iterate>
                                  <p:childTnLst>
                                    <p:set>
                                      <p:cBhvr>
                                        <p:cTn id="36" fill="hold"/>
                                        <p:tgtEl>
                                          <p:spTgt spid="42"/>
                                        </p:tgtEl>
                                        <p:attrNameLst>
                                          <p:attrName>style.visibility</p:attrName>
                                        </p:attrNameLst>
                                      </p:cBhvr>
                                      <p:to>
                                        <p:strVal val="visible"/>
                                      </p:to>
                                    </p:set>
                                    <p:animEffect filter="fade" transition="in">
                                      <p:cBhvr>
                                        <p:cTn id="37" dur="500"/>
                                        <p:tgtEl>
                                          <p:spTgt spid="4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31" grpId="3"/>
      <p:bldP build="whole" bldLvl="1" animBg="1" rev="0" advAuto="0" spid="37" grpId="5"/>
      <p:bldP build="whole" bldLvl="1" animBg="1" rev="0" advAuto="0" spid="41" grpId="6"/>
      <p:bldP build="whole" bldLvl="1" animBg="1" rev="0" advAuto="0" spid="34" grpId="4"/>
      <p:bldP build="whole" bldLvl="1" animBg="1" rev="0" advAuto="0" spid="42" grpId="7"/>
      <p:bldP build="whole" bldLvl="1" animBg="1" rev="0" advAuto="0" spid="25" grpId="1"/>
      <p:bldP build="whole" bldLvl="1" animBg="1" rev="0" advAuto="0" spid="28" grpId="2"/>
    </p:bldLst>
  </p:timing>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06131B"/>
        </a:solidFill>
      </p:bgPr>
    </p:bg>
    <p:spTree>
      <p:nvGrpSpPr>
        <p:cNvPr id="1" name=""/>
        <p:cNvGrpSpPr/>
        <p:nvPr/>
      </p:nvGrpSpPr>
      <p:grpSpPr>
        <a:xfrm>
          <a:off x="0" y="0"/>
          <a:ext cx="0" cy="0"/>
          <a:chOff x="0" y="0"/>
          <a:chExt cx="0" cy="0"/>
        </a:xfrm>
      </p:grpSpPr>
      <p:sp>
        <p:nvSpPr>
          <p:cNvPr id="46" name="template-title"/>
          <p:cNvSpPr txBox="1"/>
          <p:nvPr/>
        </p:nvSpPr>
        <p:spPr>
          <a:xfrm>
            <a:off x="552450" y="819150"/>
            <a:ext cx="11087100" cy="7239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normAutofit fontScale="100000" lnSpcReduction="0"/>
          </a:bodyPr>
          <a:lstStyle>
            <a:lvl1pPr>
              <a:lnSpc>
                <a:spcPct val="95000"/>
              </a:lnSpc>
              <a:defRPr b="1" sz="3100">
                <a:solidFill>
                  <a:srgbClr val="F7FBFD"/>
                </a:solidFill>
                <a:latin typeface="Aptos Display"/>
                <a:ea typeface="Aptos Display"/>
                <a:cs typeface="Aptos Display"/>
                <a:sym typeface="Aptos Display"/>
              </a:defRPr>
            </a:lvl1pPr>
          </a:lstStyle>
          <a:p>
            <a:pPr/>
            <a:r>
              <a:t>Unrestricted permissions / YOLO mode on your host</a:t>
            </a:r>
          </a:p>
        </p:txBody>
      </p:sp>
      <p:sp>
        <p:nvSpPr>
          <p:cNvPr id="47" name="section-label-2"/>
          <p:cNvSpPr txBox="1"/>
          <p:nvPr/>
        </p:nvSpPr>
        <p:spPr>
          <a:xfrm>
            <a:off x="3284218" y="295275"/>
            <a:ext cx="5242565" cy="2311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900">
                <a:solidFill>
                  <a:srgbClr val="91A7B1"/>
                </a:solidFill>
                <a:latin typeface="Aptos"/>
                <a:ea typeface="Aptos"/>
                <a:cs typeface="Aptos"/>
                <a:sym typeface="Aptos"/>
              </a:defRPr>
            </a:lvl1pPr>
          </a:lstStyle>
          <a:p>
            <a:pPr/>
            <a:r>
              <a:t>COMMON SANDBOXING APPROACHES</a:t>
            </a:r>
          </a:p>
        </p:txBody>
      </p:sp>
      <p:sp>
        <p:nvSpPr>
          <p:cNvPr id="48" name="Rounded Rectangle 13"/>
          <p:cNvSpPr/>
          <p:nvPr/>
        </p:nvSpPr>
        <p:spPr>
          <a:xfrm>
            <a:off x="619125" y="1800225"/>
            <a:ext cx="10953750" cy="1143000"/>
          </a:xfrm>
          <a:prstGeom prst="roundRect">
            <a:avLst>
              <a:gd name="adj" fmla="val 6667"/>
            </a:avLst>
          </a:prstGeom>
          <a:ln>
            <a:solidFill>
              <a:srgbClr val="2496ED"/>
            </a:solidFill>
          </a:ln>
        </p:spPr>
        <p:txBody>
          <a:bodyPr lIns="0" tIns="0" rIns="0" bIns="0"/>
          <a:lstStyle/>
          <a:p>
            <a:pPr>
              <a:defRPr>
                <a:latin typeface="Calibri"/>
                <a:ea typeface="Calibri"/>
                <a:cs typeface="Calibri"/>
                <a:sym typeface="Calibri"/>
              </a:defRPr>
            </a:pPr>
          </a:p>
        </p:txBody>
      </p:sp>
      <p:pic>
        <p:nvPicPr>
          <p:cNvPr id="49" name="full-permissions-screenshot" descr="full-permissions-screenshot"/>
          <p:cNvPicPr>
            <a:picLocks noChangeAspect="1"/>
          </p:cNvPicPr>
          <p:nvPr/>
        </p:nvPicPr>
        <p:blipFill>
          <a:blip r:embed="rId3">
            <a:extLst/>
          </a:blip>
          <a:stretch>
            <a:fillRect/>
          </a:stretch>
        </p:blipFill>
        <p:spPr>
          <a:xfrm>
            <a:off x="709101" y="1885950"/>
            <a:ext cx="10773797" cy="971550"/>
          </a:xfrm>
          <a:prstGeom prst="rect">
            <a:avLst/>
          </a:prstGeom>
          <a:ln w="12700">
            <a:miter lim="400000"/>
          </a:ln>
        </p:spPr>
      </p:pic>
      <p:sp>
        <p:nvSpPr>
          <p:cNvPr id="50" name="danger-callout"/>
          <p:cNvSpPr/>
          <p:nvPr/>
        </p:nvSpPr>
        <p:spPr>
          <a:xfrm>
            <a:off x="552450" y="3333750"/>
            <a:ext cx="11087100" cy="1809750"/>
          </a:xfrm>
          <a:prstGeom prst="roundRect">
            <a:avLst>
              <a:gd name="adj" fmla="val 8421"/>
            </a:avLst>
          </a:prstGeom>
          <a:ln w="19050">
            <a:solidFill>
              <a:srgbClr val="FF6C2F"/>
            </a:solidFill>
          </a:ln>
        </p:spPr>
        <p:txBody>
          <a:bodyPr lIns="0" tIns="0" rIns="0" bIns="0"/>
          <a:lstStyle/>
          <a:p>
            <a:pPr>
              <a:defRPr>
                <a:latin typeface="Calibri"/>
                <a:ea typeface="Calibri"/>
                <a:cs typeface="Calibri"/>
                <a:sym typeface="Calibri"/>
              </a:defRPr>
            </a:pPr>
          </a:p>
        </p:txBody>
      </p:sp>
      <p:sp>
        <p:nvSpPr>
          <p:cNvPr id="51" name="danger-heading"/>
          <p:cNvSpPr txBox="1"/>
          <p:nvPr/>
        </p:nvSpPr>
        <p:spPr>
          <a:xfrm>
            <a:off x="922017" y="3638551"/>
            <a:ext cx="3337566" cy="4978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700">
                <a:solidFill>
                  <a:srgbClr val="FF6C2F"/>
                </a:solidFill>
                <a:latin typeface="Aptos"/>
                <a:ea typeface="Aptos"/>
                <a:cs typeface="Aptos"/>
                <a:sym typeface="Aptos"/>
              </a:defRPr>
            </a:lvl1pPr>
          </a:lstStyle>
          <a:p>
            <a:pPr/>
            <a:r>
              <a:t>NEVER. EVER.</a:t>
            </a:r>
          </a:p>
        </p:txBody>
      </p:sp>
      <p:sp>
        <p:nvSpPr>
          <p:cNvPr id="52" name="danger-copy"/>
          <p:cNvSpPr txBox="1"/>
          <p:nvPr/>
        </p:nvSpPr>
        <p:spPr>
          <a:xfrm>
            <a:off x="922017" y="4248151"/>
            <a:ext cx="9624066" cy="3962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2000">
                <a:solidFill>
                  <a:srgbClr val="F7FBFD"/>
                </a:solidFill>
                <a:latin typeface="Aptos"/>
                <a:ea typeface="Aptos"/>
                <a:cs typeface="Aptos"/>
                <a:sym typeface="Aptos"/>
              </a:defRPr>
            </a:lvl1pPr>
          </a:lstStyle>
          <a:p>
            <a:pPr/>
            <a:r>
              <a:t>Unless you want to play with fire.</a:t>
            </a:r>
          </a:p>
        </p:txBody>
      </p:sp>
      <p:sp>
        <p:nvSpPr>
          <p:cNvPr id="53" name="top-accent-1"/>
          <p:cNvSpPr/>
          <p:nvPr/>
        </p:nvSpPr>
        <p:spPr>
          <a:xfrm>
            <a:off x="552450" y="209550"/>
            <a:ext cx="2514600" cy="457200"/>
          </a:xfrm>
          <a:prstGeom prst="roundRect">
            <a:avLst>
              <a:gd name="adj" fmla="val 16667"/>
            </a:avLst>
          </a:prstGeom>
          <a:gradFill>
            <a:gsLst>
              <a:gs pos="0">
                <a:srgbClr val="FFFFFF"/>
              </a:gs>
              <a:gs pos="42000">
                <a:srgbClr val="FFFFFF">
                  <a:alpha val="94000"/>
                </a:srgbClr>
              </a:gs>
              <a:gs pos="100000">
                <a:srgbClr val="FFFFFF">
                  <a:alpha val="0"/>
                </a:srgbClr>
              </a:gs>
            </a:gsLst>
          </a:gradFill>
          <a:ln w="12700">
            <a:miter lim="400000"/>
          </a:ln>
        </p:spPr>
        <p:txBody>
          <a:bodyPr lIns="0" tIns="0" rIns="0" bIns="0"/>
          <a:lstStyle/>
          <a:p>
            <a:pPr>
              <a:defRPr>
                <a:latin typeface="Calibri"/>
                <a:ea typeface="Calibri"/>
                <a:cs typeface="Calibri"/>
                <a:sym typeface="Calibri"/>
              </a:defRPr>
            </a:pPr>
          </a:p>
        </p:txBody>
      </p:sp>
      <p:sp>
        <p:nvSpPr>
          <p:cNvPr id="54" name="deck-label-1"/>
          <p:cNvSpPr txBox="1"/>
          <p:nvPr/>
        </p:nvSpPr>
        <p:spPr>
          <a:xfrm>
            <a:off x="1123950" y="304800"/>
            <a:ext cx="1714500" cy="2286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normAutofit fontScale="100000" lnSpcReduction="0"/>
          </a:bodyPr>
          <a:lstStyle>
            <a:lvl1pPr>
              <a:defRPr b="1" sz="1000">
                <a:solidFill>
                  <a:srgbClr val="2496ED"/>
                </a:solidFill>
                <a:latin typeface="Aptos Display"/>
                <a:ea typeface="Aptos Display"/>
                <a:cs typeface="Aptos Display"/>
                <a:sym typeface="Aptos Display"/>
              </a:defRPr>
            </a:lvl1pPr>
          </a:lstStyle>
          <a:p>
            <a:pPr/>
            <a:r>
              <a:t>DOCKER SANDBOX</a:t>
            </a:r>
          </a:p>
        </p:txBody>
      </p:sp>
      <p:pic>
        <p:nvPicPr>
          <p:cNvPr id="55" name="docker-mark-1" descr="docker-mark-1"/>
          <p:cNvPicPr>
            <a:picLocks noChangeAspect="1"/>
          </p:cNvPicPr>
          <p:nvPr/>
        </p:nvPicPr>
        <p:blipFill>
          <a:blip r:embed="rId4">
            <a:extLst/>
          </a:blip>
          <a:stretch>
            <a:fillRect/>
          </a:stretch>
        </p:blipFill>
        <p:spPr>
          <a:xfrm>
            <a:off x="654684" y="257175"/>
            <a:ext cx="386083" cy="304800"/>
          </a:xfrm>
          <a:prstGeom prst="rect">
            <a:avLst/>
          </a:prstGeom>
          <a:ln w="12700">
            <a:miter lim="400000"/>
          </a:ln>
        </p:spPr>
      </p:pic>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06131B"/>
        </a:solidFill>
      </p:bgPr>
    </p:bg>
    <p:spTree>
      <p:nvGrpSpPr>
        <p:cNvPr id="1" name=""/>
        <p:cNvGrpSpPr/>
        <p:nvPr/>
      </p:nvGrpSpPr>
      <p:grpSpPr>
        <a:xfrm>
          <a:off x="0" y="0"/>
          <a:ext cx="0" cy="0"/>
          <a:chOff x="0" y="0"/>
          <a:chExt cx="0" cy="0"/>
        </a:xfrm>
      </p:grpSpPr>
      <p:sp>
        <p:nvSpPr>
          <p:cNvPr id="59" name="template-title"/>
          <p:cNvSpPr txBox="1"/>
          <p:nvPr/>
        </p:nvSpPr>
        <p:spPr>
          <a:xfrm>
            <a:off x="552450" y="819150"/>
            <a:ext cx="11087100" cy="7239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normAutofit fontScale="100000" lnSpcReduction="0"/>
          </a:bodyPr>
          <a:lstStyle>
            <a:lvl1pPr>
              <a:lnSpc>
                <a:spcPct val="95000"/>
              </a:lnSpc>
              <a:defRPr b="1" sz="3400">
                <a:solidFill>
                  <a:srgbClr val="F7FBFD"/>
                </a:solidFill>
                <a:latin typeface="Aptos Display"/>
                <a:ea typeface="Aptos Display"/>
                <a:cs typeface="Aptos Display"/>
                <a:sym typeface="Aptos Display"/>
              </a:defRPr>
            </a:lvl1pPr>
          </a:lstStyle>
          <a:p>
            <a:pPr/>
            <a:r>
              <a:t>Manually approving every tool run</a:t>
            </a:r>
          </a:p>
        </p:txBody>
      </p:sp>
      <p:sp>
        <p:nvSpPr>
          <p:cNvPr id="60" name="section-label-2"/>
          <p:cNvSpPr txBox="1"/>
          <p:nvPr/>
        </p:nvSpPr>
        <p:spPr>
          <a:xfrm>
            <a:off x="3284218" y="295275"/>
            <a:ext cx="5242565" cy="2311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900">
                <a:solidFill>
                  <a:srgbClr val="91A7B1"/>
                </a:solidFill>
                <a:latin typeface="Aptos"/>
                <a:ea typeface="Aptos"/>
                <a:cs typeface="Aptos"/>
                <a:sym typeface="Aptos"/>
              </a:defRPr>
            </a:lvl1pPr>
          </a:lstStyle>
          <a:p>
            <a:pPr/>
            <a:r>
              <a:t>COMMON SANDBOXING APPROACHES</a:t>
            </a:r>
          </a:p>
        </p:txBody>
      </p:sp>
      <p:sp>
        <p:nvSpPr>
          <p:cNvPr id="61" name="manual-approval-bullets"/>
          <p:cNvSpPr txBox="1"/>
          <p:nvPr/>
        </p:nvSpPr>
        <p:spPr>
          <a:xfrm>
            <a:off x="598167" y="1952625"/>
            <a:ext cx="5242566" cy="17551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marL="23" indent="-16">
              <a:spcBef>
                <a:spcPts val="1500"/>
              </a:spcBef>
              <a:buSzPct val="100000"/>
              <a:buChar char="•"/>
              <a:defRPr sz="2400">
                <a:solidFill>
                  <a:srgbClr val="F7FBFD"/>
                </a:solidFill>
                <a:latin typeface="Aptos"/>
                <a:ea typeface="Aptos"/>
                <a:cs typeface="Aptos"/>
                <a:sym typeface="Aptos"/>
              </a:defRPr>
            </a:pPr>
            <a:r>
              <a:t> No agent autonomy; every step requires constant babysitting.</a:t>
            </a:r>
          </a:p>
          <a:p>
            <a:pPr marL="23" indent="-16">
              <a:spcBef>
                <a:spcPts val="1500"/>
              </a:spcBef>
              <a:buSzPct val="100000"/>
              <a:buChar char="•"/>
              <a:defRPr sz="2400">
                <a:solidFill>
                  <a:srgbClr val="F7FBFD"/>
                </a:solidFill>
                <a:latin typeface="Aptos"/>
                <a:ea typeface="Aptos"/>
                <a:cs typeface="Aptos"/>
                <a:sym typeface="Aptos"/>
              </a:defRPr>
            </a:pPr>
            <a:r>
              <a:t> Humans cannot reliably identify every subtle or multi-step attacks.</a:t>
            </a:r>
          </a:p>
        </p:txBody>
      </p:sp>
      <p:sp>
        <p:nvSpPr>
          <p:cNvPr id="62" name="Rounded Rectangle 14"/>
          <p:cNvSpPr/>
          <p:nvPr/>
        </p:nvSpPr>
        <p:spPr>
          <a:xfrm>
            <a:off x="6534150" y="1762125"/>
            <a:ext cx="5038725" cy="2838450"/>
          </a:xfrm>
          <a:prstGeom prst="roundRect">
            <a:avLst>
              <a:gd name="adj" fmla="val 2685"/>
            </a:avLst>
          </a:prstGeom>
          <a:ln>
            <a:solidFill>
              <a:srgbClr val="2496ED"/>
            </a:solidFill>
          </a:ln>
        </p:spPr>
        <p:txBody>
          <a:bodyPr lIns="0" tIns="0" rIns="0" bIns="0"/>
          <a:lstStyle/>
          <a:p>
            <a:pPr>
              <a:defRPr>
                <a:latin typeface="Calibri"/>
                <a:ea typeface="Calibri"/>
                <a:cs typeface="Calibri"/>
                <a:sym typeface="Calibri"/>
              </a:defRPr>
            </a:pPr>
          </a:p>
        </p:txBody>
      </p:sp>
      <p:pic>
        <p:nvPicPr>
          <p:cNvPr id="63" name="manual-permissions-screenshot" descr="manual-permissions-screenshot"/>
          <p:cNvPicPr>
            <a:picLocks noChangeAspect="1"/>
          </p:cNvPicPr>
          <p:nvPr/>
        </p:nvPicPr>
        <p:blipFill>
          <a:blip r:embed="rId3">
            <a:extLst/>
          </a:blip>
          <a:srcRect l="0" t="0" r="0" b="5"/>
          <a:stretch>
            <a:fillRect/>
          </a:stretch>
        </p:blipFill>
        <p:spPr>
          <a:xfrm>
            <a:off x="6619875" y="1850343"/>
            <a:ext cx="4867275" cy="2661842"/>
          </a:xfrm>
          <a:prstGeom prst="rect">
            <a:avLst/>
          </a:prstGeom>
          <a:ln w="12700">
            <a:miter lim="400000"/>
          </a:ln>
        </p:spPr>
      </p:pic>
      <p:sp>
        <p:nvSpPr>
          <p:cNvPr id="64" name="top-accent-1"/>
          <p:cNvSpPr/>
          <p:nvPr/>
        </p:nvSpPr>
        <p:spPr>
          <a:xfrm>
            <a:off x="552450" y="209550"/>
            <a:ext cx="2514600" cy="457200"/>
          </a:xfrm>
          <a:prstGeom prst="roundRect">
            <a:avLst>
              <a:gd name="adj" fmla="val 16667"/>
            </a:avLst>
          </a:prstGeom>
          <a:gradFill>
            <a:gsLst>
              <a:gs pos="0">
                <a:srgbClr val="FFFFFF"/>
              </a:gs>
              <a:gs pos="42000">
                <a:srgbClr val="FFFFFF">
                  <a:alpha val="94000"/>
                </a:srgbClr>
              </a:gs>
              <a:gs pos="100000">
                <a:srgbClr val="FFFFFF">
                  <a:alpha val="0"/>
                </a:srgbClr>
              </a:gs>
            </a:gsLst>
          </a:gradFill>
          <a:ln w="12700">
            <a:miter lim="400000"/>
          </a:ln>
        </p:spPr>
        <p:txBody>
          <a:bodyPr lIns="0" tIns="0" rIns="0" bIns="0"/>
          <a:lstStyle/>
          <a:p>
            <a:pPr>
              <a:defRPr>
                <a:latin typeface="Calibri"/>
                <a:ea typeface="Calibri"/>
                <a:cs typeface="Calibri"/>
                <a:sym typeface="Calibri"/>
              </a:defRPr>
            </a:pPr>
          </a:p>
        </p:txBody>
      </p:sp>
      <p:sp>
        <p:nvSpPr>
          <p:cNvPr id="65" name="deck-label-1"/>
          <p:cNvSpPr txBox="1"/>
          <p:nvPr/>
        </p:nvSpPr>
        <p:spPr>
          <a:xfrm>
            <a:off x="1123950" y="304800"/>
            <a:ext cx="1714500" cy="2286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normAutofit fontScale="100000" lnSpcReduction="0"/>
          </a:bodyPr>
          <a:lstStyle>
            <a:lvl1pPr>
              <a:defRPr b="1" sz="1000">
                <a:solidFill>
                  <a:srgbClr val="2496ED"/>
                </a:solidFill>
                <a:latin typeface="Aptos Display"/>
                <a:ea typeface="Aptos Display"/>
                <a:cs typeface="Aptos Display"/>
                <a:sym typeface="Aptos Display"/>
              </a:defRPr>
            </a:lvl1pPr>
          </a:lstStyle>
          <a:p>
            <a:pPr/>
            <a:r>
              <a:t>DOCKER SANDBOX</a:t>
            </a:r>
          </a:p>
        </p:txBody>
      </p:sp>
      <p:pic>
        <p:nvPicPr>
          <p:cNvPr id="66" name="docker-mark-1" descr="docker-mark-1"/>
          <p:cNvPicPr>
            <a:picLocks noChangeAspect="1"/>
          </p:cNvPicPr>
          <p:nvPr/>
        </p:nvPicPr>
        <p:blipFill>
          <a:blip r:embed="rId4">
            <a:extLst/>
          </a:blip>
          <a:stretch>
            <a:fillRect/>
          </a:stretch>
        </p:blipFill>
        <p:spPr>
          <a:xfrm>
            <a:off x="654684" y="257175"/>
            <a:ext cx="386083" cy="304800"/>
          </a:xfrm>
          <a:prstGeom prst="rect">
            <a:avLst/>
          </a:prstGeom>
          <a:ln w="12700">
            <a:miter lim="400000"/>
          </a:ln>
        </p:spPr>
      </p:pic>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06131B"/>
        </a:solidFill>
      </p:bgPr>
    </p:bg>
    <p:spTree>
      <p:nvGrpSpPr>
        <p:cNvPr id="1" name=""/>
        <p:cNvGrpSpPr/>
        <p:nvPr/>
      </p:nvGrpSpPr>
      <p:grpSpPr>
        <a:xfrm>
          <a:off x="0" y="0"/>
          <a:ext cx="0" cy="0"/>
          <a:chOff x="0" y="0"/>
          <a:chExt cx="0" cy="0"/>
        </a:xfrm>
      </p:grpSpPr>
      <p:sp>
        <p:nvSpPr>
          <p:cNvPr id="70" name="template-title"/>
          <p:cNvSpPr txBox="1"/>
          <p:nvPr/>
        </p:nvSpPr>
        <p:spPr>
          <a:xfrm>
            <a:off x="552450" y="819150"/>
            <a:ext cx="11087100" cy="7239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normAutofit fontScale="100000" lnSpcReduction="0"/>
          </a:bodyPr>
          <a:lstStyle>
            <a:lvl1pPr>
              <a:lnSpc>
                <a:spcPct val="95000"/>
              </a:lnSpc>
              <a:defRPr b="1" sz="3400">
                <a:solidFill>
                  <a:srgbClr val="F7FBFD"/>
                </a:solidFill>
                <a:latin typeface="Aptos Display"/>
                <a:ea typeface="Aptos Display"/>
                <a:cs typeface="Aptos Display"/>
                <a:sym typeface="Aptos Display"/>
              </a:defRPr>
            </a:lvl1pPr>
          </a:lstStyle>
          <a:p>
            <a:pPr/>
            <a:r>
              <a:t>Auto mode / classifiers</a:t>
            </a:r>
          </a:p>
        </p:txBody>
      </p:sp>
      <p:sp>
        <p:nvSpPr>
          <p:cNvPr id="71" name="section-label-2"/>
          <p:cNvSpPr txBox="1"/>
          <p:nvPr/>
        </p:nvSpPr>
        <p:spPr>
          <a:xfrm>
            <a:off x="3284218" y="295275"/>
            <a:ext cx="5242565" cy="2311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900">
                <a:solidFill>
                  <a:srgbClr val="91A7B1"/>
                </a:solidFill>
                <a:latin typeface="Aptos"/>
                <a:ea typeface="Aptos"/>
                <a:cs typeface="Aptos"/>
                <a:sym typeface="Aptos"/>
              </a:defRPr>
            </a:lvl1pPr>
          </a:lstStyle>
          <a:p>
            <a:pPr/>
            <a:r>
              <a:t>COMMON SANDBOXING APPROACHES</a:t>
            </a:r>
          </a:p>
        </p:txBody>
      </p:sp>
      <p:sp>
        <p:nvSpPr>
          <p:cNvPr id="72" name="Rounded Rectangle 13"/>
          <p:cNvSpPr/>
          <p:nvPr/>
        </p:nvSpPr>
        <p:spPr>
          <a:xfrm>
            <a:off x="619125" y="1676400"/>
            <a:ext cx="10953750" cy="1162050"/>
          </a:xfrm>
          <a:prstGeom prst="roundRect">
            <a:avLst>
              <a:gd name="adj" fmla="val 6557"/>
            </a:avLst>
          </a:prstGeom>
          <a:ln>
            <a:solidFill>
              <a:srgbClr val="2496ED"/>
            </a:solidFill>
          </a:ln>
        </p:spPr>
        <p:txBody>
          <a:bodyPr lIns="0" tIns="0" rIns="0" bIns="0"/>
          <a:lstStyle/>
          <a:p>
            <a:pPr>
              <a:defRPr>
                <a:latin typeface="Calibri"/>
                <a:ea typeface="Calibri"/>
                <a:cs typeface="Calibri"/>
                <a:sym typeface="Calibri"/>
              </a:defRPr>
            </a:pPr>
          </a:p>
        </p:txBody>
      </p:sp>
      <p:pic>
        <p:nvPicPr>
          <p:cNvPr id="73" name="auto-mode-screenshot" descr="auto-mode-screenshot"/>
          <p:cNvPicPr>
            <a:picLocks noChangeAspect="1"/>
          </p:cNvPicPr>
          <p:nvPr/>
        </p:nvPicPr>
        <p:blipFill>
          <a:blip r:embed="rId3">
            <a:extLst/>
          </a:blip>
          <a:stretch>
            <a:fillRect/>
          </a:stretch>
        </p:blipFill>
        <p:spPr>
          <a:xfrm>
            <a:off x="705124" y="1762125"/>
            <a:ext cx="10781751" cy="990600"/>
          </a:xfrm>
          <a:prstGeom prst="rect">
            <a:avLst/>
          </a:prstGeom>
          <a:ln w="12700">
            <a:miter lim="400000"/>
          </a:ln>
        </p:spPr>
      </p:pic>
      <p:sp>
        <p:nvSpPr>
          <p:cNvPr id="74" name="classifier-bullets"/>
          <p:cNvSpPr txBox="1"/>
          <p:nvPr/>
        </p:nvSpPr>
        <p:spPr>
          <a:xfrm>
            <a:off x="598167" y="3190875"/>
            <a:ext cx="10995666" cy="21361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marL="457209" indent="-457200">
              <a:spcBef>
                <a:spcPts val="1500"/>
              </a:spcBef>
              <a:buSzPct val="100000"/>
              <a:buFont typeface="Arial"/>
              <a:buChar char="•"/>
              <a:defRPr sz="2400">
                <a:solidFill>
                  <a:srgbClr val="F7FBFD"/>
                </a:solidFill>
                <a:latin typeface="Aptos"/>
                <a:ea typeface="Aptos"/>
                <a:cs typeface="Aptos"/>
                <a:sym typeface="Aptos"/>
              </a:defRPr>
            </a:pPr>
            <a:r>
              <a:t>Anthropic recommends </a:t>
            </a:r>
            <a:r>
              <a:rPr>
                <a:solidFill>
                  <a:srgbClr val="FFFF00"/>
                </a:solidFill>
              </a:rPr>
              <a:t>auto mode </a:t>
            </a:r>
            <a:r>
              <a:t>as a safer middle ground</a:t>
            </a:r>
            <a:endParaRPr sz="1500"/>
          </a:p>
          <a:p>
            <a:pPr marL="457209" indent="-457200">
              <a:spcBef>
                <a:spcPts val="1500"/>
              </a:spcBef>
              <a:buSzPct val="100000"/>
              <a:buFont typeface="Arial"/>
              <a:buChar char="•"/>
              <a:defRPr sz="2400">
                <a:solidFill>
                  <a:srgbClr val="F7FBFD"/>
                </a:solidFill>
                <a:latin typeface="Aptos"/>
                <a:ea typeface="Aptos"/>
                <a:cs typeface="Aptos"/>
                <a:sym typeface="Aptos"/>
              </a:defRPr>
            </a:pPr>
            <a:r>
              <a:t>Adds model processing, latency, and sometimes reasoning tokens cost</a:t>
            </a:r>
            <a:endParaRPr sz="1500"/>
          </a:p>
          <a:p>
            <a:pPr marL="457209" indent="-457200">
              <a:spcBef>
                <a:spcPts val="1500"/>
              </a:spcBef>
              <a:buSzPct val="100000"/>
              <a:buFont typeface="Arial"/>
              <a:buChar char="•"/>
              <a:defRPr sz="2400">
                <a:solidFill>
                  <a:srgbClr val="F7FBFD"/>
                </a:solidFill>
                <a:latin typeface="Aptos"/>
                <a:ea typeface="Aptos"/>
                <a:cs typeface="Aptos"/>
                <a:sym typeface="Aptos"/>
              </a:defRPr>
            </a:pPr>
            <a:r>
              <a:t>Classifiers can identify false-positives and block legitimate work</a:t>
            </a:r>
            <a:endParaRPr sz="1500"/>
          </a:p>
          <a:p>
            <a:pPr marL="457209" indent="-457200">
              <a:spcBef>
                <a:spcPts val="1500"/>
              </a:spcBef>
              <a:buSzPct val="100000"/>
              <a:buFont typeface="Arial"/>
              <a:buChar char="•"/>
              <a:defRPr sz="2400">
                <a:solidFill>
                  <a:srgbClr val="F7FBFD"/>
                </a:solidFill>
                <a:latin typeface="Aptos"/>
                <a:ea typeface="Aptos"/>
                <a:cs typeface="Aptos"/>
                <a:sym typeface="Aptos"/>
              </a:defRPr>
            </a:pPr>
            <a:r>
              <a:t>Sophisticated attacks are not guaranteed to be caught</a:t>
            </a:r>
          </a:p>
        </p:txBody>
      </p:sp>
      <p:sp>
        <p:nvSpPr>
          <p:cNvPr id="75" name="top-accent-1"/>
          <p:cNvSpPr/>
          <p:nvPr/>
        </p:nvSpPr>
        <p:spPr>
          <a:xfrm>
            <a:off x="552450" y="209550"/>
            <a:ext cx="2514600" cy="457200"/>
          </a:xfrm>
          <a:prstGeom prst="roundRect">
            <a:avLst>
              <a:gd name="adj" fmla="val 16667"/>
            </a:avLst>
          </a:prstGeom>
          <a:gradFill>
            <a:gsLst>
              <a:gs pos="0">
                <a:srgbClr val="FFFFFF"/>
              </a:gs>
              <a:gs pos="42000">
                <a:srgbClr val="FFFFFF">
                  <a:alpha val="94000"/>
                </a:srgbClr>
              </a:gs>
              <a:gs pos="100000">
                <a:srgbClr val="FFFFFF">
                  <a:alpha val="0"/>
                </a:srgbClr>
              </a:gs>
            </a:gsLst>
          </a:gradFill>
          <a:ln w="12700">
            <a:miter lim="400000"/>
          </a:ln>
        </p:spPr>
        <p:txBody>
          <a:bodyPr lIns="0" tIns="0" rIns="0" bIns="0"/>
          <a:lstStyle/>
          <a:p>
            <a:pPr>
              <a:defRPr>
                <a:latin typeface="Calibri"/>
                <a:ea typeface="Calibri"/>
                <a:cs typeface="Calibri"/>
                <a:sym typeface="Calibri"/>
              </a:defRPr>
            </a:pPr>
          </a:p>
        </p:txBody>
      </p:sp>
      <p:sp>
        <p:nvSpPr>
          <p:cNvPr id="76" name="deck-label-1"/>
          <p:cNvSpPr txBox="1"/>
          <p:nvPr/>
        </p:nvSpPr>
        <p:spPr>
          <a:xfrm>
            <a:off x="1123950" y="304800"/>
            <a:ext cx="1714500" cy="2286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normAutofit fontScale="100000" lnSpcReduction="0"/>
          </a:bodyPr>
          <a:lstStyle>
            <a:lvl1pPr>
              <a:defRPr b="1" sz="1000">
                <a:solidFill>
                  <a:srgbClr val="2496ED"/>
                </a:solidFill>
                <a:latin typeface="Aptos Display"/>
                <a:ea typeface="Aptos Display"/>
                <a:cs typeface="Aptos Display"/>
                <a:sym typeface="Aptos Display"/>
              </a:defRPr>
            </a:lvl1pPr>
          </a:lstStyle>
          <a:p>
            <a:pPr/>
            <a:r>
              <a:t>DOCKER SANDBOX</a:t>
            </a:r>
          </a:p>
        </p:txBody>
      </p:sp>
      <p:pic>
        <p:nvPicPr>
          <p:cNvPr id="77" name="docker-mark-1" descr="docker-mark-1"/>
          <p:cNvPicPr>
            <a:picLocks noChangeAspect="1"/>
          </p:cNvPicPr>
          <p:nvPr/>
        </p:nvPicPr>
        <p:blipFill>
          <a:blip r:embed="rId4">
            <a:extLst/>
          </a:blip>
          <a:stretch>
            <a:fillRect/>
          </a:stretch>
        </p:blipFill>
        <p:spPr>
          <a:xfrm>
            <a:off x="654684" y="257175"/>
            <a:ext cx="386083" cy="304800"/>
          </a:xfrm>
          <a:prstGeom prst="rect">
            <a:avLst/>
          </a:prstGeom>
          <a:ln w="12700">
            <a:miter lim="400000"/>
          </a:ln>
        </p:spPr>
      </p:pic>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06131B"/>
        </a:solidFill>
      </p:bgPr>
    </p:bg>
    <p:spTree>
      <p:nvGrpSpPr>
        <p:cNvPr id="1" name=""/>
        <p:cNvGrpSpPr/>
        <p:nvPr/>
      </p:nvGrpSpPr>
      <p:grpSpPr>
        <a:xfrm>
          <a:off x="0" y="0"/>
          <a:ext cx="0" cy="0"/>
          <a:chOff x="0" y="0"/>
          <a:chExt cx="0" cy="0"/>
        </a:xfrm>
      </p:grpSpPr>
      <p:sp>
        <p:nvSpPr>
          <p:cNvPr id="81" name="template-title"/>
          <p:cNvSpPr txBox="1"/>
          <p:nvPr/>
        </p:nvSpPr>
        <p:spPr>
          <a:xfrm>
            <a:off x="552450" y="819150"/>
            <a:ext cx="11087100" cy="7239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normAutofit fontScale="100000" lnSpcReduction="0"/>
          </a:bodyPr>
          <a:lstStyle>
            <a:lvl1pPr>
              <a:lnSpc>
                <a:spcPct val="95000"/>
              </a:lnSpc>
              <a:defRPr b="1" sz="3000">
                <a:solidFill>
                  <a:srgbClr val="F7FBFD"/>
                </a:solidFill>
                <a:latin typeface="Aptos Display"/>
                <a:ea typeface="Aptos Display"/>
                <a:cs typeface="Aptos Display"/>
                <a:sym typeface="Aptos Display"/>
              </a:defRPr>
            </a:lvl1pPr>
          </a:lstStyle>
          <a:p>
            <a:pPr/>
            <a:r>
              <a:t>Harness-based sandboxing (Seatbelt / Bubblewrap)</a:t>
            </a:r>
          </a:p>
        </p:txBody>
      </p:sp>
      <p:sp>
        <p:nvSpPr>
          <p:cNvPr id="82" name="section-label-2"/>
          <p:cNvSpPr txBox="1"/>
          <p:nvPr/>
        </p:nvSpPr>
        <p:spPr>
          <a:xfrm>
            <a:off x="3284218" y="295275"/>
            <a:ext cx="5242565" cy="2311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900">
                <a:solidFill>
                  <a:srgbClr val="91A7B1"/>
                </a:solidFill>
                <a:latin typeface="Aptos"/>
                <a:ea typeface="Aptos"/>
                <a:cs typeface="Aptos"/>
                <a:sym typeface="Aptos"/>
              </a:defRPr>
            </a:lvl1pPr>
          </a:lstStyle>
          <a:p>
            <a:pPr/>
            <a:r>
              <a:t>COMMON SANDBOXING APPROACHES</a:t>
            </a:r>
          </a:p>
        </p:txBody>
      </p:sp>
      <p:sp>
        <p:nvSpPr>
          <p:cNvPr id="83" name="harness-bullets"/>
          <p:cNvSpPr txBox="1"/>
          <p:nvPr/>
        </p:nvSpPr>
        <p:spPr>
          <a:xfrm>
            <a:off x="598168" y="1857375"/>
            <a:ext cx="6537963" cy="34188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marL="285760" indent="-285750">
              <a:spcBef>
                <a:spcPts val="1500"/>
              </a:spcBef>
              <a:buSzPct val="100000"/>
              <a:buFont typeface="Arial"/>
              <a:buChar char="•"/>
              <a:defRPr sz="2400">
                <a:solidFill>
                  <a:srgbClr val="F7FBFD"/>
                </a:solidFill>
                <a:latin typeface="Aptos"/>
                <a:ea typeface="Aptos"/>
                <a:cs typeface="Aptos"/>
                <a:sym typeface="Aptos"/>
              </a:defRPr>
            </a:pPr>
            <a:r>
              <a:t>OS-level filesystem and network boundaries block many dangerous actions.</a:t>
            </a:r>
            <a:endParaRPr sz="1600"/>
          </a:p>
          <a:p>
            <a:pPr marL="285760" indent="-285750">
              <a:spcBef>
                <a:spcPts val="1500"/>
              </a:spcBef>
              <a:buSzPct val="100000"/>
              <a:buFont typeface="Arial"/>
              <a:buChar char="•"/>
              <a:defRPr sz="2400">
                <a:solidFill>
                  <a:srgbClr val="F7FBFD"/>
                </a:solidFill>
                <a:latin typeface="Aptos"/>
                <a:ea typeface="Aptos"/>
                <a:cs typeface="Aptos"/>
                <a:sym typeface="Aptos"/>
              </a:defRPr>
            </a:pPr>
            <a:r>
              <a:t>It can break useful tasks that need access beyond the project workspace – needs manual approval</a:t>
            </a:r>
          </a:p>
          <a:p>
            <a:pPr marL="285760" indent="-285750">
              <a:spcBef>
                <a:spcPts val="1500"/>
              </a:spcBef>
              <a:buSzPct val="100000"/>
              <a:buFont typeface="Arial"/>
              <a:buChar char="•"/>
              <a:defRPr sz="2400">
                <a:solidFill>
                  <a:srgbClr val="F7FBFD"/>
                </a:solidFill>
                <a:latin typeface="Aptos"/>
                <a:ea typeface="Aptos"/>
                <a:cs typeface="Aptos"/>
                <a:sym typeface="Aptos"/>
              </a:defRPr>
            </a:pPr>
            <a:r>
              <a:t>You can’t let Claude / other agents manage their own configuration without allowing them to turn off their own sandbox</a:t>
            </a:r>
          </a:p>
        </p:txBody>
      </p:sp>
      <p:sp>
        <p:nvSpPr>
          <p:cNvPr id="84" name="top-accent-1"/>
          <p:cNvSpPr/>
          <p:nvPr/>
        </p:nvSpPr>
        <p:spPr>
          <a:xfrm>
            <a:off x="552450" y="209550"/>
            <a:ext cx="2514600" cy="457200"/>
          </a:xfrm>
          <a:prstGeom prst="roundRect">
            <a:avLst>
              <a:gd name="adj" fmla="val 16667"/>
            </a:avLst>
          </a:prstGeom>
          <a:gradFill>
            <a:gsLst>
              <a:gs pos="0">
                <a:srgbClr val="FFFFFF"/>
              </a:gs>
              <a:gs pos="42000">
                <a:srgbClr val="FFFFFF">
                  <a:alpha val="94000"/>
                </a:srgbClr>
              </a:gs>
              <a:gs pos="100000">
                <a:srgbClr val="FFFFFF">
                  <a:alpha val="0"/>
                </a:srgbClr>
              </a:gs>
            </a:gsLst>
          </a:gradFill>
          <a:ln w="12700">
            <a:miter lim="400000"/>
          </a:ln>
        </p:spPr>
        <p:txBody>
          <a:bodyPr lIns="0" tIns="0" rIns="0" bIns="0"/>
          <a:lstStyle/>
          <a:p>
            <a:pPr>
              <a:defRPr>
                <a:latin typeface="Calibri"/>
                <a:ea typeface="Calibri"/>
                <a:cs typeface="Calibri"/>
                <a:sym typeface="Calibri"/>
              </a:defRPr>
            </a:pPr>
          </a:p>
        </p:txBody>
      </p:sp>
      <p:sp>
        <p:nvSpPr>
          <p:cNvPr id="85" name="deck-label-1"/>
          <p:cNvSpPr txBox="1"/>
          <p:nvPr/>
        </p:nvSpPr>
        <p:spPr>
          <a:xfrm>
            <a:off x="1123950" y="304800"/>
            <a:ext cx="1714500" cy="2286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normAutofit fontScale="100000" lnSpcReduction="0"/>
          </a:bodyPr>
          <a:lstStyle>
            <a:lvl1pPr>
              <a:defRPr b="1" sz="1000">
                <a:solidFill>
                  <a:srgbClr val="2496ED"/>
                </a:solidFill>
                <a:latin typeface="Aptos Display"/>
                <a:ea typeface="Aptos Display"/>
                <a:cs typeface="Aptos Display"/>
                <a:sym typeface="Aptos Display"/>
              </a:defRPr>
            </a:lvl1pPr>
          </a:lstStyle>
          <a:p>
            <a:pPr/>
            <a:r>
              <a:t>DOCKER SANDBOX</a:t>
            </a:r>
          </a:p>
        </p:txBody>
      </p:sp>
      <p:pic>
        <p:nvPicPr>
          <p:cNvPr id="86" name="docker-mark-1" descr="docker-mark-1"/>
          <p:cNvPicPr>
            <a:picLocks noChangeAspect="1"/>
          </p:cNvPicPr>
          <p:nvPr/>
        </p:nvPicPr>
        <p:blipFill>
          <a:blip r:embed="rId3">
            <a:extLst/>
          </a:blip>
          <a:stretch>
            <a:fillRect/>
          </a:stretch>
        </p:blipFill>
        <p:spPr>
          <a:xfrm>
            <a:off x="654684" y="257175"/>
            <a:ext cx="386083" cy="304800"/>
          </a:xfrm>
          <a:prstGeom prst="rect">
            <a:avLst/>
          </a:prstGeom>
          <a:ln w="12700">
            <a:miter lim="400000"/>
          </a:ln>
        </p:spPr>
      </p:pic>
      <p:pic>
        <p:nvPicPr>
          <p:cNvPr id="87" name="Picture 6" descr="Picture 6"/>
          <p:cNvPicPr>
            <a:picLocks noChangeAspect="1"/>
          </p:cNvPicPr>
          <p:nvPr/>
        </p:nvPicPr>
        <p:blipFill>
          <a:blip r:embed="rId4">
            <a:extLst/>
          </a:blip>
          <a:stretch>
            <a:fillRect/>
          </a:stretch>
        </p:blipFill>
        <p:spPr>
          <a:xfrm>
            <a:off x="8160263" y="1913576"/>
            <a:ext cx="3479287" cy="3312475"/>
          </a:xfrm>
          <a:prstGeom prst="rect">
            <a:avLst/>
          </a:prstGeom>
          <a:ln w="12700">
            <a:miter lim="400000"/>
          </a:ln>
        </p:spPr>
      </p:pic>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06131B"/>
        </a:solidFill>
      </p:bgPr>
    </p:bg>
    <p:spTree>
      <p:nvGrpSpPr>
        <p:cNvPr id="1" name=""/>
        <p:cNvGrpSpPr/>
        <p:nvPr/>
      </p:nvGrpSpPr>
      <p:grpSpPr>
        <a:xfrm>
          <a:off x="0" y="0"/>
          <a:ext cx="0" cy="0"/>
          <a:chOff x="0" y="0"/>
          <a:chExt cx="0" cy="0"/>
        </a:xfrm>
      </p:grpSpPr>
      <p:sp>
        <p:nvSpPr>
          <p:cNvPr id="91" name="template-title"/>
          <p:cNvSpPr txBox="1"/>
          <p:nvPr/>
        </p:nvSpPr>
        <p:spPr>
          <a:xfrm>
            <a:off x="552450" y="819150"/>
            <a:ext cx="11087100" cy="7239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normAutofit fontScale="100000" lnSpcReduction="0"/>
          </a:bodyPr>
          <a:lstStyle>
            <a:lvl1pPr>
              <a:lnSpc>
                <a:spcPct val="95000"/>
              </a:lnSpc>
              <a:defRPr b="1" sz="3300">
                <a:solidFill>
                  <a:srgbClr val="F7FBFD"/>
                </a:solidFill>
                <a:latin typeface="Aptos Display"/>
                <a:ea typeface="Aptos Display"/>
                <a:cs typeface="Aptos Display"/>
                <a:sym typeface="Aptos Display"/>
              </a:defRPr>
            </a:lvl1pPr>
          </a:lstStyle>
          <a:p>
            <a:pPr/>
            <a:r>
              <a:t>Containers: Docker, Dev Containers, etc.</a:t>
            </a:r>
          </a:p>
        </p:txBody>
      </p:sp>
      <p:sp>
        <p:nvSpPr>
          <p:cNvPr id="92" name="section-label-2"/>
          <p:cNvSpPr txBox="1"/>
          <p:nvPr/>
        </p:nvSpPr>
        <p:spPr>
          <a:xfrm>
            <a:off x="3284218" y="295275"/>
            <a:ext cx="5242565" cy="2311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900">
                <a:solidFill>
                  <a:srgbClr val="91A7B1"/>
                </a:solidFill>
                <a:latin typeface="Aptos"/>
                <a:ea typeface="Aptos"/>
                <a:cs typeface="Aptos"/>
                <a:sym typeface="Aptos"/>
              </a:defRPr>
            </a:lvl1pPr>
          </a:lstStyle>
          <a:p>
            <a:pPr/>
            <a:r>
              <a:t>COMMON SANDBOXING APPROACHES</a:t>
            </a:r>
          </a:p>
        </p:txBody>
      </p:sp>
      <p:sp>
        <p:nvSpPr>
          <p:cNvPr id="93" name="container-bullets"/>
          <p:cNvSpPr txBox="1"/>
          <p:nvPr/>
        </p:nvSpPr>
        <p:spPr>
          <a:xfrm>
            <a:off x="598168" y="1857375"/>
            <a:ext cx="7242813" cy="30505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marL="342910" indent="-342900">
              <a:spcBef>
                <a:spcPts val="1500"/>
              </a:spcBef>
              <a:buSzPct val="100000"/>
              <a:buFont typeface="Arial"/>
              <a:buChar char="•"/>
              <a:defRPr sz="2400">
                <a:solidFill>
                  <a:srgbClr val="F7FBFD"/>
                </a:solidFill>
                <a:latin typeface="Aptos"/>
                <a:ea typeface="Aptos"/>
                <a:cs typeface="Aptos"/>
                <a:sym typeface="Aptos"/>
              </a:defRPr>
            </a:pPr>
            <a:r>
              <a:t>Better isolation: the agent sees a bounded environment instead of the host.</a:t>
            </a:r>
            <a:endParaRPr sz="1600"/>
          </a:p>
          <a:p>
            <a:pPr marL="342910" indent="-342900">
              <a:spcBef>
                <a:spcPts val="1500"/>
              </a:spcBef>
              <a:buSzPct val="100000"/>
              <a:buFont typeface="Arial"/>
              <a:buChar char="•"/>
              <a:defRPr sz="2400">
                <a:solidFill>
                  <a:srgbClr val="F7FBFD"/>
                </a:solidFill>
                <a:latin typeface="Aptos"/>
                <a:ea typeface="Aptos"/>
                <a:cs typeface="Aptos"/>
                <a:sym typeface="Aptos"/>
              </a:defRPr>
            </a:pPr>
            <a:r>
              <a:t>Portability and reproducibility - the problem containers and dev containers were built to solve.</a:t>
            </a:r>
            <a:endParaRPr sz="1600"/>
          </a:p>
          <a:p>
            <a:pPr marL="342910" indent="-342900">
              <a:spcBef>
                <a:spcPts val="1500"/>
              </a:spcBef>
              <a:buSzPct val="100000"/>
              <a:buFont typeface="Arial"/>
              <a:buChar char="•"/>
              <a:defRPr sz="2400">
                <a:solidFill>
                  <a:srgbClr val="F7FBFD"/>
                </a:solidFill>
                <a:latin typeface="Aptos"/>
                <a:ea typeface="Aptos"/>
                <a:cs typeface="Aptos"/>
                <a:sym typeface="Aptos"/>
              </a:defRPr>
            </a:pPr>
            <a:r>
              <a:t>A container is not a hardened VM boundary by default; shared-kernel escapes and risky socket mounts remain known failure classes.</a:t>
            </a:r>
          </a:p>
        </p:txBody>
      </p:sp>
      <p:sp>
        <p:nvSpPr>
          <p:cNvPr id="94" name="container-logo-panel"/>
          <p:cNvSpPr/>
          <p:nvPr/>
        </p:nvSpPr>
        <p:spPr>
          <a:xfrm>
            <a:off x="8477250" y="1809750"/>
            <a:ext cx="3162300" cy="3333750"/>
          </a:xfrm>
          <a:prstGeom prst="roundRect">
            <a:avLst>
              <a:gd name="adj" fmla="val 4819"/>
            </a:avLst>
          </a:prstGeom>
          <a:solidFill>
            <a:srgbClr val="0D2632"/>
          </a:solidFill>
          <a:ln>
            <a:solidFill>
              <a:srgbClr val="5F7782"/>
            </a:solidFill>
          </a:ln>
        </p:spPr>
        <p:txBody>
          <a:bodyPr lIns="0" tIns="0" rIns="0" bIns="0"/>
          <a:lstStyle/>
          <a:p>
            <a:pPr>
              <a:defRPr>
                <a:latin typeface="Calibri"/>
                <a:ea typeface="Calibri"/>
                <a:cs typeface="Calibri"/>
                <a:sym typeface="Calibri"/>
              </a:defRPr>
            </a:pPr>
          </a:p>
        </p:txBody>
      </p:sp>
      <p:pic>
        <p:nvPicPr>
          <p:cNvPr id="95" name="docker-mark-large" descr="docker-mark-large"/>
          <p:cNvPicPr>
            <a:picLocks noChangeAspect="1"/>
          </p:cNvPicPr>
          <p:nvPr/>
        </p:nvPicPr>
        <p:blipFill>
          <a:blip r:embed="rId3">
            <a:extLst/>
          </a:blip>
          <a:stretch>
            <a:fillRect/>
          </a:stretch>
        </p:blipFill>
        <p:spPr>
          <a:xfrm>
            <a:off x="9274175" y="2190750"/>
            <a:ext cx="1568450" cy="1238250"/>
          </a:xfrm>
          <a:prstGeom prst="rect">
            <a:avLst/>
          </a:prstGeom>
          <a:ln w="12700">
            <a:miter lim="400000"/>
          </a:ln>
        </p:spPr>
      </p:pic>
      <p:sp>
        <p:nvSpPr>
          <p:cNvPr id="96" name="Rectangle 16"/>
          <p:cNvSpPr txBox="1"/>
          <p:nvPr/>
        </p:nvSpPr>
        <p:spPr>
          <a:xfrm>
            <a:off x="9875518" y="3448051"/>
            <a:ext cx="365764" cy="421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200">
                <a:solidFill>
                  <a:srgbClr val="91A7B1"/>
                </a:solidFill>
                <a:latin typeface="Aptos"/>
                <a:ea typeface="Aptos"/>
                <a:cs typeface="Aptos"/>
                <a:sym typeface="Aptos"/>
              </a:defRPr>
            </a:lvl1pPr>
          </a:lstStyle>
          <a:p>
            <a:pPr/>
            <a:r>
              <a:t>+</a:t>
            </a:r>
          </a:p>
        </p:txBody>
      </p:sp>
      <p:pic>
        <p:nvPicPr>
          <p:cNvPr id="97" name="devcontainers-logo" descr="devcontainers-logo"/>
          <p:cNvPicPr>
            <a:picLocks noChangeAspect="1"/>
          </p:cNvPicPr>
          <p:nvPr/>
        </p:nvPicPr>
        <p:blipFill>
          <a:blip r:embed="rId4">
            <a:extLst/>
          </a:blip>
          <a:stretch>
            <a:fillRect/>
          </a:stretch>
        </p:blipFill>
        <p:spPr>
          <a:xfrm>
            <a:off x="9572625" y="3905250"/>
            <a:ext cx="971550" cy="971550"/>
          </a:xfrm>
          <a:prstGeom prst="rect">
            <a:avLst/>
          </a:prstGeom>
          <a:ln w="12700">
            <a:miter lim="400000"/>
          </a:ln>
        </p:spPr>
      </p:pic>
      <p:sp>
        <p:nvSpPr>
          <p:cNvPr id="98" name="top-accent-1"/>
          <p:cNvSpPr/>
          <p:nvPr/>
        </p:nvSpPr>
        <p:spPr>
          <a:xfrm>
            <a:off x="552450" y="209550"/>
            <a:ext cx="2514600" cy="457200"/>
          </a:xfrm>
          <a:prstGeom prst="roundRect">
            <a:avLst>
              <a:gd name="adj" fmla="val 16667"/>
            </a:avLst>
          </a:prstGeom>
          <a:gradFill>
            <a:gsLst>
              <a:gs pos="0">
                <a:srgbClr val="FFFFFF"/>
              </a:gs>
              <a:gs pos="42000">
                <a:srgbClr val="FFFFFF">
                  <a:alpha val="94000"/>
                </a:srgbClr>
              </a:gs>
              <a:gs pos="100000">
                <a:srgbClr val="FFFFFF">
                  <a:alpha val="0"/>
                </a:srgbClr>
              </a:gs>
            </a:gsLst>
          </a:gradFill>
          <a:ln w="12700">
            <a:miter lim="400000"/>
          </a:ln>
        </p:spPr>
        <p:txBody>
          <a:bodyPr lIns="0" tIns="0" rIns="0" bIns="0"/>
          <a:lstStyle/>
          <a:p>
            <a:pPr>
              <a:defRPr>
                <a:latin typeface="Calibri"/>
                <a:ea typeface="Calibri"/>
                <a:cs typeface="Calibri"/>
                <a:sym typeface="Calibri"/>
              </a:defRPr>
            </a:pPr>
          </a:p>
        </p:txBody>
      </p:sp>
      <p:sp>
        <p:nvSpPr>
          <p:cNvPr id="99" name="deck-label-1"/>
          <p:cNvSpPr txBox="1"/>
          <p:nvPr/>
        </p:nvSpPr>
        <p:spPr>
          <a:xfrm>
            <a:off x="1123950" y="304800"/>
            <a:ext cx="1714500" cy="2286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normAutofit fontScale="100000" lnSpcReduction="0"/>
          </a:bodyPr>
          <a:lstStyle>
            <a:lvl1pPr>
              <a:defRPr b="1" sz="1000">
                <a:solidFill>
                  <a:srgbClr val="2496ED"/>
                </a:solidFill>
                <a:latin typeface="Aptos Display"/>
                <a:ea typeface="Aptos Display"/>
                <a:cs typeface="Aptos Display"/>
                <a:sym typeface="Aptos Display"/>
              </a:defRPr>
            </a:lvl1pPr>
          </a:lstStyle>
          <a:p>
            <a:pPr/>
            <a:r>
              <a:t>DOCKER SANDBOX</a:t>
            </a:r>
          </a:p>
        </p:txBody>
      </p:sp>
      <p:pic>
        <p:nvPicPr>
          <p:cNvPr id="100" name="docker-mark-1" descr="docker-mark-1"/>
          <p:cNvPicPr>
            <a:picLocks noChangeAspect="1"/>
          </p:cNvPicPr>
          <p:nvPr/>
        </p:nvPicPr>
        <p:blipFill>
          <a:blip r:embed="rId3">
            <a:extLst/>
          </a:blip>
          <a:stretch>
            <a:fillRect/>
          </a:stretch>
        </p:blipFill>
        <p:spPr>
          <a:xfrm>
            <a:off x="654684" y="257175"/>
            <a:ext cx="386083" cy="304800"/>
          </a:xfrm>
          <a:prstGeom prst="rect">
            <a:avLst/>
          </a:prstGeom>
          <a:ln w="12700">
            <a:miter lim="400000"/>
          </a:ln>
        </p:spPr>
      </p:pic>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06131B"/>
        </a:solidFill>
      </p:bgPr>
    </p:bg>
    <p:spTree>
      <p:nvGrpSpPr>
        <p:cNvPr id="1" name=""/>
        <p:cNvGrpSpPr/>
        <p:nvPr/>
      </p:nvGrpSpPr>
      <p:grpSpPr>
        <a:xfrm>
          <a:off x="0" y="0"/>
          <a:ext cx="0" cy="0"/>
          <a:chOff x="0" y="0"/>
          <a:chExt cx="0" cy="0"/>
        </a:xfrm>
      </p:grpSpPr>
      <p:sp>
        <p:nvSpPr>
          <p:cNvPr id="104" name="template-title"/>
          <p:cNvSpPr txBox="1"/>
          <p:nvPr/>
        </p:nvSpPr>
        <p:spPr>
          <a:xfrm>
            <a:off x="552450" y="819150"/>
            <a:ext cx="11087100" cy="7239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normAutofit fontScale="100000" lnSpcReduction="0"/>
          </a:bodyPr>
          <a:lstStyle>
            <a:lvl1pPr>
              <a:lnSpc>
                <a:spcPct val="95000"/>
              </a:lnSpc>
              <a:defRPr b="1" sz="3600">
                <a:solidFill>
                  <a:srgbClr val="F7FBFD"/>
                </a:solidFill>
                <a:latin typeface="Aptos Display"/>
                <a:ea typeface="Aptos Display"/>
                <a:cs typeface="Aptos Display"/>
                <a:sym typeface="Aptos Display"/>
              </a:defRPr>
            </a:lvl1pPr>
          </a:lstStyle>
          <a:p>
            <a:pPr/>
            <a:r>
              <a:t>Docker Sandbox</a:t>
            </a:r>
          </a:p>
        </p:txBody>
      </p:sp>
      <p:sp>
        <p:nvSpPr>
          <p:cNvPr id="105" name="section-label-2"/>
          <p:cNvSpPr txBox="1"/>
          <p:nvPr/>
        </p:nvSpPr>
        <p:spPr>
          <a:xfrm>
            <a:off x="3284218" y="295275"/>
            <a:ext cx="5242565" cy="2311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900">
                <a:solidFill>
                  <a:srgbClr val="91A7B1"/>
                </a:solidFill>
                <a:latin typeface="Aptos"/>
                <a:ea typeface="Aptos"/>
                <a:cs typeface="Aptos"/>
                <a:sym typeface="Aptos"/>
              </a:defRPr>
            </a:lvl1pPr>
          </a:lstStyle>
          <a:p>
            <a:pPr/>
            <a:r>
              <a:t>COMMON SANDBOXING APPROACHES</a:t>
            </a:r>
          </a:p>
        </p:txBody>
      </p:sp>
      <p:sp>
        <p:nvSpPr>
          <p:cNvPr id="106" name="docker-sandbox-lockup-panel"/>
          <p:cNvSpPr/>
          <p:nvPr/>
        </p:nvSpPr>
        <p:spPr>
          <a:xfrm>
            <a:off x="552450" y="1895412"/>
            <a:ext cx="3795491" cy="926512"/>
          </a:xfrm>
          <a:prstGeom prst="roundRect">
            <a:avLst>
              <a:gd name="adj" fmla="val 10667"/>
            </a:avLst>
          </a:prstGeom>
          <a:ln w="19050">
            <a:solidFill>
              <a:srgbClr val="2496ED"/>
            </a:solidFill>
          </a:ln>
        </p:spPr>
        <p:txBody>
          <a:bodyPr lIns="0" tIns="0" rIns="0" bIns="0"/>
          <a:lstStyle/>
          <a:p>
            <a:pPr>
              <a:defRPr>
                <a:latin typeface="Calibri"/>
                <a:ea typeface="Calibri"/>
                <a:cs typeface="Calibri"/>
                <a:sym typeface="Calibri"/>
              </a:defRPr>
            </a:pPr>
          </a:p>
        </p:txBody>
      </p:sp>
      <p:pic>
        <p:nvPicPr>
          <p:cNvPr id="107" name="docker-sandbox-lockup-large" descr="docker-sandbox-lockup-large"/>
          <p:cNvPicPr>
            <a:picLocks noChangeAspect="1"/>
          </p:cNvPicPr>
          <p:nvPr/>
        </p:nvPicPr>
        <p:blipFill>
          <a:blip r:embed="rId3">
            <a:extLst/>
          </a:blip>
          <a:stretch>
            <a:fillRect/>
          </a:stretch>
        </p:blipFill>
        <p:spPr>
          <a:xfrm>
            <a:off x="809626" y="2067791"/>
            <a:ext cx="3286389" cy="597528"/>
          </a:xfrm>
          <a:prstGeom prst="rect">
            <a:avLst/>
          </a:prstGeom>
          <a:ln w="12700">
            <a:miter lim="400000"/>
          </a:ln>
        </p:spPr>
      </p:pic>
      <p:sp>
        <p:nvSpPr>
          <p:cNvPr id="108" name="Rectangle 15"/>
          <p:cNvSpPr txBox="1"/>
          <p:nvPr/>
        </p:nvSpPr>
        <p:spPr>
          <a:xfrm>
            <a:off x="598167" y="3429001"/>
            <a:ext cx="4813941" cy="2311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900">
                <a:solidFill>
                  <a:srgbClr val="2496ED"/>
                </a:solidFill>
                <a:latin typeface="Aptos"/>
                <a:ea typeface="Aptos"/>
                <a:cs typeface="Aptos"/>
                <a:sym typeface="Aptos"/>
              </a:defRPr>
            </a:lvl1pPr>
          </a:lstStyle>
          <a:p>
            <a:pPr/>
            <a:r>
              <a:t>PURPOSE-BUILT CONTAINMENT</a:t>
            </a:r>
          </a:p>
        </p:txBody>
      </p:sp>
      <p:sp>
        <p:nvSpPr>
          <p:cNvPr id="109" name="Rectangle 16"/>
          <p:cNvSpPr txBox="1"/>
          <p:nvPr/>
        </p:nvSpPr>
        <p:spPr>
          <a:xfrm>
            <a:off x="598169" y="3809998"/>
            <a:ext cx="2886545" cy="121919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nSpc>
                <a:spcPct val="98000"/>
              </a:lnSpc>
              <a:defRPr b="1" sz="2500">
                <a:solidFill>
                  <a:srgbClr val="F7FBFD"/>
                </a:solidFill>
                <a:latin typeface="Aptos"/>
                <a:ea typeface="Aptos"/>
                <a:cs typeface="Aptos"/>
                <a:sym typeface="Aptos"/>
              </a:defRPr>
            </a:lvl1pPr>
          </a:lstStyle>
          <a:p>
            <a:pPr/>
            <a:r>
              <a:t>A separate kernel changes the blast radius.</a:t>
            </a:r>
          </a:p>
        </p:txBody>
      </p:sp>
      <p:sp>
        <p:nvSpPr>
          <p:cNvPr id="110" name="docker-sandbox-bullets"/>
          <p:cNvSpPr txBox="1"/>
          <p:nvPr/>
        </p:nvSpPr>
        <p:spPr>
          <a:xfrm>
            <a:off x="4599551" y="1641075"/>
            <a:ext cx="6994277" cy="36093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marL="285760" indent="-285750">
              <a:spcBef>
                <a:spcPts val="1500"/>
              </a:spcBef>
              <a:buSzPct val="100000"/>
              <a:buFont typeface="Arial"/>
              <a:buChar char="•"/>
              <a:defRPr sz="2400">
                <a:solidFill>
                  <a:srgbClr val="F7FBFD"/>
                </a:solidFill>
                <a:latin typeface="Aptos"/>
                <a:ea typeface="Aptos"/>
                <a:cs typeface="Aptos"/>
                <a:sym typeface="Aptos"/>
              </a:defRPr>
            </a:pPr>
            <a:r>
              <a:t>A microVM with a separate kernel from the host.</a:t>
            </a:r>
            <a:endParaRPr sz="1500"/>
          </a:p>
          <a:p>
            <a:pPr marL="285760" indent="-285750">
              <a:spcBef>
                <a:spcPts val="1500"/>
              </a:spcBef>
              <a:buSzPct val="100000"/>
              <a:buFont typeface="Arial"/>
              <a:buChar char="•"/>
              <a:defRPr sz="2400">
                <a:solidFill>
                  <a:srgbClr val="F7FBFD"/>
                </a:solidFill>
                <a:latin typeface="Aptos"/>
                <a:ea typeface="Aptos"/>
                <a:cs typeface="Aptos"/>
                <a:sym typeface="Aptos"/>
              </a:defRPr>
            </a:pPr>
            <a:r>
              <a:t>Designed for autonomous, untrusted AI coding agents.</a:t>
            </a:r>
            <a:endParaRPr sz="1500"/>
          </a:p>
          <a:p>
            <a:pPr marL="285760" indent="-285750">
              <a:spcBef>
                <a:spcPts val="1500"/>
              </a:spcBef>
              <a:buSzPct val="100000"/>
              <a:buFont typeface="Arial"/>
              <a:buChar char="•"/>
              <a:defRPr sz="2400">
                <a:solidFill>
                  <a:srgbClr val="F7FBFD"/>
                </a:solidFill>
                <a:latin typeface="Aptos"/>
                <a:ea typeface="Aptos"/>
                <a:cs typeface="Aptos"/>
                <a:sym typeface="Aptos"/>
              </a:defRPr>
            </a:pPr>
            <a:r>
              <a:t>Preserves Docker strengths: portable templates, reproducible state, workspace mounting, and configurable network policy.</a:t>
            </a:r>
            <a:endParaRPr sz="1500"/>
          </a:p>
          <a:p>
            <a:pPr marL="285760" indent="-285750">
              <a:spcBef>
                <a:spcPts val="1500"/>
              </a:spcBef>
              <a:buSzPct val="100000"/>
              <a:buFont typeface="Arial"/>
              <a:buChar char="•"/>
              <a:defRPr sz="2400">
                <a:solidFill>
                  <a:srgbClr val="F7FBFD"/>
                </a:solidFill>
                <a:latin typeface="Aptos"/>
                <a:ea typeface="Aptos"/>
                <a:cs typeface="Aptos"/>
                <a:sym typeface="Aptos"/>
              </a:defRPr>
            </a:pPr>
            <a:r>
              <a:t>Run the agent in YOLO mode inside the VM—without giving it your host.</a:t>
            </a:r>
          </a:p>
        </p:txBody>
      </p:sp>
      <p:sp>
        <p:nvSpPr>
          <p:cNvPr id="111" name="top-accent-1"/>
          <p:cNvSpPr/>
          <p:nvPr/>
        </p:nvSpPr>
        <p:spPr>
          <a:xfrm>
            <a:off x="552450" y="209550"/>
            <a:ext cx="2514600" cy="457200"/>
          </a:xfrm>
          <a:prstGeom prst="roundRect">
            <a:avLst>
              <a:gd name="adj" fmla="val 16667"/>
            </a:avLst>
          </a:prstGeom>
          <a:gradFill>
            <a:gsLst>
              <a:gs pos="0">
                <a:srgbClr val="FFFFFF"/>
              </a:gs>
              <a:gs pos="42000">
                <a:srgbClr val="FFFFFF">
                  <a:alpha val="94000"/>
                </a:srgbClr>
              </a:gs>
              <a:gs pos="100000">
                <a:srgbClr val="FFFFFF">
                  <a:alpha val="0"/>
                </a:srgbClr>
              </a:gs>
            </a:gsLst>
          </a:gradFill>
          <a:ln w="12700">
            <a:miter lim="400000"/>
          </a:ln>
        </p:spPr>
        <p:txBody>
          <a:bodyPr lIns="0" tIns="0" rIns="0" bIns="0"/>
          <a:lstStyle/>
          <a:p>
            <a:pPr>
              <a:defRPr>
                <a:latin typeface="Calibri"/>
                <a:ea typeface="Calibri"/>
                <a:cs typeface="Calibri"/>
                <a:sym typeface="Calibri"/>
              </a:defRPr>
            </a:pPr>
          </a:p>
        </p:txBody>
      </p:sp>
      <p:sp>
        <p:nvSpPr>
          <p:cNvPr id="112" name="deck-label-1"/>
          <p:cNvSpPr txBox="1"/>
          <p:nvPr/>
        </p:nvSpPr>
        <p:spPr>
          <a:xfrm>
            <a:off x="1123950" y="304800"/>
            <a:ext cx="1714500" cy="2286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normAutofit fontScale="100000" lnSpcReduction="0"/>
          </a:bodyPr>
          <a:lstStyle>
            <a:lvl1pPr>
              <a:defRPr b="1" sz="1000">
                <a:solidFill>
                  <a:srgbClr val="2496ED"/>
                </a:solidFill>
                <a:latin typeface="Aptos Display"/>
                <a:ea typeface="Aptos Display"/>
                <a:cs typeface="Aptos Display"/>
                <a:sym typeface="Aptos Display"/>
              </a:defRPr>
            </a:lvl1pPr>
          </a:lstStyle>
          <a:p>
            <a:pPr/>
            <a:r>
              <a:t>DOCKER SANDBOX</a:t>
            </a:r>
          </a:p>
        </p:txBody>
      </p:sp>
      <p:pic>
        <p:nvPicPr>
          <p:cNvPr id="113" name="docker-mark-1" descr="docker-mark-1"/>
          <p:cNvPicPr>
            <a:picLocks noChangeAspect="1"/>
          </p:cNvPicPr>
          <p:nvPr/>
        </p:nvPicPr>
        <p:blipFill>
          <a:blip r:embed="rId4">
            <a:extLst/>
          </a:blip>
          <a:stretch>
            <a:fillRect/>
          </a:stretch>
        </p:blipFill>
        <p:spPr>
          <a:xfrm>
            <a:off x="654684" y="257175"/>
            <a:ext cx="386083" cy="304800"/>
          </a:xfrm>
          <a:prstGeom prst="rect">
            <a:avLst/>
          </a:prstGeom>
          <a:ln w="12700">
            <a:miter lim="400000"/>
          </a:ln>
        </p:spPr>
      </p:pic>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06131B"/>
        </a:solidFill>
      </p:bgPr>
    </p:bg>
    <p:spTree>
      <p:nvGrpSpPr>
        <p:cNvPr id="1" name=""/>
        <p:cNvGrpSpPr/>
        <p:nvPr/>
      </p:nvGrpSpPr>
      <p:grpSpPr>
        <a:xfrm>
          <a:off x="0" y="0"/>
          <a:ext cx="0" cy="0"/>
          <a:chOff x="0" y="0"/>
          <a:chExt cx="0" cy="0"/>
        </a:xfrm>
      </p:grpSpPr>
      <p:sp>
        <p:nvSpPr>
          <p:cNvPr id="117" name="template-title"/>
          <p:cNvSpPr txBox="1"/>
          <p:nvPr/>
        </p:nvSpPr>
        <p:spPr>
          <a:xfrm>
            <a:off x="552450" y="819150"/>
            <a:ext cx="11087100" cy="7239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normAutofit fontScale="100000" lnSpcReduction="0"/>
          </a:bodyPr>
          <a:lstStyle>
            <a:lvl1pPr>
              <a:lnSpc>
                <a:spcPct val="95000"/>
              </a:lnSpc>
              <a:defRPr b="1" sz="3300">
                <a:solidFill>
                  <a:srgbClr val="F7FBFD"/>
                </a:solidFill>
                <a:latin typeface="Aptos Display"/>
                <a:ea typeface="Aptos Display"/>
                <a:cs typeface="Aptos Display"/>
                <a:sym typeface="Aptos Display"/>
              </a:defRPr>
            </a:lvl1pPr>
          </a:lstStyle>
          <a:p>
            <a:pPr/>
            <a:r>
              <a:t>Docker Sandbox features</a:t>
            </a:r>
          </a:p>
        </p:txBody>
      </p:sp>
      <p:sp>
        <p:nvSpPr>
          <p:cNvPr id="118" name="features-left-label"/>
          <p:cNvSpPr txBox="1"/>
          <p:nvPr/>
        </p:nvSpPr>
        <p:spPr>
          <a:xfrm>
            <a:off x="598167" y="1733550"/>
            <a:ext cx="4766316" cy="2438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1000">
                <a:solidFill>
                  <a:srgbClr val="2496ED"/>
                </a:solidFill>
                <a:latin typeface="Aptos"/>
                <a:ea typeface="Aptos"/>
                <a:cs typeface="Aptos"/>
                <a:sym typeface="Aptos"/>
              </a:defRPr>
            </a:lvl1pPr>
          </a:lstStyle>
          <a:p>
            <a:pPr/>
            <a:r>
              <a:t>ENVIRONMENTS + STATE</a:t>
            </a:r>
          </a:p>
        </p:txBody>
      </p:sp>
      <p:sp>
        <p:nvSpPr>
          <p:cNvPr id="119" name="Straight Connector 7"/>
          <p:cNvSpPr/>
          <p:nvPr/>
        </p:nvSpPr>
        <p:spPr>
          <a:xfrm>
            <a:off x="552448" y="2095500"/>
            <a:ext cx="4953005" cy="0"/>
          </a:xfrm>
          <a:prstGeom prst="line">
            <a:avLst/>
          </a:prstGeom>
          <a:ln w="19050">
            <a:solidFill>
              <a:srgbClr val="2496ED"/>
            </a:solidFill>
          </a:ln>
        </p:spPr>
        <p:txBody>
          <a:bodyPr lIns="0" tIns="0" rIns="0" bIns="0"/>
          <a:lstStyle/>
          <a:p>
            <a:pPr/>
          </a:p>
        </p:txBody>
      </p:sp>
      <p:sp>
        <p:nvSpPr>
          <p:cNvPr id="120" name="features-left"/>
          <p:cNvSpPr txBox="1"/>
          <p:nvPr/>
        </p:nvSpPr>
        <p:spPr>
          <a:xfrm>
            <a:off x="598167" y="2324100"/>
            <a:ext cx="4909191" cy="34061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marL="342910" indent="-342900">
              <a:spcBef>
                <a:spcPts val="1500"/>
              </a:spcBef>
              <a:buSzPct val="100000"/>
              <a:buFont typeface="Arial"/>
              <a:buChar char="•"/>
              <a:defRPr sz="2000">
                <a:solidFill>
                  <a:srgbClr val="F7FBFD"/>
                </a:solidFill>
                <a:latin typeface="Aptos"/>
                <a:ea typeface="Aptos"/>
                <a:cs typeface="Aptos"/>
                <a:sym typeface="Aptos"/>
              </a:defRPr>
            </a:pPr>
            <a:r>
              <a:t>Prebuilt images for Claude Code, Codex, and others—plus a bare shell image.</a:t>
            </a:r>
            <a:endParaRPr sz="1600"/>
          </a:p>
          <a:p>
            <a:pPr marL="342910" indent="-342900">
              <a:spcBef>
                <a:spcPts val="1500"/>
              </a:spcBef>
              <a:buSzPct val="100000"/>
              <a:buFont typeface="Arial"/>
              <a:buChar char="•"/>
              <a:defRPr sz="2000">
                <a:solidFill>
                  <a:srgbClr val="F7FBFD"/>
                </a:solidFill>
                <a:latin typeface="Aptos"/>
                <a:ea typeface="Aptos"/>
                <a:cs typeface="Aptos"/>
                <a:sym typeface="Aptos"/>
              </a:defRPr>
            </a:pPr>
            <a:r>
              <a:t>Mount one or multiple workspaces for different isolation models.</a:t>
            </a:r>
            <a:endParaRPr sz="1600"/>
          </a:p>
          <a:p>
            <a:pPr marL="342910" indent="-342900">
              <a:spcBef>
                <a:spcPts val="1500"/>
              </a:spcBef>
              <a:buSzPct val="100000"/>
              <a:buFont typeface="Arial"/>
              <a:buChar char="•"/>
              <a:defRPr sz="2000">
                <a:solidFill>
                  <a:srgbClr val="F7FBFD"/>
                </a:solidFill>
                <a:latin typeface="Aptos"/>
                <a:ea typeface="Aptos"/>
                <a:cs typeface="Aptos"/>
                <a:sym typeface="Aptos"/>
              </a:defRPr>
            </a:pPr>
            <a:r>
              <a:t>Define custom templates with a Dockerfile.</a:t>
            </a:r>
            <a:endParaRPr sz="1600"/>
          </a:p>
          <a:p>
            <a:pPr marL="342910" indent="-342900">
              <a:spcBef>
                <a:spcPts val="1500"/>
              </a:spcBef>
              <a:buSzPct val="100000"/>
              <a:buFont typeface="Arial"/>
              <a:buChar char="•"/>
              <a:defRPr sz="2000">
                <a:solidFill>
                  <a:srgbClr val="F7FBFD"/>
                </a:solidFill>
                <a:latin typeface="Aptos"/>
                <a:ea typeface="Aptos"/>
                <a:cs typeface="Aptos"/>
                <a:sym typeface="Aptos"/>
              </a:defRPr>
            </a:pPr>
            <a:r>
              <a:t>Snapshot a configured sandbox into a reusable template on the fly.</a:t>
            </a:r>
          </a:p>
        </p:txBody>
      </p:sp>
      <p:sp>
        <p:nvSpPr>
          <p:cNvPr id="121" name="features-right-label"/>
          <p:cNvSpPr txBox="1"/>
          <p:nvPr/>
        </p:nvSpPr>
        <p:spPr>
          <a:xfrm>
            <a:off x="6189343" y="1733550"/>
            <a:ext cx="5404490" cy="2438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1000">
                <a:solidFill>
                  <a:srgbClr val="2496ED"/>
                </a:solidFill>
                <a:latin typeface="Aptos"/>
                <a:ea typeface="Aptos"/>
                <a:cs typeface="Aptos"/>
                <a:sym typeface="Aptos"/>
              </a:defRPr>
            </a:lvl1pPr>
          </a:lstStyle>
          <a:p>
            <a:pPr/>
            <a:r>
              <a:t>ACCESS + ORGANIZATIONAL CONTROL</a:t>
            </a:r>
          </a:p>
        </p:txBody>
      </p:sp>
      <p:sp>
        <p:nvSpPr>
          <p:cNvPr id="122" name="Straight Connector 10"/>
          <p:cNvSpPr/>
          <p:nvPr/>
        </p:nvSpPr>
        <p:spPr>
          <a:xfrm>
            <a:off x="6143625" y="2095500"/>
            <a:ext cx="5495927" cy="0"/>
          </a:xfrm>
          <a:prstGeom prst="line">
            <a:avLst/>
          </a:prstGeom>
          <a:ln w="19050">
            <a:solidFill>
              <a:srgbClr val="2496ED"/>
            </a:solidFill>
          </a:ln>
        </p:spPr>
        <p:txBody>
          <a:bodyPr lIns="0" tIns="0" rIns="0" bIns="0"/>
          <a:lstStyle/>
          <a:p>
            <a:pPr/>
          </a:p>
        </p:txBody>
      </p:sp>
      <p:sp>
        <p:nvSpPr>
          <p:cNvPr id="123" name="features-right"/>
          <p:cNvSpPr txBox="1"/>
          <p:nvPr/>
        </p:nvSpPr>
        <p:spPr>
          <a:xfrm>
            <a:off x="6189343" y="2324100"/>
            <a:ext cx="5404490" cy="23012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marL="342910" indent="-342900">
              <a:spcBef>
                <a:spcPts val="1500"/>
              </a:spcBef>
              <a:buSzPct val="100000"/>
              <a:buFont typeface="Arial"/>
              <a:buChar char="•"/>
              <a:defRPr sz="2000">
                <a:solidFill>
                  <a:srgbClr val="F7FBFD"/>
                </a:solidFill>
                <a:latin typeface="Aptos"/>
                <a:ea typeface="Aptos"/>
                <a:cs typeface="Aptos"/>
                <a:sym typeface="Aptos"/>
              </a:defRPr>
            </a:pPr>
            <a:r>
              <a:t>Apply network policies and publish ports for local service access.</a:t>
            </a:r>
            <a:endParaRPr sz="1600"/>
          </a:p>
          <a:p>
            <a:pPr marL="342910" indent="-342900">
              <a:spcBef>
                <a:spcPts val="1500"/>
              </a:spcBef>
              <a:buSzPct val="100000"/>
              <a:buFont typeface="Arial"/>
              <a:buChar char="•"/>
              <a:defRPr sz="2000">
                <a:solidFill>
                  <a:srgbClr val="F7FBFD"/>
                </a:solidFill>
                <a:latin typeface="Aptos"/>
                <a:ea typeface="Aptos"/>
                <a:cs typeface="Aptos"/>
                <a:sym typeface="Aptos"/>
              </a:defRPr>
            </a:pPr>
            <a:r>
              <a:t>Use the native SSH endpoint with desktop apps like Claude Desktop and ChatGPT</a:t>
            </a:r>
          </a:p>
          <a:p>
            <a:pPr marL="342910" indent="-342900">
              <a:spcBef>
                <a:spcPts val="1500"/>
              </a:spcBef>
              <a:buSzPct val="100000"/>
              <a:buFont typeface="Arial"/>
              <a:buChar char="•"/>
              <a:defRPr sz="2000">
                <a:solidFill>
                  <a:srgbClr val="F7FBFD"/>
                </a:solidFill>
                <a:latin typeface="Aptos"/>
                <a:ea typeface="Aptos"/>
                <a:cs typeface="Aptos"/>
                <a:sym typeface="Aptos"/>
              </a:defRPr>
            </a:pPr>
            <a:r>
              <a:t>Package batteries-included organizational setups as reusable Kits.</a:t>
            </a:r>
          </a:p>
        </p:txBody>
      </p:sp>
      <p:sp>
        <p:nvSpPr>
          <p:cNvPr id="124" name="section-label-2"/>
          <p:cNvSpPr txBox="1"/>
          <p:nvPr/>
        </p:nvSpPr>
        <p:spPr>
          <a:xfrm>
            <a:off x="3284218" y="295275"/>
            <a:ext cx="5242565" cy="2311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900">
                <a:solidFill>
                  <a:srgbClr val="91A7B1"/>
                </a:solidFill>
                <a:latin typeface="Aptos"/>
                <a:ea typeface="Aptos"/>
                <a:cs typeface="Aptos"/>
                <a:sym typeface="Aptos"/>
              </a:defRPr>
            </a:lvl1pPr>
          </a:lstStyle>
          <a:p>
            <a:pPr/>
            <a:r>
              <a:t>DOCKER SANDBOX IN PRACTICE</a:t>
            </a:r>
          </a:p>
        </p:txBody>
      </p:sp>
      <p:sp>
        <p:nvSpPr>
          <p:cNvPr id="125" name="top-accent-1"/>
          <p:cNvSpPr/>
          <p:nvPr/>
        </p:nvSpPr>
        <p:spPr>
          <a:xfrm>
            <a:off x="552450" y="209550"/>
            <a:ext cx="2514600" cy="457200"/>
          </a:xfrm>
          <a:prstGeom prst="roundRect">
            <a:avLst>
              <a:gd name="adj" fmla="val 16667"/>
            </a:avLst>
          </a:prstGeom>
          <a:gradFill>
            <a:gsLst>
              <a:gs pos="0">
                <a:srgbClr val="FFFFFF"/>
              </a:gs>
              <a:gs pos="42000">
                <a:srgbClr val="FFFFFF">
                  <a:alpha val="94000"/>
                </a:srgbClr>
              </a:gs>
              <a:gs pos="100000">
                <a:srgbClr val="FFFFFF">
                  <a:alpha val="0"/>
                </a:srgbClr>
              </a:gs>
            </a:gsLst>
          </a:gradFill>
          <a:ln w="12700">
            <a:miter lim="400000"/>
          </a:ln>
        </p:spPr>
        <p:txBody>
          <a:bodyPr lIns="0" tIns="0" rIns="0" bIns="0"/>
          <a:lstStyle/>
          <a:p>
            <a:pPr>
              <a:defRPr>
                <a:latin typeface="Calibri"/>
                <a:ea typeface="Calibri"/>
                <a:cs typeface="Calibri"/>
                <a:sym typeface="Calibri"/>
              </a:defRPr>
            </a:pPr>
          </a:p>
        </p:txBody>
      </p:sp>
      <p:sp>
        <p:nvSpPr>
          <p:cNvPr id="126" name="deck-label-1"/>
          <p:cNvSpPr txBox="1"/>
          <p:nvPr/>
        </p:nvSpPr>
        <p:spPr>
          <a:xfrm>
            <a:off x="1123950" y="304800"/>
            <a:ext cx="1714500" cy="2286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normAutofit fontScale="100000" lnSpcReduction="0"/>
          </a:bodyPr>
          <a:lstStyle>
            <a:lvl1pPr>
              <a:defRPr b="1" sz="1000">
                <a:solidFill>
                  <a:srgbClr val="2496ED"/>
                </a:solidFill>
                <a:latin typeface="Aptos Display"/>
                <a:ea typeface="Aptos Display"/>
                <a:cs typeface="Aptos Display"/>
                <a:sym typeface="Aptos Display"/>
              </a:defRPr>
            </a:lvl1pPr>
          </a:lstStyle>
          <a:p>
            <a:pPr/>
            <a:r>
              <a:t>DOCKER SANDBOX</a:t>
            </a:r>
          </a:p>
        </p:txBody>
      </p:sp>
      <p:pic>
        <p:nvPicPr>
          <p:cNvPr id="127" name="docker-mark-1" descr="docker-mark-1"/>
          <p:cNvPicPr>
            <a:picLocks noChangeAspect="1"/>
          </p:cNvPicPr>
          <p:nvPr/>
        </p:nvPicPr>
        <p:blipFill>
          <a:blip r:embed="rId3">
            <a:extLst/>
          </a:blip>
          <a:stretch>
            <a:fillRect/>
          </a:stretch>
        </p:blipFill>
        <p:spPr>
          <a:xfrm>
            <a:off x="654684" y="257175"/>
            <a:ext cx="386083" cy="304800"/>
          </a:xfrm>
          <a:prstGeom prst="rect">
            <a:avLst/>
          </a:prstGeom>
          <a:ln w="12700">
            <a:miter lim="400000"/>
          </a:ln>
        </p:spPr>
      </p:pic>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06131B"/>
        </a:solidFill>
      </p:bgPr>
    </p:bg>
    <p:spTree>
      <p:nvGrpSpPr>
        <p:cNvPr id="1" name=""/>
        <p:cNvGrpSpPr/>
        <p:nvPr/>
      </p:nvGrpSpPr>
      <p:grpSpPr>
        <a:xfrm>
          <a:off x="0" y="0"/>
          <a:ext cx="0" cy="0"/>
          <a:chOff x="0" y="0"/>
          <a:chExt cx="0" cy="0"/>
        </a:xfrm>
      </p:grpSpPr>
      <p:sp>
        <p:nvSpPr>
          <p:cNvPr id="131" name="template-title"/>
          <p:cNvSpPr txBox="1"/>
          <p:nvPr/>
        </p:nvSpPr>
        <p:spPr>
          <a:xfrm>
            <a:off x="552450" y="819150"/>
            <a:ext cx="11087100" cy="7239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normAutofit fontScale="100000" lnSpcReduction="0"/>
          </a:bodyPr>
          <a:lstStyle>
            <a:lvl1pPr>
              <a:lnSpc>
                <a:spcPct val="95000"/>
              </a:lnSpc>
              <a:defRPr b="1" sz="3300">
                <a:solidFill>
                  <a:srgbClr val="F7FBFD"/>
                </a:solidFill>
                <a:latin typeface="Aptos Display"/>
                <a:ea typeface="Aptos Display"/>
                <a:cs typeface="Aptos Display"/>
                <a:sym typeface="Aptos Display"/>
              </a:defRPr>
            </a:lvl1pPr>
          </a:lstStyle>
          <a:p>
            <a:pPr/>
            <a:r>
              <a:t>Alternatives to Docker Sandbox</a:t>
            </a:r>
          </a:p>
        </p:txBody>
      </p:sp>
      <p:sp>
        <p:nvSpPr>
          <p:cNvPr id="132" name="section-label-2"/>
          <p:cNvSpPr txBox="1"/>
          <p:nvPr/>
        </p:nvSpPr>
        <p:spPr>
          <a:xfrm>
            <a:off x="3284218" y="295275"/>
            <a:ext cx="5242565" cy="2311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900">
                <a:solidFill>
                  <a:srgbClr val="91A7B1"/>
                </a:solidFill>
                <a:latin typeface="Aptos"/>
                <a:ea typeface="Aptos"/>
                <a:cs typeface="Aptos"/>
                <a:sym typeface="Aptos"/>
              </a:defRPr>
            </a:lvl1pPr>
          </a:lstStyle>
          <a:p>
            <a:pPr/>
            <a:r>
              <a:t>LOCAL AND DESKTOP SANDBOX ALTERNATIVES</a:t>
            </a:r>
          </a:p>
        </p:txBody>
      </p:sp>
      <p:sp>
        <p:nvSpPr>
          <p:cNvPr id="133" name="top-accent-1"/>
          <p:cNvSpPr/>
          <p:nvPr/>
        </p:nvSpPr>
        <p:spPr>
          <a:xfrm>
            <a:off x="552450" y="209550"/>
            <a:ext cx="2514600" cy="457200"/>
          </a:xfrm>
          <a:prstGeom prst="roundRect">
            <a:avLst>
              <a:gd name="adj" fmla="val 16667"/>
            </a:avLst>
          </a:prstGeom>
          <a:gradFill>
            <a:gsLst>
              <a:gs pos="0">
                <a:srgbClr val="FFFFFF"/>
              </a:gs>
              <a:gs pos="42000">
                <a:srgbClr val="FFFFFF">
                  <a:alpha val="94000"/>
                </a:srgbClr>
              </a:gs>
              <a:gs pos="100000">
                <a:srgbClr val="FFFFFF">
                  <a:alpha val="0"/>
                </a:srgbClr>
              </a:gs>
            </a:gsLst>
          </a:gradFill>
          <a:ln w="12700">
            <a:miter lim="400000"/>
          </a:ln>
        </p:spPr>
        <p:txBody>
          <a:bodyPr lIns="0" tIns="0" rIns="0" bIns="0"/>
          <a:lstStyle/>
          <a:p>
            <a:pPr>
              <a:defRPr>
                <a:latin typeface="Calibri"/>
                <a:ea typeface="Calibri"/>
                <a:cs typeface="Calibri"/>
                <a:sym typeface="Calibri"/>
              </a:defRPr>
            </a:pPr>
          </a:p>
        </p:txBody>
      </p:sp>
      <p:sp>
        <p:nvSpPr>
          <p:cNvPr id="134" name="deck-label-1"/>
          <p:cNvSpPr txBox="1"/>
          <p:nvPr/>
        </p:nvSpPr>
        <p:spPr>
          <a:xfrm>
            <a:off x="1123950" y="304800"/>
            <a:ext cx="1714500" cy="2286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normAutofit fontScale="100000" lnSpcReduction="0"/>
          </a:bodyPr>
          <a:lstStyle>
            <a:lvl1pPr>
              <a:defRPr b="1" sz="1000">
                <a:solidFill>
                  <a:srgbClr val="2496ED"/>
                </a:solidFill>
                <a:latin typeface="Aptos Display"/>
                <a:ea typeface="Aptos Display"/>
                <a:cs typeface="Aptos Display"/>
                <a:sym typeface="Aptos Display"/>
              </a:defRPr>
            </a:lvl1pPr>
          </a:lstStyle>
          <a:p>
            <a:pPr/>
            <a:r>
              <a:t>DOCKER SANDBOX</a:t>
            </a:r>
          </a:p>
        </p:txBody>
      </p:sp>
      <p:pic>
        <p:nvPicPr>
          <p:cNvPr id="135" name="docker-mark-1" descr="docker-mark-1"/>
          <p:cNvPicPr>
            <a:picLocks noChangeAspect="1"/>
          </p:cNvPicPr>
          <p:nvPr/>
        </p:nvPicPr>
        <p:blipFill>
          <a:blip r:embed="rId3">
            <a:extLst/>
          </a:blip>
          <a:stretch>
            <a:fillRect/>
          </a:stretch>
        </p:blipFill>
        <p:spPr>
          <a:xfrm>
            <a:off x="654684" y="257175"/>
            <a:ext cx="386083" cy="304800"/>
          </a:xfrm>
          <a:prstGeom prst="rect">
            <a:avLst/>
          </a:prstGeom>
          <a:ln w="12700">
            <a:miter lim="400000"/>
          </a:ln>
        </p:spPr>
      </p:pic>
      <p:sp>
        <p:nvSpPr>
          <p:cNvPr id="136" name="Microsandbox"/>
          <p:cNvSpPr txBox="1"/>
          <p:nvPr/>
        </p:nvSpPr>
        <p:spPr>
          <a:xfrm>
            <a:off x="655319" y="1843405"/>
            <a:ext cx="2289812" cy="332740"/>
          </a:xfrm>
          <a:prstGeom prst="rect">
            <a:avLst/>
          </a:prstGeom>
          <a:ln w="12700">
            <a:miter lim="400000"/>
          </a:ln>
          <a:extLst>
            <a:ext uri="{C572A759-6A51-4108-AA02-DFA0A04FC94B}">
              <ma14:wrappingTextBoxFlag xmlns:ma14="http://schemas.microsoft.com/office/mac/drawingml/2011/main" val="1"/>
            </a:ext>
          </a:extLst>
        </p:spPr>
        <p:txBody>
          <a:bodyPr lIns="45719" rIns="45719" anchor="ctr">
            <a:spAutoFit/>
          </a:bodyPr>
          <a:lstStyle>
            <a:lvl1pPr>
              <a:defRPr b="1" sz="1600">
                <a:solidFill>
                  <a:srgbClr val="2496ED"/>
                </a:solidFill>
                <a:latin typeface="Aptos"/>
                <a:ea typeface="Aptos"/>
                <a:cs typeface="Aptos"/>
                <a:sym typeface="Aptos"/>
              </a:defRPr>
            </a:lvl1pPr>
          </a:lstStyle>
          <a:p>
            <a:pPr/>
            <a:r>
              <a:t>Microsandbox</a:t>
            </a:r>
          </a:p>
        </p:txBody>
      </p:sp>
      <p:sp>
        <p:nvSpPr>
          <p:cNvPr id="137" name="Local microVMs with branching, snapshots and broad SDK support. Closest general alternative, but still beta."/>
          <p:cNvSpPr txBox="1"/>
          <p:nvPr/>
        </p:nvSpPr>
        <p:spPr>
          <a:xfrm>
            <a:off x="3379470" y="1862454"/>
            <a:ext cx="8138160" cy="294641"/>
          </a:xfrm>
          <a:prstGeom prst="rect">
            <a:avLst/>
          </a:prstGeom>
          <a:ln w="12700">
            <a:miter lim="400000"/>
          </a:ln>
          <a:extLst>
            <a:ext uri="{C572A759-6A51-4108-AA02-DFA0A04FC94B}">
              <ma14:wrappingTextBoxFlag xmlns:ma14="http://schemas.microsoft.com/office/mac/drawingml/2011/main" val="1"/>
            </a:ext>
          </a:extLst>
        </p:spPr>
        <p:txBody>
          <a:bodyPr lIns="45719" rIns="45719" anchor="ctr">
            <a:spAutoFit/>
          </a:bodyPr>
          <a:lstStyle>
            <a:lvl1pPr>
              <a:defRPr sz="1300">
                <a:solidFill>
                  <a:srgbClr val="F7FBFD"/>
                </a:solidFill>
                <a:latin typeface="Aptos"/>
                <a:ea typeface="Aptos"/>
                <a:cs typeface="Aptos"/>
                <a:sym typeface="Aptos"/>
              </a:defRPr>
            </a:lvl1pPr>
          </a:lstStyle>
          <a:p>
            <a:pPr/>
            <a:r>
              <a:t>Local microVMs with branching, snapshots and broad SDK support. Closest general alternative, but still beta.</a:t>
            </a:r>
          </a:p>
        </p:txBody>
      </p:sp>
      <p:sp>
        <p:nvSpPr>
          <p:cNvPr id="138" name="Rectangle"/>
          <p:cNvSpPr/>
          <p:nvPr/>
        </p:nvSpPr>
        <p:spPr>
          <a:xfrm>
            <a:off x="552450" y="2362200"/>
            <a:ext cx="11087100" cy="14288"/>
          </a:xfrm>
          <a:prstGeom prst="rect">
            <a:avLst/>
          </a:prstGeom>
          <a:solidFill>
            <a:srgbClr val="29434E"/>
          </a:solidFill>
          <a:ln w="12700">
            <a:miter lim="400000"/>
          </a:ln>
        </p:spPr>
        <p:txBody>
          <a:bodyPr lIns="0" tIns="0" rIns="0" bIns="0"/>
          <a:lstStyle/>
          <a:p>
            <a:pPr/>
          </a:p>
        </p:txBody>
      </p:sp>
      <p:sp>
        <p:nvSpPr>
          <p:cNvPr id="139" name="BoxLite"/>
          <p:cNvSpPr txBox="1"/>
          <p:nvPr/>
        </p:nvSpPr>
        <p:spPr>
          <a:xfrm>
            <a:off x="655319" y="2548255"/>
            <a:ext cx="2289812" cy="332740"/>
          </a:xfrm>
          <a:prstGeom prst="rect">
            <a:avLst/>
          </a:prstGeom>
          <a:ln w="12700">
            <a:miter lim="400000"/>
          </a:ln>
          <a:extLst>
            <a:ext uri="{C572A759-6A51-4108-AA02-DFA0A04FC94B}">
              <ma14:wrappingTextBoxFlag xmlns:ma14="http://schemas.microsoft.com/office/mac/drawingml/2011/main" val="1"/>
            </a:ext>
          </a:extLst>
        </p:spPr>
        <p:txBody>
          <a:bodyPr lIns="45719" rIns="45719" anchor="ctr">
            <a:spAutoFit/>
          </a:bodyPr>
          <a:lstStyle>
            <a:lvl1pPr>
              <a:defRPr b="1" sz="1600">
                <a:solidFill>
                  <a:srgbClr val="2496ED"/>
                </a:solidFill>
                <a:latin typeface="Aptos"/>
                <a:ea typeface="Aptos"/>
                <a:cs typeface="Aptos"/>
                <a:sym typeface="Aptos"/>
              </a:defRPr>
            </a:lvl1pPr>
          </a:lstStyle>
          <a:p>
            <a:pPr/>
            <a:r>
              <a:t>BoxLite</a:t>
            </a:r>
          </a:p>
        </p:txBody>
      </p:sp>
      <p:sp>
        <p:nvSpPr>
          <p:cNvPr id="140" name="Daemonless microVMs with a Linux desktop and computer-use APIs. Best fit for custom agent frameworks."/>
          <p:cNvSpPr txBox="1"/>
          <p:nvPr/>
        </p:nvSpPr>
        <p:spPr>
          <a:xfrm>
            <a:off x="3379470" y="2567304"/>
            <a:ext cx="8138160" cy="294641"/>
          </a:xfrm>
          <a:prstGeom prst="rect">
            <a:avLst/>
          </a:prstGeom>
          <a:ln w="12700">
            <a:miter lim="400000"/>
          </a:ln>
          <a:extLst>
            <a:ext uri="{C572A759-6A51-4108-AA02-DFA0A04FC94B}">
              <ma14:wrappingTextBoxFlag xmlns:ma14="http://schemas.microsoft.com/office/mac/drawingml/2011/main" val="1"/>
            </a:ext>
          </a:extLst>
        </p:spPr>
        <p:txBody>
          <a:bodyPr lIns="45719" rIns="45719" anchor="ctr">
            <a:spAutoFit/>
          </a:bodyPr>
          <a:lstStyle>
            <a:lvl1pPr>
              <a:defRPr sz="1300">
                <a:solidFill>
                  <a:srgbClr val="F7FBFD"/>
                </a:solidFill>
                <a:latin typeface="Aptos"/>
                <a:ea typeface="Aptos"/>
                <a:cs typeface="Aptos"/>
                <a:sym typeface="Aptos"/>
              </a:defRPr>
            </a:lvl1pPr>
          </a:lstStyle>
          <a:p>
            <a:pPr/>
            <a:r>
              <a:t>Daemonless microVMs with a Linux desktop and computer-use APIs. Best fit for custom agent frameworks.</a:t>
            </a:r>
          </a:p>
        </p:txBody>
      </p:sp>
      <p:sp>
        <p:nvSpPr>
          <p:cNvPr id="141" name="Rectangle"/>
          <p:cNvSpPr/>
          <p:nvPr/>
        </p:nvSpPr>
        <p:spPr>
          <a:xfrm>
            <a:off x="552450" y="3067050"/>
            <a:ext cx="11087100" cy="14288"/>
          </a:xfrm>
          <a:prstGeom prst="rect">
            <a:avLst/>
          </a:prstGeom>
          <a:solidFill>
            <a:srgbClr val="29434E"/>
          </a:solidFill>
          <a:ln w="12700">
            <a:miter lim="400000"/>
          </a:ln>
        </p:spPr>
        <p:txBody>
          <a:bodyPr lIns="0" tIns="0" rIns="0" bIns="0"/>
          <a:lstStyle/>
          <a:p>
            <a:pPr/>
          </a:p>
        </p:txBody>
      </p:sp>
      <p:sp>
        <p:nvSpPr>
          <p:cNvPr id="142" name="Shuru"/>
          <p:cNvSpPr txBox="1"/>
          <p:nvPr/>
        </p:nvSpPr>
        <p:spPr>
          <a:xfrm>
            <a:off x="655319" y="3253105"/>
            <a:ext cx="2289812" cy="332740"/>
          </a:xfrm>
          <a:prstGeom prst="rect">
            <a:avLst/>
          </a:prstGeom>
          <a:ln w="12700">
            <a:miter lim="400000"/>
          </a:ln>
          <a:extLst>
            <a:ext uri="{C572A759-6A51-4108-AA02-DFA0A04FC94B}">
              <ma14:wrappingTextBoxFlag xmlns:ma14="http://schemas.microsoft.com/office/mac/drawingml/2011/main" val="1"/>
            </a:ext>
          </a:extLst>
        </p:spPr>
        <p:txBody>
          <a:bodyPr lIns="45719" rIns="45719" anchor="ctr">
            <a:spAutoFit/>
          </a:bodyPr>
          <a:lstStyle>
            <a:lvl1pPr>
              <a:defRPr b="1" sz="1600">
                <a:solidFill>
                  <a:srgbClr val="2496ED"/>
                </a:solidFill>
                <a:latin typeface="Aptos"/>
                <a:ea typeface="Aptos"/>
                <a:cs typeface="Aptos"/>
                <a:sym typeface="Aptos"/>
              </a:defRPr>
            </a:lvl1pPr>
          </a:lstStyle>
          <a:p>
            <a:pPr/>
            <a:r>
              <a:t>Shuru</a:t>
            </a:r>
          </a:p>
        </p:txBody>
      </p:sp>
      <p:sp>
        <p:nvSpPr>
          <p:cNvPr id="143" name="Ephemeral Linux microVMs with read-only mounts and networking off by default. Mac-first and security focused."/>
          <p:cNvSpPr txBox="1"/>
          <p:nvPr/>
        </p:nvSpPr>
        <p:spPr>
          <a:xfrm>
            <a:off x="3379470" y="3170555"/>
            <a:ext cx="8138160" cy="497841"/>
          </a:xfrm>
          <a:prstGeom prst="rect">
            <a:avLst/>
          </a:prstGeom>
          <a:ln w="12700">
            <a:miter lim="400000"/>
          </a:ln>
          <a:extLst>
            <a:ext uri="{C572A759-6A51-4108-AA02-DFA0A04FC94B}">
              <ma14:wrappingTextBoxFlag xmlns:ma14="http://schemas.microsoft.com/office/mac/drawingml/2011/main" val="1"/>
            </a:ext>
          </a:extLst>
        </p:spPr>
        <p:txBody>
          <a:bodyPr lIns="45719" rIns="45719" anchor="ctr">
            <a:spAutoFit/>
          </a:bodyPr>
          <a:lstStyle>
            <a:lvl1pPr>
              <a:defRPr sz="1300">
                <a:solidFill>
                  <a:srgbClr val="F7FBFD"/>
                </a:solidFill>
                <a:latin typeface="Aptos"/>
                <a:ea typeface="Aptos"/>
                <a:cs typeface="Aptos"/>
                <a:sym typeface="Aptos"/>
              </a:defRPr>
            </a:lvl1pPr>
          </a:lstStyle>
          <a:p>
            <a:pPr/>
            <a:r>
              <a:t>Ephemeral Linux microVMs with read-only mounts and networking off by default. Mac-first and security focused.</a:t>
            </a:r>
          </a:p>
        </p:txBody>
      </p:sp>
      <p:sp>
        <p:nvSpPr>
          <p:cNvPr id="144" name="desktop-divider"/>
          <p:cNvSpPr/>
          <p:nvPr/>
        </p:nvSpPr>
        <p:spPr>
          <a:xfrm>
            <a:off x="552450" y="3771900"/>
            <a:ext cx="11087100" cy="14288"/>
          </a:xfrm>
          <a:prstGeom prst="rect">
            <a:avLst/>
          </a:prstGeom>
          <a:solidFill>
            <a:srgbClr val="29434E"/>
          </a:solidFill>
          <a:ln w="12700">
            <a:miter lim="400000"/>
          </a:ln>
        </p:spPr>
        <p:txBody>
          <a:bodyPr lIns="0" tIns="0" rIns="0" bIns="0"/>
          <a:lstStyle/>
          <a:p>
            <a:pPr/>
          </a:p>
        </p:txBody>
      </p:sp>
      <p:sp>
        <p:nvSpPr>
          <p:cNvPr id="145" name="desktop-label"/>
          <p:cNvSpPr txBox="1"/>
          <p:nvPr/>
        </p:nvSpPr>
        <p:spPr>
          <a:xfrm>
            <a:off x="655319" y="3957955"/>
            <a:ext cx="2289812" cy="332740"/>
          </a:xfrm>
          <a:prstGeom prst="rect">
            <a:avLst/>
          </a:prstGeom>
          <a:ln w="12700">
            <a:miter lim="400000"/>
          </a:ln>
          <a:extLst>
            <a:ext uri="{C572A759-6A51-4108-AA02-DFA0A04FC94B}">
              <ma14:wrappingTextBoxFlag xmlns:ma14="http://schemas.microsoft.com/office/mac/drawingml/2011/main" val="1"/>
            </a:ext>
          </a:extLst>
        </p:spPr>
        <p:txBody>
          <a:bodyPr lIns="45719" rIns="45719" anchor="ctr">
            <a:spAutoFit/>
          </a:bodyPr>
          <a:lstStyle>
            <a:lvl1pPr>
              <a:defRPr b="1" sz="1600">
                <a:solidFill>
                  <a:srgbClr val="2496ED"/>
                </a:solidFill>
                <a:latin typeface="Aptos"/>
                <a:ea typeface="Aptos"/>
                <a:cs typeface="Aptos"/>
                <a:sym typeface="Aptos"/>
              </a:defRPr>
            </a:lvl1pPr>
          </a:lstStyle>
          <a:p>
            <a:pPr/>
            <a:r>
              <a:t>Parallels Desktop</a:t>
            </a:r>
          </a:p>
        </p:txBody>
      </p:sp>
      <p:sp>
        <p:nvSpPr>
          <p:cNvPr id="146" name="desktop-description"/>
          <p:cNvSpPr txBox="1"/>
          <p:nvPr/>
        </p:nvSpPr>
        <p:spPr>
          <a:xfrm>
            <a:off x="3379470" y="3875405"/>
            <a:ext cx="8138160" cy="497841"/>
          </a:xfrm>
          <a:prstGeom prst="rect">
            <a:avLst/>
          </a:prstGeom>
          <a:ln w="12700">
            <a:miter lim="400000"/>
          </a:ln>
          <a:extLst>
            <a:ext uri="{C572A759-6A51-4108-AA02-DFA0A04FC94B}">
              <ma14:wrappingTextBoxFlag xmlns:ma14="http://schemas.microsoft.com/office/mac/drawingml/2011/main" val="1"/>
            </a:ext>
          </a:extLst>
        </p:spPr>
        <p:txBody>
          <a:bodyPr lIns="45719" rIns="45719" anchor="ctr">
            <a:spAutoFit/>
          </a:bodyPr>
          <a:lstStyle>
            <a:lvl1pPr>
              <a:defRPr sz="1300">
                <a:solidFill>
                  <a:srgbClr val="F7FBFD"/>
                </a:solidFill>
                <a:latin typeface="Aptos"/>
                <a:ea typeface="Aptos"/>
                <a:cs typeface="Aptos"/>
                <a:sym typeface="Aptos"/>
              </a:defRPr>
            </a:lvl1pPr>
          </a:lstStyle>
          <a:p>
            <a:pPr/>
            <a:r>
              <a:t>Cloned macOS, Windows and Linux desktops. Disable host folders, clipboard and app sharing for agent isolation.</a:t>
            </a:r>
          </a:p>
        </p:txBody>
      </p:sp>
      <p:sp>
        <p:nvSpPr>
          <p:cNvPr id="147" name="desktop-option-name-5"/>
          <p:cNvSpPr txBox="1"/>
          <p:nvPr/>
        </p:nvSpPr>
        <p:spPr>
          <a:xfrm>
            <a:off x="655319" y="4662805"/>
            <a:ext cx="2289812" cy="332740"/>
          </a:xfrm>
          <a:prstGeom prst="rect">
            <a:avLst/>
          </a:prstGeom>
          <a:ln w="12700">
            <a:miter lim="400000"/>
          </a:ln>
          <a:extLst>
            <a:ext uri="{C572A759-6A51-4108-AA02-DFA0A04FC94B}">
              <ma14:wrappingTextBoxFlag xmlns:ma14="http://schemas.microsoft.com/office/mac/drawingml/2011/main" val="1"/>
            </a:ext>
          </a:extLst>
        </p:spPr>
        <p:txBody>
          <a:bodyPr lIns="45719" rIns="45719" anchor="ctr">
            <a:spAutoFit/>
          </a:bodyPr>
          <a:lstStyle>
            <a:lvl1pPr>
              <a:defRPr b="1" sz="1600">
                <a:solidFill>
                  <a:srgbClr val="2496ED"/>
                </a:solidFill>
                <a:latin typeface="Aptos"/>
                <a:ea typeface="Aptos"/>
                <a:cs typeface="Aptos"/>
                <a:sym typeface="Aptos"/>
              </a:defRPr>
            </a:lvl1pPr>
          </a:lstStyle>
          <a:p>
            <a:pPr/>
            <a:r>
              <a:t>Cua + Lume</a:t>
            </a:r>
          </a:p>
        </p:txBody>
      </p:sp>
      <p:sp>
        <p:nvSpPr>
          <p:cNvPr id="148" name="desktop-option-description-5"/>
          <p:cNvSpPr txBox="1"/>
          <p:nvPr/>
        </p:nvSpPr>
        <p:spPr>
          <a:xfrm>
            <a:off x="3379470" y="4681854"/>
            <a:ext cx="8138160" cy="294641"/>
          </a:xfrm>
          <a:prstGeom prst="rect">
            <a:avLst/>
          </a:prstGeom>
          <a:ln w="12700">
            <a:miter lim="400000"/>
          </a:ln>
          <a:extLst>
            <a:ext uri="{C572A759-6A51-4108-AA02-DFA0A04FC94B}">
              <ma14:wrappingTextBoxFlag xmlns:ma14="http://schemas.microsoft.com/office/mac/drawingml/2011/main" val="1"/>
            </a:ext>
          </a:extLst>
        </p:spPr>
        <p:txBody>
          <a:bodyPr lIns="45719" rIns="45719" anchor="ctr">
            <a:spAutoFit/>
          </a:bodyPr>
          <a:lstStyle>
            <a:lvl1pPr>
              <a:defRPr sz="1300">
                <a:solidFill>
                  <a:srgbClr val="F7FBFD"/>
                </a:solidFill>
                <a:latin typeface="Aptos"/>
                <a:ea typeface="Aptos"/>
                <a:cs typeface="Aptos"/>
                <a:sym typeface="Aptos"/>
              </a:defRPr>
            </a:lvl1pPr>
          </a:lstStyle>
          <a:p>
            <a:pPr/>
            <a:r>
              <a:t>Local macOS and Linux VMs with screenshot, mouse and keyboard APIs for computer-use agents.</a:t>
            </a:r>
          </a:p>
        </p:txBody>
      </p:sp>
      <p:sp>
        <p:nvSpPr>
          <p:cNvPr id="149" name="desktop-option-name-6"/>
          <p:cNvSpPr txBox="1"/>
          <p:nvPr/>
        </p:nvSpPr>
        <p:spPr>
          <a:xfrm>
            <a:off x="655319" y="5367655"/>
            <a:ext cx="2289812" cy="332740"/>
          </a:xfrm>
          <a:prstGeom prst="rect">
            <a:avLst/>
          </a:prstGeom>
          <a:ln w="12700">
            <a:miter lim="400000"/>
          </a:ln>
          <a:extLst>
            <a:ext uri="{C572A759-6A51-4108-AA02-DFA0A04FC94B}">
              <ma14:wrappingTextBoxFlag xmlns:ma14="http://schemas.microsoft.com/office/mac/drawingml/2011/main" val="1"/>
            </a:ext>
          </a:extLst>
        </p:spPr>
        <p:txBody>
          <a:bodyPr lIns="45719" rIns="45719" anchor="ctr">
            <a:spAutoFit/>
          </a:bodyPr>
          <a:lstStyle>
            <a:lvl1pPr>
              <a:defRPr b="1" sz="1600">
                <a:solidFill>
                  <a:srgbClr val="2496ED"/>
                </a:solidFill>
                <a:latin typeface="Aptos"/>
                <a:ea typeface="Aptos"/>
                <a:cs typeface="Aptos"/>
                <a:sym typeface="Aptos"/>
              </a:defRPr>
            </a:lvl1pPr>
          </a:lstStyle>
          <a:p>
            <a:pPr/>
            <a:r>
              <a:t>Tart</a:t>
            </a:r>
          </a:p>
        </p:txBody>
      </p:sp>
      <p:sp>
        <p:nvSpPr>
          <p:cNvPr id="150" name="desktop-option-description-6"/>
          <p:cNvSpPr txBox="1"/>
          <p:nvPr/>
        </p:nvSpPr>
        <p:spPr>
          <a:xfrm>
            <a:off x="3379470" y="5285105"/>
            <a:ext cx="8138160" cy="497841"/>
          </a:xfrm>
          <a:prstGeom prst="rect">
            <a:avLst/>
          </a:prstGeom>
          <a:ln w="12700">
            <a:miter lim="400000"/>
          </a:ln>
          <a:extLst>
            <a:ext uri="{C572A759-6A51-4108-AA02-DFA0A04FC94B}">
              <ma14:wrappingTextBoxFlag xmlns:ma14="http://schemas.microsoft.com/office/mac/drawingml/2011/main" val="1"/>
            </a:ext>
          </a:extLst>
        </p:spPr>
        <p:txBody>
          <a:bodyPr lIns="45719" rIns="45719" anchor="ctr">
            <a:spAutoFit/>
          </a:bodyPr>
          <a:lstStyle>
            <a:lvl1pPr>
              <a:defRPr sz="1300">
                <a:solidFill>
                  <a:srgbClr val="F7FBFD"/>
                </a:solidFill>
                <a:latin typeface="Aptos"/>
                <a:ea typeface="Aptos"/>
                <a:cs typeface="Aptos"/>
                <a:sym typeface="Aptos"/>
              </a:defRPr>
            </a:lvl1pPr>
          </a:lstStyle>
          <a:p>
            <a:pPr/>
            <a:r>
              <a:t>Automatable macOS and Linux VMs on Apple silicon. Strong for cloning and CI. Desktop control needs extra tooling.</a:t>
            </a:r>
          </a:p>
        </p:txBody>
      </p:sp>
      <p:sp>
        <p:nvSpPr>
          <p:cNvPr id="151" name="desktop-option-name-7"/>
          <p:cNvSpPr txBox="1"/>
          <p:nvPr/>
        </p:nvSpPr>
        <p:spPr>
          <a:xfrm>
            <a:off x="655319" y="6072505"/>
            <a:ext cx="2289812" cy="332740"/>
          </a:xfrm>
          <a:prstGeom prst="rect">
            <a:avLst/>
          </a:prstGeom>
          <a:ln w="12700">
            <a:miter lim="400000"/>
          </a:ln>
          <a:extLst>
            <a:ext uri="{C572A759-6A51-4108-AA02-DFA0A04FC94B}">
              <ma14:wrappingTextBoxFlag xmlns:ma14="http://schemas.microsoft.com/office/mac/drawingml/2011/main" val="1"/>
            </a:ext>
          </a:extLst>
        </p:spPr>
        <p:txBody>
          <a:bodyPr lIns="45719" rIns="45719" anchor="ctr">
            <a:spAutoFit/>
          </a:bodyPr>
          <a:lstStyle>
            <a:lvl1pPr>
              <a:defRPr b="1" sz="1600">
                <a:solidFill>
                  <a:srgbClr val="2496ED"/>
                </a:solidFill>
                <a:latin typeface="Aptos"/>
                <a:ea typeface="Aptos"/>
                <a:cs typeface="Aptos"/>
                <a:sym typeface="Aptos"/>
              </a:defRPr>
            </a:lvl1pPr>
          </a:lstStyle>
          <a:p>
            <a:pPr/>
            <a:r>
              <a:t>Windows Sandbox</a:t>
            </a:r>
          </a:p>
        </p:txBody>
      </p:sp>
      <p:sp>
        <p:nvSpPr>
          <p:cNvPr id="152" name="desktop-option-description-7"/>
          <p:cNvSpPr txBox="1"/>
          <p:nvPr/>
        </p:nvSpPr>
        <p:spPr>
          <a:xfrm>
            <a:off x="3379470" y="6091554"/>
            <a:ext cx="8138160" cy="294641"/>
          </a:xfrm>
          <a:prstGeom prst="rect">
            <a:avLst/>
          </a:prstGeom>
          <a:ln w="12700">
            <a:miter lim="400000"/>
          </a:ln>
          <a:extLst>
            <a:ext uri="{C572A759-6A51-4108-AA02-DFA0A04FC94B}">
              <ma14:wrappingTextBoxFlag xmlns:ma14="http://schemas.microsoft.com/office/mac/drawingml/2011/main" val="1"/>
            </a:ext>
          </a:extLst>
        </p:spPr>
        <p:txBody>
          <a:bodyPr lIns="45719" rIns="45719" anchor="ctr">
            <a:spAutoFit/>
          </a:bodyPr>
          <a:lstStyle>
            <a:lvl1pPr>
              <a:defRPr sz="1300">
                <a:solidFill>
                  <a:srgbClr val="F7FBFD"/>
                </a:solidFill>
                <a:latin typeface="Aptos"/>
                <a:ea typeface="Aptos"/>
                <a:cs typeface="Aptos"/>
                <a:sym typeface="Aptos"/>
              </a:defRPr>
            </a:lvl1pPr>
          </a:lstStyle>
          <a:p>
            <a:pPr/>
            <a:r>
              <a:t>Disposable Windows desktop that resets when closed. Restrict networking, clipboard and mapped folders.</a:t>
            </a:r>
          </a:p>
        </p:txBody>
      </p:sp>
      <p:sp>
        <p:nvSpPr>
          <p:cNvPr id="153" name="desktop-option-divider-4"/>
          <p:cNvSpPr/>
          <p:nvPr/>
        </p:nvSpPr>
        <p:spPr>
          <a:xfrm>
            <a:off x="552450" y="4476750"/>
            <a:ext cx="11087100" cy="14288"/>
          </a:xfrm>
          <a:prstGeom prst="rect">
            <a:avLst/>
          </a:prstGeom>
          <a:solidFill>
            <a:srgbClr val="29434E"/>
          </a:solidFill>
          <a:ln w="12700">
            <a:miter lim="400000"/>
          </a:ln>
        </p:spPr>
        <p:txBody>
          <a:bodyPr lIns="0" tIns="0" rIns="0" bIns="0"/>
          <a:lstStyle/>
          <a:p>
            <a:pPr/>
          </a:p>
        </p:txBody>
      </p:sp>
      <p:sp>
        <p:nvSpPr>
          <p:cNvPr id="154" name="desktop-option-divider-5"/>
          <p:cNvSpPr/>
          <p:nvPr/>
        </p:nvSpPr>
        <p:spPr>
          <a:xfrm>
            <a:off x="552450" y="5181600"/>
            <a:ext cx="11087100" cy="14288"/>
          </a:xfrm>
          <a:prstGeom prst="rect">
            <a:avLst/>
          </a:prstGeom>
          <a:solidFill>
            <a:srgbClr val="29434E"/>
          </a:solidFill>
          <a:ln w="12700">
            <a:miter lim="400000"/>
          </a:ln>
        </p:spPr>
        <p:txBody>
          <a:bodyPr lIns="0" tIns="0" rIns="0" bIns="0"/>
          <a:lstStyle/>
          <a:p>
            <a:pPr/>
          </a:p>
        </p:txBody>
      </p:sp>
      <p:sp>
        <p:nvSpPr>
          <p:cNvPr id="155" name="desktop-option-divider-6"/>
          <p:cNvSpPr/>
          <p:nvPr/>
        </p:nvSpPr>
        <p:spPr>
          <a:xfrm>
            <a:off x="552450" y="5886450"/>
            <a:ext cx="11087100" cy="14288"/>
          </a:xfrm>
          <a:prstGeom prst="rect">
            <a:avLst/>
          </a:prstGeom>
          <a:solidFill>
            <a:srgbClr val="29434E"/>
          </a:solidFill>
          <a:ln w="12700">
            <a:miter lim="400000"/>
          </a:ln>
        </p:spPr>
        <p:txBody>
          <a:bodyPr lIns="0" tIns="0" rIns="0" bIns="0"/>
          <a:lstStyle/>
          <a:p>
            <a:pPr/>
          </a:p>
        </p:txBody>
      </p:sp>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06131B"/>
        </a:solidFill>
      </p:bgPr>
    </p:bg>
    <p:spTree>
      <p:nvGrpSpPr>
        <p:cNvPr id="1" name=""/>
        <p:cNvGrpSpPr/>
        <p:nvPr/>
      </p:nvGrpSpPr>
      <p:grpSpPr>
        <a:xfrm>
          <a:off x="0" y="0"/>
          <a:ext cx="0" cy="0"/>
          <a:chOff x="0" y="0"/>
          <a:chExt cx="0" cy="0"/>
        </a:xfrm>
      </p:grpSpPr>
      <p:sp>
        <p:nvSpPr>
          <p:cNvPr id="159" name="template-title"/>
          <p:cNvSpPr txBox="1"/>
          <p:nvPr/>
        </p:nvSpPr>
        <p:spPr>
          <a:xfrm>
            <a:off x="552450" y="819150"/>
            <a:ext cx="11087100" cy="7239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normAutofit fontScale="100000" lnSpcReduction="0"/>
          </a:bodyPr>
          <a:lstStyle>
            <a:lvl1pPr>
              <a:lnSpc>
                <a:spcPct val="95000"/>
              </a:lnSpc>
              <a:defRPr b="1" sz="3300">
                <a:solidFill>
                  <a:srgbClr val="F7FBFD"/>
                </a:solidFill>
                <a:latin typeface="Aptos Display"/>
                <a:ea typeface="Aptos Display"/>
                <a:cs typeface="Aptos Display"/>
                <a:sym typeface="Aptos Display"/>
              </a:defRPr>
            </a:lvl1pPr>
          </a:lstStyle>
          <a:p>
            <a:pPr/>
            <a:r>
              <a:t>Local vs. cloud agent sandboxes</a:t>
            </a:r>
          </a:p>
        </p:txBody>
      </p:sp>
      <p:sp>
        <p:nvSpPr>
          <p:cNvPr id="160" name="section-label-2"/>
          <p:cNvSpPr txBox="1"/>
          <p:nvPr/>
        </p:nvSpPr>
        <p:spPr>
          <a:xfrm>
            <a:off x="3284218" y="295275"/>
            <a:ext cx="5242565" cy="2311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900">
                <a:solidFill>
                  <a:srgbClr val="91A7B1"/>
                </a:solidFill>
                <a:latin typeface="Aptos"/>
                <a:ea typeface="Aptos"/>
                <a:cs typeface="Aptos"/>
                <a:sym typeface="Aptos"/>
              </a:defRPr>
            </a:lvl1pPr>
          </a:lstStyle>
          <a:p>
            <a:pPr/>
            <a:r>
              <a:t>DEPLOYMENT + PROTECTION</a:t>
            </a:r>
          </a:p>
        </p:txBody>
      </p:sp>
      <p:sp>
        <p:nvSpPr>
          <p:cNvPr id="161" name="top-accent-1"/>
          <p:cNvSpPr/>
          <p:nvPr/>
        </p:nvSpPr>
        <p:spPr>
          <a:xfrm>
            <a:off x="552450" y="209550"/>
            <a:ext cx="2514600" cy="457200"/>
          </a:xfrm>
          <a:prstGeom prst="roundRect">
            <a:avLst>
              <a:gd name="adj" fmla="val 16667"/>
            </a:avLst>
          </a:prstGeom>
          <a:gradFill>
            <a:gsLst>
              <a:gs pos="0">
                <a:srgbClr val="FFFFFF"/>
              </a:gs>
              <a:gs pos="42000">
                <a:srgbClr val="FFFFFF">
                  <a:alpha val="94000"/>
                </a:srgbClr>
              </a:gs>
              <a:gs pos="100000">
                <a:srgbClr val="FFFFFF">
                  <a:alpha val="0"/>
                </a:srgbClr>
              </a:gs>
            </a:gsLst>
          </a:gradFill>
          <a:ln w="12700">
            <a:miter lim="400000"/>
          </a:ln>
        </p:spPr>
        <p:txBody>
          <a:bodyPr lIns="0" tIns="0" rIns="0" bIns="0"/>
          <a:lstStyle/>
          <a:p>
            <a:pPr>
              <a:defRPr>
                <a:latin typeface="Calibri"/>
                <a:ea typeface="Calibri"/>
                <a:cs typeface="Calibri"/>
                <a:sym typeface="Calibri"/>
              </a:defRPr>
            </a:pPr>
          </a:p>
        </p:txBody>
      </p:sp>
      <p:sp>
        <p:nvSpPr>
          <p:cNvPr id="162" name="deck-label-1"/>
          <p:cNvSpPr txBox="1"/>
          <p:nvPr/>
        </p:nvSpPr>
        <p:spPr>
          <a:xfrm>
            <a:off x="1123950" y="304800"/>
            <a:ext cx="1714500" cy="2286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normAutofit fontScale="100000" lnSpcReduction="0"/>
          </a:bodyPr>
          <a:lstStyle>
            <a:lvl1pPr>
              <a:defRPr b="1" sz="1000">
                <a:solidFill>
                  <a:srgbClr val="2496ED"/>
                </a:solidFill>
                <a:latin typeface="Aptos Display"/>
                <a:ea typeface="Aptos Display"/>
                <a:cs typeface="Aptos Display"/>
                <a:sym typeface="Aptos Display"/>
              </a:defRPr>
            </a:lvl1pPr>
          </a:lstStyle>
          <a:p>
            <a:pPr/>
            <a:r>
              <a:t>DOCKER SANDBOX</a:t>
            </a:r>
          </a:p>
        </p:txBody>
      </p:sp>
      <p:pic>
        <p:nvPicPr>
          <p:cNvPr id="163" name="docker-mark-1" descr="docker-mark-1"/>
          <p:cNvPicPr>
            <a:picLocks noChangeAspect="1"/>
          </p:cNvPicPr>
          <p:nvPr/>
        </p:nvPicPr>
        <p:blipFill>
          <a:blip r:embed="rId3">
            <a:extLst/>
          </a:blip>
          <a:stretch>
            <a:fillRect/>
          </a:stretch>
        </p:blipFill>
        <p:spPr>
          <a:xfrm>
            <a:off x="654684" y="257175"/>
            <a:ext cx="386083" cy="304800"/>
          </a:xfrm>
          <a:prstGeom prst="rect">
            <a:avLst/>
          </a:prstGeom>
          <a:ln w="12700">
            <a:miter lim="400000"/>
          </a:ln>
        </p:spPr>
      </p:pic>
      <p:sp>
        <p:nvSpPr>
          <p:cNvPr id="164" name="Local agent sandboxes"/>
          <p:cNvSpPr txBox="1"/>
          <p:nvPr/>
        </p:nvSpPr>
        <p:spPr>
          <a:xfrm>
            <a:off x="655319" y="1743075"/>
            <a:ext cx="5147311" cy="42164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2200">
                <a:solidFill>
                  <a:srgbClr val="2496ED"/>
                </a:solidFill>
                <a:latin typeface="Aptos"/>
                <a:ea typeface="Aptos"/>
                <a:cs typeface="Aptos"/>
                <a:sym typeface="Aptos"/>
              </a:defRPr>
            </a:lvl1pPr>
          </a:lstStyle>
          <a:p>
            <a:pPr/>
            <a:r>
              <a:t>Local agent sandboxes</a:t>
            </a:r>
          </a:p>
        </p:txBody>
      </p:sp>
      <p:sp>
        <p:nvSpPr>
          <p:cNvPr id="165" name="Rectangle"/>
          <p:cNvSpPr/>
          <p:nvPr/>
        </p:nvSpPr>
        <p:spPr>
          <a:xfrm>
            <a:off x="609600" y="2200275"/>
            <a:ext cx="5181600" cy="19050"/>
          </a:xfrm>
          <a:prstGeom prst="rect">
            <a:avLst/>
          </a:prstGeom>
          <a:solidFill>
            <a:srgbClr val="2496ED"/>
          </a:solidFill>
          <a:ln w="12700">
            <a:miter lim="400000"/>
          </a:ln>
        </p:spPr>
        <p:txBody>
          <a:bodyPr lIns="0" tIns="0" rIns="0" bIns="0"/>
          <a:lstStyle/>
          <a:p>
            <a:pPr/>
          </a:p>
        </p:txBody>
      </p:sp>
      <p:sp>
        <p:nvSpPr>
          <p:cNvPr id="166" name="Local agent sandboxes products label"/>
          <p:cNvSpPr txBox="1"/>
          <p:nvPr/>
        </p:nvSpPr>
        <p:spPr>
          <a:xfrm>
            <a:off x="655319" y="2381250"/>
            <a:ext cx="5090161" cy="24384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1000">
                <a:solidFill>
                  <a:srgbClr val="91A7B1"/>
                </a:solidFill>
                <a:latin typeface="Aptos"/>
                <a:ea typeface="Aptos"/>
                <a:cs typeface="Aptos"/>
                <a:sym typeface="Aptos"/>
              </a:defRPr>
            </a:lvl1pPr>
          </a:lstStyle>
          <a:p>
            <a:pPr/>
            <a:r>
              <a:t>EXAMPLES</a:t>
            </a:r>
          </a:p>
        </p:txBody>
      </p:sp>
      <p:sp>
        <p:nvSpPr>
          <p:cNvPr id="167" name="Local agent sandboxes products"/>
          <p:cNvSpPr txBox="1"/>
          <p:nvPr/>
        </p:nvSpPr>
        <p:spPr>
          <a:xfrm>
            <a:off x="655319" y="2676525"/>
            <a:ext cx="5090161" cy="65024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defRPr>
                <a:solidFill>
                  <a:srgbClr val="F7FBFD"/>
                </a:solidFill>
                <a:latin typeface="Aptos"/>
                <a:ea typeface="Aptos"/>
                <a:cs typeface="Aptos"/>
                <a:sym typeface="Aptos"/>
              </a:defRPr>
            </a:pPr>
            <a:r>
              <a:t>Docker Sandboxes, Microsandbox,</a:t>
            </a:r>
          </a:p>
          <a:p>
            <a:pPr>
              <a:defRPr>
                <a:solidFill>
                  <a:srgbClr val="F7FBFD"/>
                </a:solidFill>
                <a:latin typeface="Aptos"/>
                <a:ea typeface="Aptos"/>
                <a:cs typeface="Aptos"/>
                <a:sym typeface="Aptos"/>
              </a:defRPr>
            </a:pPr>
            <a:r>
              <a:t>BoxLite</a:t>
            </a:r>
          </a:p>
        </p:txBody>
      </p:sp>
      <p:sp>
        <p:nvSpPr>
          <p:cNvPr id="168" name="Local agent sandboxes use label"/>
          <p:cNvSpPr txBox="1"/>
          <p:nvPr/>
        </p:nvSpPr>
        <p:spPr>
          <a:xfrm>
            <a:off x="655319" y="3448050"/>
            <a:ext cx="5090161" cy="24384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1000">
                <a:solidFill>
                  <a:srgbClr val="91A7B1"/>
                </a:solidFill>
                <a:latin typeface="Aptos"/>
                <a:ea typeface="Aptos"/>
                <a:cs typeface="Aptos"/>
                <a:sym typeface="Aptos"/>
              </a:defRPr>
            </a:lvl1pPr>
          </a:lstStyle>
          <a:p>
            <a:pPr/>
            <a:r>
              <a:t>USE CASE</a:t>
            </a:r>
          </a:p>
        </p:txBody>
      </p:sp>
      <p:sp>
        <p:nvSpPr>
          <p:cNvPr id="169" name="Local agent sandboxes use"/>
          <p:cNvSpPr txBox="1"/>
          <p:nvPr/>
        </p:nvSpPr>
        <p:spPr>
          <a:xfrm>
            <a:off x="655319" y="3724275"/>
            <a:ext cx="5090161" cy="37084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a:solidFill>
                  <a:srgbClr val="F7FBFD"/>
                </a:solidFill>
                <a:latin typeface="Aptos"/>
                <a:ea typeface="Aptos"/>
                <a:cs typeface="Aptos"/>
                <a:sym typeface="Aptos"/>
              </a:defRPr>
            </a:lvl1pPr>
          </a:lstStyle>
          <a:p>
            <a:pPr/>
            <a:r>
              <a:t>Run locally on your own machine</a:t>
            </a:r>
          </a:p>
        </p:txBody>
      </p:sp>
      <p:sp>
        <p:nvSpPr>
          <p:cNvPr id="170" name="Local agent sandboxes protection label"/>
          <p:cNvSpPr txBox="1"/>
          <p:nvPr/>
        </p:nvSpPr>
        <p:spPr>
          <a:xfrm>
            <a:off x="655319" y="4343400"/>
            <a:ext cx="5090161" cy="24384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1000">
                <a:solidFill>
                  <a:srgbClr val="91A7B1"/>
                </a:solidFill>
                <a:latin typeface="Aptos"/>
                <a:ea typeface="Aptos"/>
                <a:cs typeface="Aptos"/>
                <a:sym typeface="Aptos"/>
              </a:defRPr>
            </a:lvl1pPr>
          </a:lstStyle>
          <a:p>
            <a:pPr/>
            <a:r>
              <a:t>PROTECTION GOALS</a:t>
            </a:r>
          </a:p>
        </p:txBody>
      </p:sp>
      <p:sp>
        <p:nvSpPr>
          <p:cNvPr id="171" name="Local agent sandboxes risk 0"/>
          <p:cNvSpPr txBox="1"/>
          <p:nvPr/>
        </p:nvSpPr>
        <p:spPr>
          <a:xfrm>
            <a:off x="655319" y="4676775"/>
            <a:ext cx="5090161" cy="37084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a:solidFill>
                  <a:srgbClr val="F7FBFD"/>
                </a:solidFill>
                <a:latin typeface="Aptos"/>
                <a:ea typeface="Aptos"/>
                <a:cs typeface="Aptos"/>
                <a:sym typeface="Aptos"/>
              </a:defRPr>
            </a:lvl1pPr>
          </a:lstStyle>
          <a:p>
            <a:pPr/>
            <a:r>
              <a:t>Destructive system actions</a:t>
            </a:r>
          </a:p>
        </p:txBody>
      </p:sp>
      <p:sp>
        <p:nvSpPr>
          <p:cNvPr id="172" name="Local agent sandboxes risk 1"/>
          <p:cNvSpPr txBox="1"/>
          <p:nvPr/>
        </p:nvSpPr>
        <p:spPr>
          <a:xfrm>
            <a:off x="655319" y="5048250"/>
            <a:ext cx="5090161" cy="37084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a:solidFill>
                  <a:srgbClr val="F7FBFD"/>
                </a:solidFill>
                <a:latin typeface="Aptos"/>
                <a:ea typeface="Aptos"/>
                <a:cs typeface="Aptos"/>
                <a:sym typeface="Aptos"/>
              </a:defRPr>
            </a:lvl1pPr>
          </a:lstStyle>
          <a:p>
            <a:pPr/>
            <a:r>
              <a:t>Secret or browser login leaks</a:t>
            </a:r>
          </a:p>
        </p:txBody>
      </p:sp>
      <p:sp>
        <p:nvSpPr>
          <p:cNvPr id="173" name="Local agent sandboxes risk 2"/>
          <p:cNvSpPr txBox="1"/>
          <p:nvPr/>
        </p:nvSpPr>
        <p:spPr>
          <a:xfrm>
            <a:off x="655319" y="5419725"/>
            <a:ext cx="5090161" cy="37084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a:solidFill>
                  <a:srgbClr val="F7FBFD"/>
                </a:solidFill>
                <a:latin typeface="Aptos"/>
                <a:ea typeface="Aptos"/>
                <a:cs typeface="Aptos"/>
                <a:sym typeface="Aptos"/>
              </a:defRPr>
            </a:lvl1pPr>
          </a:lstStyle>
          <a:p>
            <a:pPr/>
            <a:r>
              <a:t>Reads of sensitive host data</a:t>
            </a:r>
          </a:p>
        </p:txBody>
      </p:sp>
      <p:sp>
        <p:nvSpPr>
          <p:cNvPr id="174" name="Local agent sandboxes risk 3"/>
          <p:cNvSpPr txBox="1"/>
          <p:nvPr/>
        </p:nvSpPr>
        <p:spPr>
          <a:xfrm>
            <a:off x="655319" y="5791200"/>
            <a:ext cx="5090161" cy="37084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a:solidFill>
                  <a:srgbClr val="F7FBFD"/>
                </a:solidFill>
                <a:latin typeface="Aptos"/>
                <a:ea typeface="Aptos"/>
                <a:cs typeface="Aptos"/>
                <a:sym typeface="Aptos"/>
              </a:defRPr>
            </a:lvl1pPr>
          </a:lstStyle>
          <a:p>
            <a:pPr/>
            <a:r>
              <a:t>Control of host applications</a:t>
            </a:r>
          </a:p>
        </p:txBody>
      </p:sp>
      <p:sp>
        <p:nvSpPr>
          <p:cNvPr id="175" name="Cloud agent sandboxes"/>
          <p:cNvSpPr txBox="1"/>
          <p:nvPr/>
        </p:nvSpPr>
        <p:spPr>
          <a:xfrm>
            <a:off x="6446520" y="1743075"/>
            <a:ext cx="5147310" cy="42164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2200">
                <a:solidFill>
                  <a:srgbClr val="2496ED"/>
                </a:solidFill>
                <a:latin typeface="Aptos"/>
                <a:ea typeface="Aptos"/>
                <a:cs typeface="Aptos"/>
                <a:sym typeface="Aptos"/>
              </a:defRPr>
            </a:lvl1pPr>
          </a:lstStyle>
          <a:p>
            <a:pPr/>
            <a:r>
              <a:t>Cloud agent sandboxes</a:t>
            </a:r>
          </a:p>
        </p:txBody>
      </p:sp>
      <p:sp>
        <p:nvSpPr>
          <p:cNvPr id="176" name="Rectangle"/>
          <p:cNvSpPr/>
          <p:nvPr/>
        </p:nvSpPr>
        <p:spPr>
          <a:xfrm>
            <a:off x="6400800" y="2200275"/>
            <a:ext cx="5181600" cy="19050"/>
          </a:xfrm>
          <a:prstGeom prst="rect">
            <a:avLst/>
          </a:prstGeom>
          <a:solidFill>
            <a:srgbClr val="2496ED"/>
          </a:solidFill>
          <a:ln w="12700">
            <a:miter lim="400000"/>
          </a:ln>
        </p:spPr>
        <p:txBody>
          <a:bodyPr lIns="0" tIns="0" rIns="0" bIns="0"/>
          <a:lstStyle/>
          <a:p>
            <a:pPr/>
          </a:p>
        </p:txBody>
      </p:sp>
      <p:sp>
        <p:nvSpPr>
          <p:cNvPr id="177" name="Cloud agent sandboxes products label"/>
          <p:cNvSpPr txBox="1"/>
          <p:nvPr/>
        </p:nvSpPr>
        <p:spPr>
          <a:xfrm>
            <a:off x="6446520" y="2381250"/>
            <a:ext cx="5090160" cy="24384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1000">
                <a:solidFill>
                  <a:srgbClr val="91A7B1"/>
                </a:solidFill>
                <a:latin typeface="Aptos"/>
                <a:ea typeface="Aptos"/>
                <a:cs typeface="Aptos"/>
                <a:sym typeface="Aptos"/>
              </a:defRPr>
            </a:lvl1pPr>
          </a:lstStyle>
          <a:p>
            <a:pPr/>
            <a:r>
              <a:t>EXAMPLES</a:t>
            </a:r>
          </a:p>
        </p:txBody>
      </p:sp>
      <p:sp>
        <p:nvSpPr>
          <p:cNvPr id="178" name="Cloud agent sandboxes products"/>
          <p:cNvSpPr txBox="1"/>
          <p:nvPr/>
        </p:nvSpPr>
        <p:spPr>
          <a:xfrm>
            <a:off x="6446520" y="2676525"/>
            <a:ext cx="5090160" cy="65024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defRPr>
                <a:solidFill>
                  <a:srgbClr val="F7FBFD"/>
                </a:solidFill>
                <a:latin typeface="Aptos"/>
                <a:ea typeface="Aptos"/>
                <a:cs typeface="Aptos"/>
                <a:sym typeface="Aptos"/>
              </a:defRPr>
            </a:pPr>
            <a:r>
              <a:t>AWS AgentCore Code Interpreter,</a:t>
            </a:r>
          </a:p>
          <a:p>
            <a:pPr>
              <a:defRPr>
                <a:solidFill>
                  <a:srgbClr val="F7FBFD"/>
                </a:solidFill>
                <a:latin typeface="Aptos"/>
                <a:ea typeface="Aptos"/>
                <a:cs typeface="Aptos"/>
                <a:sym typeface="Aptos"/>
              </a:defRPr>
            </a:pPr>
            <a:r>
              <a:t>E2B, Daytona</a:t>
            </a:r>
          </a:p>
        </p:txBody>
      </p:sp>
      <p:sp>
        <p:nvSpPr>
          <p:cNvPr id="179" name="Cloud agent sandboxes use label"/>
          <p:cNvSpPr txBox="1"/>
          <p:nvPr/>
        </p:nvSpPr>
        <p:spPr>
          <a:xfrm>
            <a:off x="6446520" y="3448050"/>
            <a:ext cx="5090160" cy="24384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1000">
                <a:solidFill>
                  <a:srgbClr val="91A7B1"/>
                </a:solidFill>
                <a:latin typeface="Aptos"/>
                <a:ea typeface="Aptos"/>
                <a:cs typeface="Aptos"/>
                <a:sym typeface="Aptos"/>
              </a:defRPr>
            </a:lvl1pPr>
          </a:lstStyle>
          <a:p>
            <a:pPr/>
            <a:r>
              <a:t>USE CASE</a:t>
            </a:r>
          </a:p>
        </p:txBody>
      </p:sp>
      <p:sp>
        <p:nvSpPr>
          <p:cNvPr id="180" name="Cloud agent sandboxes use"/>
          <p:cNvSpPr txBox="1"/>
          <p:nvPr/>
        </p:nvSpPr>
        <p:spPr>
          <a:xfrm>
            <a:off x="6446520" y="3724275"/>
            <a:ext cx="5090160" cy="37084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a:solidFill>
                  <a:srgbClr val="F7FBFD"/>
                </a:solidFill>
                <a:latin typeface="Aptos"/>
                <a:ea typeface="Aptos"/>
                <a:cs typeface="Aptos"/>
                <a:sym typeface="Aptos"/>
              </a:defRPr>
            </a:lvl1pPr>
          </a:lstStyle>
          <a:p>
            <a:pPr/>
            <a:r>
              <a:t>Run inside a cloud machine</a:t>
            </a:r>
          </a:p>
        </p:txBody>
      </p:sp>
      <p:sp>
        <p:nvSpPr>
          <p:cNvPr id="181" name="Cloud agent sandboxes protection label"/>
          <p:cNvSpPr txBox="1"/>
          <p:nvPr/>
        </p:nvSpPr>
        <p:spPr>
          <a:xfrm>
            <a:off x="6446520" y="4343400"/>
            <a:ext cx="5090160" cy="24384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1000">
                <a:solidFill>
                  <a:srgbClr val="91A7B1"/>
                </a:solidFill>
                <a:latin typeface="Aptos"/>
                <a:ea typeface="Aptos"/>
                <a:cs typeface="Aptos"/>
                <a:sym typeface="Aptos"/>
              </a:defRPr>
            </a:lvl1pPr>
          </a:lstStyle>
          <a:p>
            <a:pPr/>
            <a:r>
              <a:t>PROTECTION GOALS</a:t>
            </a:r>
          </a:p>
        </p:txBody>
      </p:sp>
      <p:sp>
        <p:nvSpPr>
          <p:cNvPr id="182" name="Cloud agent sandboxes risk 0"/>
          <p:cNvSpPr txBox="1"/>
          <p:nvPr/>
        </p:nvSpPr>
        <p:spPr>
          <a:xfrm>
            <a:off x="6446520" y="4676775"/>
            <a:ext cx="5090160" cy="37084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a:solidFill>
                  <a:srgbClr val="F7FBFD"/>
                </a:solidFill>
                <a:latin typeface="Aptos"/>
                <a:ea typeface="Aptos"/>
                <a:cs typeface="Aptos"/>
                <a:sym typeface="Aptos"/>
              </a:defRPr>
            </a:lvl1pPr>
          </a:lstStyle>
          <a:p>
            <a:pPr/>
            <a:r>
              <a:t>Remote code execution escaping the sandbox</a:t>
            </a:r>
          </a:p>
        </p:txBody>
      </p:sp>
      <p:sp>
        <p:nvSpPr>
          <p:cNvPr id="183" name="Cloud agent sandboxes risk 1"/>
          <p:cNvSpPr txBox="1"/>
          <p:nvPr/>
        </p:nvSpPr>
        <p:spPr>
          <a:xfrm>
            <a:off x="6446520" y="5048250"/>
            <a:ext cx="5090160" cy="37084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a:solidFill>
                  <a:srgbClr val="F7FBFD"/>
                </a:solidFill>
                <a:latin typeface="Aptos"/>
                <a:ea typeface="Aptos"/>
                <a:cs typeface="Aptos"/>
                <a:sym typeface="Aptos"/>
              </a:defRPr>
            </a:lvl1pPr>
          </a:lstStyle>
          <a:p>
            <a:pPr/>
            <a:r>
              <a:t>Access to the service’s cluster</a:t>
            </a:r>
          </a:p>
        </p:txBody>
      </p:sp>
      <p:sp>
        <p:nvSpPr>
          <p:cNvPr id="184" name="Cloud agent sandboxes risk 2"/>
          <p:cNvSpPr txBox="1"/>
          <p:nvPr/>
        </p:nvSpPr>
        <p:spPr>
          <a:xfrm>
            <a:off x="6446520" y="5419725"/>
            <a:ext cx="5090160" cy="37084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a:solidFill>
                  <a:srgbClr val="F7FBFD"/>
                </a:solidFill>
                <a:latin typeface="Aptos"/>
                <a:ea typeface="Aptos"/>
                <a:cs typeface="Aptos"/>
                <a:sym typeface="Aptos"/>
              </a:defRPr>
            </a:lvl1pPr>
          </a:lstStyle>
          <a:p>
            <a:pPr/>
            <a:r>
              <a:t>Access to internal logs or databases</a:t>
            </a:r>
          </a:p>
        </p:txBody>
      </p:sp>
      <p:sp>
        <p:nvSpPr>
          <p:cNvPr id="185" name="Cloud agent sandboxes risk 3"/>
          <p:cNvSpPr txBox="1"/>
          <p:nvPr/>
        </p:nvSpPr>
        <p:spPr>
          <a:xfrm>
            <a:off x="6446520" y="5791200"/>
            <a:ext cx="5090160" cy="37084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a:solidFill>
                  <a:srgbClr val="F7FBFD"/>
                </a:solidFill>
                <a:latin typeface="Aptos"/>
                <a:ea typeface="Aptos"/>
                <a:cs typeface="Aptos"/>
                <a:sym typeface="Aptos"/>
              </a:defRPr>
            </a:lvl1pPr>
          </a:lstStyle>
          <a:p>
            <a:pPr/>
            <a:r>
              <a:t>Forbidden actions via access policies</a:t>
            </a:r>
          </a:p>
        </p:txBody>
      </p: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06131B"/>
        </a:solidFill>
      </p:bgPr>
    </p:bg>
    <p:spTree>
      <p:nvGrpSpPr>
        <p:cNvPr id="1" name=""/>
        <p:cNvGrpSpPr/>
        <p:nvPr/>
      </p:nvGrpSpPr>
      <p:grpSpPr>
        <a:xfrm>
          <a:off x="0" y="0"/>
          <a:ext cx="0" cy="0"/>
          <a:chOff x="0" y="0"/>
          <a:chExt cx="0" cy="0"/>
        </a:xfrm>
      </p:grpSpPr>
      <p:sp>
        <p:nvSpPr>
          <p:cNvPr id="189" name="template-title"/>
          <p:cNvSpPr txBox="1"/>
          <p:nvPr/>
        </p:nvSpPr>
        <p:spPr>
          <a:xfrm>
            <a:off x="552450" y="819150"/>
            <a:ext cx="11087100" cy="7239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normAutofit fontScale="100000" lnSpcReduction="0"/>
          </a:bodyPr>
          <a:lstStyle>
            <a:lvl1pPr>
              <a:lnSpc>
                <a:spcPct val="95000"/>
              </a:lnSpc>
              <a:defRPr b="1" sz="3000">
                <a:solidFill>
                  <a:srgbClr val="F7FBFD"/>
                </a:solidFill>
                <a:latin typeface="Aptos Display"/>
                <a:ea typeface="Aptos Display"/>
                <a:cs typeface="Aptos Display"/>
                <a:sym typeface="Aptos Display"/>
              </a:defRPr>
            </a:lvl1pPr>
          </a:lstStyle>
          <a:p>
            <a:pPr/>
            <a:r>
              <a:t>Dockerfiles + dotfiles make the environment reproducible</a:t>
            </a:r>
          </a:p>
        </p:txBody>
      </p:sp>
      <p:sp>
        <p:nvSpPr>
          <p:cNvPr id="190" name="section-label-2"/>
          <p:cNvSpPr txBox="1"/>
          <p:nvPr/>
        </p:nvSpPr>
        <p:spPr>
          <a:xfrm>
            <a:off x="3284218" y="295275"/>
            <a:ext cx="5242565" cy="2311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900">
                <a:solidFill>
                  <a:srgbClr val="91A7B1"/>
                </a:solidFill>
                <a:latin typeface="Aptos"/>
                <a:ea typeface="Aptos"/>
                <a:cs typeface="Aptos"/>
                <a:sym typeface="Aptos"/>
              </a:defRPr>
            </a:lvl1pPr>
          </a:lstStyle>
          <a:p>
            <a:pPr/>
            <a:r>
              <a:t>DOCKER SANDBOX IN PRACTICE</a:t>
            </a:r>
          </a:p>
        </p:txBody>
      </p:sp>
      <p:sp>
        <p:nvSpPr>
          <p:cNvPr id="191" name="dotfiles-screenshot-outline"/>
          <p:cNvSpPr/>
          <p:nvPr/>
        </p:nvSpPr>
        <p:spPr>
          <a:xfrm>
            <a:off x="552450" y="1638300"/>
            <a:ext cx="2895600" cy="4581525"/>
          </a:xfrm>
          <a:prstGeom prst="roundRect">
            <a:avLst>
              <a:gd name="adj" fmla="val 2632"/>
            </a:avLst>
          </a:prstGeom>
          <a:ln>
            <a:solidFill>
              <a:srgbClr val="2496ED"/>
            </a:solidFill>
          </a:ln>
        </p:spPr>
        <p:txBody>
          <a:bodyPr lIns="0" tIns="0" rIns="0" bIns="0"/>
          <a:lstStyle/>
          <a:p>
            <a:pPr>
              <a:defRPr>
                <a:latin typeface="Calibri"/>
                <a:ea typeface="Calibri"/>
                <a:cs typeface="Calibri"/>
                <a:sym typeface="Calibri"/>
              </a:defRPr>
            </a:pPr>
          </a:p>
        </p:txBody>
      </p:sp>
      <p:pic>
        <p:nvPicPr>
          <p:cNvPr id="192" name="dotfiles-screenshot" descr="dotfiles-screenshot"/>
          <p:cNvPicPr>
            <a:picLocks noChangeAspect="1"/>
          </p:cNvPicPr>
          <p:nvPr/>
        </p:nvPicPr>
        <p:blipFill>
          <a:blip r:embed="rId3">
            <a:extLst/>
          </a:blip>
          <a:stretch>
            <a:fillRect/>
          </a:stretch>
        </p:blipFill>
        <p:spPr>
          <a:xfrm>
            <a:off x="1236677" y="1714500"/>
            <a:ext cx="1527149" cy="4429125"/>
          </a:xfrm>
          <a:prstGeom prst="rect">
            <a:avLst/>
          </a:prstGeom>
          <a:ln w="12700">
            <a:miter lim="400000"/>
          </a:ln>
        </p:spPr>
      </p:pic>
      <p:sp>
        <p:nvSpPr>
          <p:cNvPr id="193" name="dotfiles-bullets"/>
          <p:cNvSpPr txBox="1"/>
          <p:nvPr/>
        </p:nvSpPr>
        <p:spPr>
          <a:xfrm>
            <a:off x="3903345" y="1809750"/>
            <a:ext cx="7783898" cy="39014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marL="342910" indent="-342900">
              <a:spcBef>
                <a:spcPts val="1500"/>
              </a:spcBef>
              <a:buSzPct val="100000"/>
              <a:buFont typeface="Arial"/>
              <a:buChar char="•"/>
              <a:defRPr sz="2000">
                <a:solidFill>
                  <a:srgbClr val="F7FBFD"/>
                </a:solidFill>
                <a:latin typeface="Aptos"/>
                <a:ea typeface="Aptos"/>
                <a:cs typeface="Aptos"/>
                <a:sym typeface="Aptos"/>
              </a:defRPr>
            </a:pPr>
            <a:r>
              <a:t>Combine a Dockerfile with tracked dotfiles for a fully reproducible, portable, and safe development environment.</a:t>
            </a:r>
            <a:endParaRPr sz="1700"/>
          </a:p>
          <a:p>
            <a:pPr marL="342910" indent="-342900">
              <a:spcBef>
                <a:spcPts val="1500"/>
              </a:spcBef>
              <a:buSzPct val="100000"/>
              <a:buFont typeface="Arial"/>
              <a:buChar char="•"/>
              <a:defRPr sz="2000">
                <a:solidFill>
                  <a:srgbClr val="F7FBFD"/>
                </a:solidFill>
                <a:latin typeface="Aptos"/>
                <a:ea typeface="Aptos"/>
                <a:cs typeface="Aptos"/>
                <a:sym typeface="Aptos"/>
              </a:defRPr>
            </a:pPr>
            <a:r>
              <a:t>Track agent configuration—including ~/.claude or ~/.codex - as ordinary versioned files and folders.</a:t>
            </a:r>
            <a:endParaRPr sz="1700"/>
          </a:p>
          <a:p>
            <a:pPr marL="342910" indent="-342900">
              <a:spcBef>
                <a:spcPts val="1500"/>
              </a:spcBef>
              <a:buSzPct val="100000"/>
              <a:buFont typeface="Arial"/>
              <a:buChar char="•"/>
              <a:defRPr sz="2000">
                <a:solidFill>
                  <a:srgbClr val="F7FBFD"/>
                </a:solidFill>
                <a:latin typeface="Aptos"/>
                <a:ea typeface="Aptos"/>
                <a:cs typeface="Aptos"/>
                <a:sym typeface="Aptos"/>
              </a:defRPr>
            </a:pPr>
            <a:r>
              <a:t>Let the agent act freely as root inside the sandbox while you control every boundary.</a:t>
            </a:r>
            <a:endParaRPr sz="1700"/>
          </a:p>
          <a:p>
            <a:pPr marL="342910" indent="-342900">
              <a:spcBef>
                <a:spcPts val="1500"/>
              </a:spcBef>
              <a:buSzPct val="100000"/>
              <a:buFont typeface="Arial"/>
              <a:buChar char="•"/>
              <a:defRPr sz="2000">
                <a:solidFill>
                  <a:srgbClr val="F7FBFD"/>
                </a:solidFill>
                <a:latin typeface="Aptos"/>
                <a:ea typeface="Aptos"/>
                <a:cs typeface="Aptos"/>
                <a:sym typeface="Aptos"/>
              </a:defRPr>
            </a:pPr>
            <a:r>
              <a:t>Keep host files, sensitive information, and credentials outside the sandbox – use sym-linking for env mockups</a:t>
            </a:r>
            <a:endParaRPr sz="1700"/>
          </a:p>
          <a:p>
            <a:pPr marL="342910" indent="-342900">
              <a:spcBef>
                <a:spcPts val="1500"/>
              </a:spcBef>
              <a:buSzPct val="100000"/>
              <a:buFont typeface="Arial"/>
              <a:buChar char="•"/>
              <a:defRPr sz="2000">
                <a:solidFill>
                  <a:srgbClr val="F7FBFD"/>
                </a:solidFill>
                <a:latin typeface="Aptos"/>
                <a:ea typeface="Aptos"/>
                <a:cs typeface="Aptos"/>
                <a:sym typeface="Aptos"/>
              </a:defRPr>
            </a:pPr>
            <a:r>
              <a:t>An agent skill can automatically log system changes done from anywhere, as backlog for updating the Dockerfile</a:t>
            </a:r>
          </a:p>
        </p:txBody>
      </p:sp>
      <p:sp>
        <p:nvSpPr>
          <p:cNvPr id="194" name="top-accent-1"/>
          <p:cNvSpPr/>
          <p:nvPr/>
        </p:nvSpPr>
        <p:spPr>
          <a:xfrm>
            <a:off x="552450" y="209550"/>
            <a:ext cx="2514600" cy="457200"/>
          </a:xfrm>
          <a:prstGeom prst="roundRect">
            <a:avLst>
              <a:gd name="adj" fmla="val 16667"/>
            </a:avLst>
          </a:prstGeom>
          <a:gradFill>
            <a:gsLst>
              <a:gs pos="0">
                <a:srgbClr val="FFFFFF"/>
              </a:gs>
              <a:gs pos="42000">
                <a:srgbClr val="FFFFFF">
                  <a:alpha val="94000"/>
                </a:srgbClr>
              </a:gs>
              <a:gs pos="100000">
                <a:srgbClr val="FFFFFF">
                  <a:alpha val="0"/>
                </a:srgbClr>
              </a:gs>
            </a:gsLst>
          </a:gradFill>
          <a:ln w="12700">
            <a:miter lim="400000"/>
          </a:ln>
        </p:spPr>
        <p:txBody>
          <a:bodyPr lIns="0" tIns="0" rIns="0" bIns="0"/>
          <a:lstStyle/>
          <a:p>
            <a:pPr>
              <a:defRPr>
                <a:latin typeface="Calibri"/>
                <a:ea typeface="Calibri"/>
                <a:cs typeface="Calibri"/>
                <a:sym typeface="Calibri"/>
              </a:defRPr>
            </a:pPr>
          </a:p>
        </p:txBody>
      </p:sp>
      <p:sp>
        <p:nvSpPr>
          <p:cNvPr id="195" name="deck-label-1"/>
          <p:cNvSpPr txBox="1"/>
          <p:nvPr/>
        </p:nvSpPr>
        <p:spPr>
          <a:xfrm>
            <a:off x="1123950" y="304800"/>
            <a:ext cx="1714500" cy="2286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normAutofit fontScale="100000" lnSpcReduction="0"/>
          </a:bodyPr>
          <a:lstStyle>
            <a:lvl1pPr>
              <a:defRPr b="1" sz="1000">
                <a:solidFill>
                  <a:srgbClr val="2496ED"/>
                </a:solidFill>
                <a:latin typeface="Aptos Display"/>
                <a:ea typeface="Aptos Display"/>
                <a:cs typeface="Aptos Display"/>
                <a:sym typeface="Aptos Display"/>
              </a:defRPr>
            </a:lvl1pPr>
          </a:lstStyle>
          <a:p>
            <a:pPr/>
            <a:r>
              <a:t>DOCKER SANDBOX</a:t>
            </a:r>
          </a:p>
        </p:txBody>
      </p:sp>
      <p:pic>
        <p:nvPicPr>
          <p:cNvPr id="196" name="docker-mark-1" descr="docker-mark-1"/>
          <p:cNvPicPr>
            <a:picLocks noChangeAspect="1"/>
          </p:cNvPicPr>
          <p:nvPr/>
        </p:nvPicPr>
        <p:blipFill>
          <a:blip r:embed="rId4">
            <a:extLst/>
          </a:blip>
          <a:stretch>
            <a:fillRect/>
          </a:stretch>
        </p:blipFill>
        <p:spPr>
          <a:xfrm>
            <a:off x="654684" y="257175"/>
            <a:ext cx="386083" cy="304800"/>
          </a:xfrm>
          <a:prstGeom prst="rect">
            <a:avLst/>
          </a:prstGeom>
          <a:ln w="12700">
            <a:miter lim="400000"/>
          </a:ln>
        </p:spPr>
      </p:pic>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06131B"/>
        </a:solidFill>
      </p:bgPr>
    </p:bg>
    <p:spTree>
      <p:nvGrpSpPr>
        <p:cNvPr id="1" name=""/>
        <p:cNvGrpSpPr/>
        <p:nvPr/>
      </p:nvGrpSpPr>
      <p:grpSpPr>
        <a:xfrm>
          <a:off x="0" y="0"/>
          <a:ext cx="0" cy="0"/>
          <a:chOff x="0" y="0"/>
          <a:chExt cx="0" cy="0"/>
        </a:xfrm>
      </p:grpSpPr>
      <p:sp>
        <p:nvSpPr>
          <p:cNvPr id="200" name="template-title"/>
          <p:cNvSpPr txBox="1"/>
          <p:nvPr/>
        </p:nvSpPr>
        <p:spPr>
          <a:xfrm>
            <a:off x="552450" y="819150"/>
            <a:ext cx="11087100" cy="7239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normAutofit fontScale="100000" lnSpcReduction="0"/>
          </a:bodyPr>
          <a:lstStyle>
            <a:lvl1pPr>
              <a:lnSpc>
                <a:spcPct val="95000"/>
              </a:lnSpc>
              <a:defRPr b="1" sz="3400">
                <a:solidFill>
                  <a:srgbClr val="F7FBFD"/>
                </a:solidFill>
                <a:latin typeface="Aptos Display"/>
                <a:ea typeface="Aptos Display"/>
                <a:cs typeface="Aptos Display"/>
                <a:sym typeface="Aptos Display"/>
              </a:defRPr>
            </a:lvl1pPr>
          </a:lstStyle>
          <a:p>
            <a:pPr/>
            <a:r>
              <a:t>System-level tasks can run end to end</a:t>
            </a:r>
          </a:p>
        </p:txBody>
      </p:sp>
      <p:sp>
        <p:nvSpPr>
          <p:cNvPr id="201" name="section-label-2"/>
          <p:cNvSpPr txBox="1"/>
          <p:nvPr/>
        </p:nvSpPr>
        <p:spPr>
          <a:xfrm>
            <a:off x="3284218" y="295275"/>
            <a:ext cx="5242565" cy="2311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900">
                <a:solidFill>
                  <a:srgbClr val="91A7B1"/>
                </a:solidFill>
                <a:latin typeface="Aptos"/>
                <a:ea typeface="Aptos"/>
                <a:cs typeface="Aptos"/>
                <a:sym typeface="Aptos"/>
              </a:defRPr>
            </a:lvl1pPr>
          </a:lstStyle>
          <a:p>
            <a:pPr/>
            <a:r>
              <a:t>DOCKER SANDBOX IN PRACTICE</a:t>
            </a:r>
          </a:p>
        </p:txBody>
      </p:sp>
      <p:sp>
        <p:nvSpPr>
          <p:cNvPr id="202" name="omp-task-screenshot-outline"/>
          <p:cNvSpPr/>
          <p:nvPr/>
        </p:nvSpPr>
        <p:spPr>
          <a:xfrm>
            <a:off x="150982" y="1624911"/>
            <a:ext cx="7764321" cy="3202969"/>
          </a:xfrm>
          <a:prstGeom prst="roundRect">
            <a:avLst>
              <a:gd name="adj" fmla="val 2538"/>
            </a:avLst>
          </a:prstGeom>
          <a:ln>
            <a:solidFill>
              <a:srgbClr val="2496ED"/>
            </a:solidFill>
          </a:ln>
        </p:spPr>
        <p:txBody>
          <a:bodyPr lIns="0" tIns="0" rIns="0" bIns="0"/>
          <a:lstStyle/>
          <a:p>
            <a:pPr>
              <a:defRPr>
                <a:latin typeface="Calibri"/>
                <a:ea typeface="Calibri"/>
                <a:cs typeface="Calibri"/>
                <a:sym typeface="Calibri"/>
              </a:defRPr>
            </a:pPr>
          </a:p>
        </p:txBody>
      </p:sp>
      <p:pic>
        <p:nvPicPr>
          <p:cNvPr id="203" name="omp-task-screenshot" descr="omp-task-screenshot"/>
          <p:cNvPicPr>
            <a:picLocks noChangeAspect="1"/>
          </p:cNvPicPr>
          <p:nvPr/>
        </p:nvPicPr>
        <p:blipFill>
          <a:blip r:embed="rId3">
            <a:extLst/>
          </a:blip>
          <a:srcRect l="0" t="0" r="0" b="3"/>
          <a:stretch>
            <a:fillRect/>
          </a:stretch>
        </p:blipFill>
        <p:spPr>
          <a:xfrm>
            <a:off x="268188" y="1987748"/>
            <a:ext cx="7529911" cy="2477295"/>
          </a:xfrm>
          <a:prstGeom prst="rect">
            <a:avLst/>
          </a:prstGeom>
          <a:ln w="12700">
            <a:miter lim="400000"/>
          </a:ln>
        </p:spPr>
      </p:pic>
      <p:sp>
        <p:nvSpPr>
          <p:cNvPr id="204" name="omp-result-screenshot-outline"/>
          <p:cNvSpPr/>
          <p:nvPr/>
        </p:nvSpPr>
        <p:spPr>
          <a:xfrm>
            <a:off x="8020050" y="1617357"/>
            <a:ext cx="3992961" cy="3218075"/>
          </a:xfrm>
          <a:prstGeom prst="roundRect">
            <a:avLst>
              <a:gd name="adj" fmla="val 2612"/>
            </a:avLst>
          </a:prstGeom>
          <a:ln>
            <a:solidFill>
              <a:srgbClr val="2496ED"/>
            </a:solidFill>
          </a:ln>
        </p:spPr>
        <p:txBody>
          <a:bodyPr lIns="0" tIns="0" rIns="0" bIns="0"/>
          <a:lstStyle/>
          <a:p>
            <a:pPr>
              <a:defRPr>
                <a:latin typeface="Calibri"/>
                <a:ea typeface="Calibri"/>
                <a:cs typeface="Calibri"/>
                <a:sym typeface="Calibri"/>
              </a:defRPr>
            </a:pPr>
          </a:p>
        </p:txBody>
      </p:sp>
      <p:pic>
        <p:nvPicPr>
          <p:cNvPr id="205" name="omp-result-screenshot" descr="omp-result-screenshot"/>
          <p:cNvPicPr>
            <a:picLocks noChangeAspect="1"/>
          </p:cNvPicPr>
          <p:nvPr/>
        </p:nvPicPr>
        <p:blipFill>
          <a:blip r:embed="rId4">
            <a:extLst/>
          </a:blip>
          <a:srcRect l="0" t="0" r="0" b="7"/>
          <a:stretch>
            <a:fillRect/>
          </a:stretch>
        </p:blipFill>
        <p:spPr>
          <a:xfrm>
            <a:off x="8058725" y="1695450"/>
            <a:ext cx="3915417" cy="3061892"/>
          </a:xfrm>
          <a:prstGeom prst="rect">
            <a:avLst/>
          </a:prstGeom>
          <a:ln w="12700">
            <a:miter lim="400000"/>
          </a:ln>
        </p:spPr>
      </p:pic>
      <p:sp>
        <p:nvSpPr>
          <p:cNvPr id="206" name="autonomy-accent"/>
          <p:cNvSpPr/>
          <p:nvPr/>
        </p:nvSpPr>
        <p:spPr>
          <a:xfrm>
            <a:off x="457856" y="5574939"/>
            <a:ext cx="66677" cy="990602"/>
          </a:xfrm>
          <a:prstGeom prst="rect">
            <a:avLst/>
          </a:prstGeom>
          <a:solidFill>
            <a:srgbClr val="FF6C2F"/>
          </a:solidFill>
          <a:ln w="3175">
            <a:solidFill>
              <a:srgbClr val="FF6C2F"/>
            </a:solidFill>
          </a:ln>
        </p:spPr>
        <p:txBody>
          <a:bodyPr lIns="0" tIns="0" rIns="0" bIns="0"/>
          <a:lstStyle/>
          <a:p>
            <a:pPr>
              <a:defRPr>
                <a:latin typeface="Calibri"/>
                <a:ea typeface="Calibri"/>
                <a:cs typeface="Calibri"/>
                <a:sym typeface="Calibri"/>
              </a:defRPr>
            </a:pPr>
          </a:p>
        </p:txBody>
      </p:sp>
      <p:sp>
        <p:nvSpPr>
          <p:cNvPr id="207" name="autonomy-takeaway"/>
          <p:cNvSpPr txBox="1"/>
          <p:nvPr/>
        </p:nvSpPr>
        <p:spPr>
          <a:xfrm>
            <a:off x="770275" y="5527316"/>
            <a:ext cx="10728963" cy="802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300">
                <a:solidFill>
                  <a:srgbClr val="F7FBFD"/>
                </a:solidFill>
                <a:latin typeface="Aptos"/>
                <a:ea typeface="Aptos"/>
                <a:cs typeface="Aptos"/>
                <a:sym typeface="Aptos"/>
              </a:defRPr>
            </a:lvl1pPr>
          </a:lstStyle>
          <a:p>
            <a:pPr/>
            <a:r>
              <a:t>You can give your agent ambitious system-level tasks for end-to-end, fully autonomous execution.</a:t>
            </a:r>
          </a:p>
        </p:txBody>
      </p:sp>
      <p:sp>
        <p:nvSpPr>
          <p:cNvPr id="208" name="top-accent-1"/>
          <p:cNvSpPr/>
          <p:nvPr/>
        </p:nvSpPr>
        <p:spPr>
          <a:xfrm>
            <a:off x="552450" y="209550"/>
            <a:ext cx="2514600" cy="457200"/>
          </a:xfrm>
          <a:prstGeom prst="roundRect">
            <a:avLst>
              <a:gd name="adj" fmla="val 16667"/>
            </a:avLst>
          </a:prstGeom>
          <a:gradFill>
            <a:gsLst>
              <a:gs pos="0">
                <a:srgbClr val="FFFFFF"/>
              </a:gs>
              <a:gs pos="42000">
                <a:srgbClr val="FFFFFF">
                  <a:alpha val="94000"/>
                </a:srgbClr>
              </a:gs>
              <a:gs pos="100000">
                <a:srgbClr val="FFFFFF">
                  <a:alpha val="0"/>
                </a:srgbClr>
              </a:gs>
            </a:gsLst>
          </a:gradFill>
          <a:ln w="12700">
            <a:miter lim="400000"/>
          </a:ln>
        </p:spPr>
        <p:txBody>
          <a:bodyPr lIns="0" tIns="0" rIns="0" bIns="0"/>
          <a:lstStyle/>
          <a:p>
            <a:pPr>
              <a:defRPr>
                <a:latin typeface="Calibri"/>
                <a:ea typeface="Calibri"/>
                <a:cs typeface="Calibri"/>
                <a:sym typeface="Calibri"/>
              </a:defRPr>
            </a:pPr>
          </a:p>
        </p:txBody>
      </p:sp>
      <p:sp>
        <p:nvSpPr>
          <p:cNvPr id="209" name="deck-label-1"/>
          <p:cNvSpPr txBox="1"/>
          <p:nvPr/>
        </p:nvSpPr>
        <p:spPr>
          <a:xfrm>
            <a:off x="1123950" y="304800"/>
            <a:ext cx="1714500" cy="2286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normAutofit fontScale="100000" lnSpcReduction="0"/>
          </a:bodyPr>
          <a:lstStyle>
            <a:lvl1pPr>
              <a:defRPr b="1" sz="1000">
                <a:solidFill>
                  <a:srgbClr val="2496ED"/>
                </a:solidFill>
                <a:latin typeface="Aptos Display"/>
                <a:ea typeface="Aptos Display"/>
                <a:cs typeface="Aptos Display"/>
                <a:sym typeface="Aptos Display"/>
              </a:defRPr>
            </a:lvl1pPr>
          </a:lstStyle>
          <a:p>
            <a:pPr/>
            <a:r>
              <a:t>DOCKER SANDBOX</a:t>
            </a:r>
          </a:p>
        </p:txBody>
      </p:sp>
      <p:pic>
        <p:nvPicPr>
          <p:cNvPr id="210" name="docker-mark-1" descr="docker-mark-1"/>
          <p:cNvPicPr>
            <a:picLocks noChangeAspect="1"/>
          </p:cNvPicPr>
          <p:nvPr/>
        </p:nvPicPr>
        <p:blipFill>
          <a:blip r:embed="rId5">
            <a:extLst/>
          </a:blip>
          <a:stretch>
            <a:fillRect/>
          </a:stretch>
        </p:blipFill>
        <p:spPr>
          <a:xfrm>
            <a:off x="654684" y="257175"/>
            <a:ext cx="386083" cy="304800"/>
          </a:xfrm>
          <a:prstGeom prst="rect">
            <a:avLst/>
          </a:prstGeom>
          <a:ln w="12700">
            <a:miter lim="400000"/>
          </a:ln>
        </p:spPr>
      </p:pic>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A7A7A7"/>
      </a:dk2>
      <a:lt2>
        <a:srgbClr val="535353"/>
      </a:lt2>
      <a:accent1>
        <a:srgbClr val="156082"/>
      </a:accent1>
      <a:accent2>
        <a:srgbClr val="E97132"/>
      </a:accent2>
      <a:accent3>
        <a:srgbClr val="196B24"/>
      </a:accent3>
      <a:accent4>
        <a:srgbClr val="0F9ED5"/>
      </a:accent4>
      <a:accent5>
        <a:srgbClr val="A02B93"/>
      </a:accent5>
      <a:accent6>
        <a:srgbClr val="4EA72E"/>
      </a:accent6>
      <a:hlink>
        <a:srgbClr val="0000FF"/>
      </a:hlink>
      <a:folHlink>
        <a:srgbClr val="FF00FF"/>
      </a:folHlink>
    </a:clrScheme>
    <a:fontScheme name="ChatGPT">
      <a:majorFont>
        <a:latin typeface="Helvetica"/>
        <a:ea typeface="Helvetica"/>
        <a:cs typeface="Helvetica"/>
      </a:majorFont>
      <a:minorFont>
        <a:latin typeface="Helvetica Neue"/>
        <a:ea typeface="Helvetica Neue"/>
        <a:cs typeface="Helvetica Neue"/>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0" tIns="0" rIns="0" bIns="0"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0" tIns="0" rIns="0" bIns="0"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A7A7A7"/>
      </a:dk2>
      <a:lt2>
        <a:srgbClr val="535353"/>
      </a:lt2>
      <a:accent1>
        <a:srgbClr val="156082"/>
      </a:accent1>
      <a:accent2>
        <a:srgbClr val="E97132"/>
      </a:accent2>
      <a:accent3>
        <a:srgbClr val="196B24"/>
      </a:accent3>
      <a:accent4>
        <a:srgbClr val="0F9ED5"/>
      </a:accent4>
      <a:accent5>
        <a:srgbClr val="A02B93"/>
      </a:accent5>
      <a:accent6>
        <a:srgbClr val="4EA72E"/>
      </a:accent6>
      <a:hlink>
        <a:srgbClr val="0000FF"/>
      </a:hlink>
      <a:folHlink>
        <a:srgbClr val="FF00FF"/>
      </a:folHlink>
    </a:clrScheme>
    <a:fontScheme name="ChatGPT">
      <a:majorFont>
        <a:latin typeface="Helvetica"/>
        <a:ea typeface="Helvetica"/>
        <a:cs typeface="Helvetica"/>
      </a:majorFont>
      <a:minorFont>
        <a:latin typeface="Helvetica Neue"/>
        <a:ea typeface="Helvetica Neue"/>
        <a:cs typeface="Helvetica Neue"/>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0" tIns="0" rIns="0" bIns="0"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0" tIns="0" rIns="0" bIns="0"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